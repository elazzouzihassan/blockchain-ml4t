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316" r:id="rId2"/>
    <p:sldId id="257" r:id="rId3"/>
    <p:sldId id="258" r:id="rId4"/>
    <p:sldId id="266" r:id="rId5"/>
    <p:sldId id="273" r:id="rId6"/>
    <p:sldId id="259" r:id="rId7"/>
    <p:sldId id="267" r:id="rId8"/>
    <p:sldId id="274" r:id="rId9"/>
    <p:sldId id="275" r:id="rId10"/>
    <p:sldId id="276" r:id="rId11"/>
    <p:sldId id="277" r:id="rId12"/>
    <p:sldId id="260" r:id="rId13"/>
    <p:sldId id="268" r:id="rId14"/>
    <p:sldId id="278" r:id="rId15"/>
    <p:sldId id="279" r:id="rId16"/>
    <p:sldId id="284" r:id="rId17"/>
    <p:sldId id="286" r:id="rId18"/>
    <p:sldId id="283" r:id="rId19"/>
    <p:sldId id="285" r:id="rId20"/>
    <p:sldId id="280" r:id="rId21"/>
    <p:sldId id="281" r:id="rId22"/>
    <p:sldId id="282" r:id="rId23"/>
    <p:sldId id="261" r:id="rId24"/>
    <p:sldId id="269" r:id="rId25"/>
    <p:sldId id="287" r:id="rId26"/>
    <p:sldId id="288" r:id="rId27"/>
    <p:sldId id="289" r:id="rId28"/>
    <p:sldId id="290" r:id="rId29"/>
    <p:sldId id="291" r:id="rId30"/>
    <p:sldId id="292" r:id="rId31"/>
    <p:sldId id="293" r:id="rId32"/>
    <p:sldId id="294" r:id="rId33"/>
    <p:sldId id="295" r:id="rId34"/>
    <p:sldId id="296" r:id="rId35"/>
    <p:sldId id="297" r:id="rId36"/>
    <p:sldId id="303" r:id="rId37"/>
    <p:sldId id="304" r:id="rId38"/>
    <p:sldId id="305" r:id="rId39"/>
    <p:sldId id="306" r:id="rId40"/>
    <p:sldId id="307" r:id="rId41"/>
    <p:sldId id="308" r:id="rId42"/>
    <p:sldId id="309" r:id="rId43"/>
    <p:sldId id="256" r:id="rId44"/>
    <p:sldId id="311" r:id="rId45"/>
    <p:sldId id="312" r:id="rId46"/>
    <p:sldId id="313" r:id="rId47"/>
    <p:sldId id="314" r:id="rId48"/>
    <p:sldId id="315" r:id="rId49"/>
    <p:sldId id="317" r:id="rId50"/>
    <p:sldId id="318" r:id="rId51"/>
    <p:sldId id="319" r:id="rId52"/>
    <p:sldId id="320" r:id="rId53"/>
    <p:sldId id="321" r:id="rId54"/>
    <p:sldId id="322" r:id="rId55"/>
    <p:sldId id="323" r:id="rId56"/>
    <p:sldId id="324" r:id="rId57"/>
    <p:sldId id="32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83A5AB"/>
    <a:srgbClr val="A9FD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4C70E-817E-463E-950C-E214A7566B11}"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5FF4C-40F3-47F0-BE5F-F99950804AB6}" type="slidenum">
              <a:rPr lang="en-US" smtClean="0"/>
              <a:t>‹#›</a:t>
            </a:fld>
            <a:endParaRPr lang="en-US"/>
          </a:p>
        </p:txBody>
      </p:sp>
    </p:spTree>
    <p:extLst>
      <p:ext uri="{BB962C8B-B14F-4D97-AF65-F5344CB8AC3E}">
        <p14:creationId xmlns:p14="http://schemas.microsoft.com/office/powerpoint/2010/main" val="96693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C5FF4C-40F3-47F0-BE5F-F99950804AB6}" type="slidenum">
              <a:rPr lang="en-US" smtClean="0"/>
              <a:t>22</a:t>
            </a:fld>
            <a:endParaRPr lang="en-US"/>
          </a:p>
        </p:txBody>
      </p:sp>
    </p:spTree>
    <p:extLst>
      <p:ext uri="{BB962C8B-B14F-4D97-AF65-F5344CB8AC3E}">
        <p14:creationId xmlns:p14="http://schemas.microsoft.com/office/powerpoint/2010/main" val="392195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9F48-9F8A-B51D-D452-D4A7729C93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798296-5CE1-BD61-35C2-24AA0E4CA8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39C49A-7A30-4D73-7B2B-942305969662}"/>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5" name="Footer Placeholder 4">
            <a:extLst>
              <a:ext uri="{FF2B5EF4-FFF2-40B4-BE49-F238E27FC236}">
                <a16:creationId xmlns:a16="http://schemas.microsoft.com/office/drawing/2014/main" id="{AC17CAEE-0C43-57F5-4C04-22E85E8B1B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447B16-EAB7-2F65-FF92-F6E1A55828F7}"/>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3495424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E6259-3BB8-4328-8E61-D33B11A260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DD090E-8B12-460D-91A4-CC70A465A0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423E84-7712-80FA-92DE-51B1886A5855}"/>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5" name="Footer Placeholder 4">
            <a:extLst>
              <a:ext uri="{FF2B5EF4-FFF2-40B4-BE49-F238E27FC236}">
                <a16:creationId xmlns:a16="http://schemas.microsoft.com/office/drawing/2014/main" id="{B5FA2526-AD48-8A76-6E8A-87FAAC25FA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B81CF-D4F5-ACC6-CCE2-8D1AB202F558}"/>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319144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717C7-5AAD-0196-8A60-2DA41ACC23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E88171-548B-BAB6-E141-39CADE4080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1BF636-71C1-5909-D741-05A8EB4757C0}"/>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5" name="Footer Placeholder 4">
            <a:extLst>
              <a:ext uri="{FF2B5EF4-FFF2-40B4-BE49-F238E27FC236}">
                <a16:creationId xmlns:a16="http://schemas.microsoft.com/office/drawing/2014/main" id="{5E37EC8E-58BD-F61E-723D-4CF2DE85B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5DDD7-9D12-4DF2-3FD3-148E04C61D5C}"/>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599573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EB22A-F2BF-7924-18DF-4776ECF7B0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0B5160-AC07-D8AC-88F3-4EF0335F2A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C36398-DAFA-9A07-3CC1-700287C5AA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4E5591-6818-D7DD-D59B-23CFECF88291}"/>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6" name="Footer Placeholder 5">
            <a:extLst>
              <a:ext uri="{FF2B5EF4-FFF2-40B4-BE49-F238E27FC236}">
                <a16:creationId xmlns:a16="http://schemas.microsoft.com/office/drawing/2014/main" id="{9E0FE567-090A-17F9-55E4-BDA37EF63F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5900B1-F92D-C2C9-9866-DD46DB511D09}"/>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2155900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EB20-57DE-E712-63CF-F1A12D1E2C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AE3105-3311-3075-CD61-F9DB95C16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2BE9-0B29-80B8-F079-E7C275E4D3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1DB003-122A-F76D-67F9-48F1FD333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39E0F1-C89A-24AE-C4B9-F84F3FF60F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A49F67-44B7-5220-AA20-D940AB037489}"/>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8" name="Footer Placeholder 7">
            <a:extLst>
              <a:ext uri="{FF2B5EF4-FFF2-40B4-BE49-F238E27FC236}">
                <a16:creationId xmlns:a16="http://schemas.microsoft.com/office/drawing/2014/main" id="{EFD8973B-46A6-6434-8682-488D515C19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EB019A-F6D4-E434-9852-1856FB7F2D83}"/>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2392570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60A30-2E4B-71F0-DC9B-E0A70B6C2B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0275E2-0DD8-C132-1A51-ADF9F8B6E55D}"/>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4" name="Footer Placeholder 3">
            <a:extLst>
              <a:ext uri="{FF2B5EF4-FFF2-40B4-BE49-F238E27FC236}">
                <a16:creationId xmlns:a16="http://schemas.microsoft.com/office/drawing/2014/main" id="{689DB167-33B8-3CBF-F1D2-593EEA9DE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57FA03-4831-C73E-D6F0-3D547C3D0CC5}"/>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2490297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015299-028A-7E89-1C67-77555BD160EE}"/>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3" name="Footer Placeholder 2">
            <a:extLst>
              <a:ext uri="{FF2B5EF4-FFF2-40B4-BE49-F238E27FC236}">
                <a16:creationId xmlns:a16="http://schemas.microsoft.com/office/drawing/2014/main" id="{FB6154A9-EA31-905C-CA59-1E202A2016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7B9756-B37F-6768-A448-00FC9173E94D}"/>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101266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2047F-F06D-2B4B-F2FF-29706EC56C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92001C-5F8F-A2B4-EF8F-210843E507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E83D83-D701-BA17-1709-6EE8E79C4A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64F131-4319-07A9-2DB1-54858A276FDA}"/>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6" name="Footer Placeholder 5">
            <a:extLst>
              <a:ext uri="{FF2B5EF4-FFF2-40B4-BE49-F238E27FC236}">
                <a16:creationId xmlns:a16="http://schemas.microsoft.com/office/drawing/2014/main" id="{C57D1D98-0C65-0705-5B61-CF017992F9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9B92A-E994-AAC3-2E52-60D5C6ED6A3E}"/>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2909632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221B-8337-FCE3-248B-E281D63D5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EB576F-A601-A76A-1664-268B6228A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6F4992-E59A-45AC-28DB-3FD37DCA3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BA104-416D-A237-C71D-A8C7D2F0D026}"/>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6" name="Footer Placeholder 5">
            <a:extLst>
              <a:ext uri="{FF2B5EF4-FFF2-40B4-BE49-F238E27FC236}">
                <a16:creationId xmlns:a16="http://schemas.microsoft.com/office/drawing/2014/main" id="{D10445E0-3444-C2AD-3994-4E05329E7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8B2899-EE19-4816-A844-144D46BC2D78}"/>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2985015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E6071-4FBF-671E-4FA6-DA6559F7B7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6FBDD6-B6F9-CF00-BBF2-D24BF7F75F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D6AEA-672A-F4EE-D6EF-5C1401F33AD8}"/>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5" name="Footer Placeholder 4">
            <a:extLst>
              <a:ext uri="{FF2B5EF4-FFF2-40B4-BE49-F238E27FC236}">
                <a16:creationId xmlns:a16="http://schemas.microsoft.com/office/drawing/2014/main" id="{26425B0B-EC80-BDF5-668E-4900C900F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EDE43-DABA-3971-2287-98D9CF2863D6}"/>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345319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B66F68-7525-CFBF-9919-B75C921505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BA1350-7B3E-3BAA-4C19-3B47D1A4F7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B45DA-213A-C7BF-8DDD-F2A621E3BE84}"/>
              </a:ext>
            </a:extLst>
          </p:cNvPr>
          <p:cNvSpPr>
            <a:spLocks noGrp="1"/>
          </p:cNvSpPr>
          <p:nvPr>
            <p:ph type="dt" sz="half" idx="10"/>
          </p:nvPr>
        </p:nvSpPr>
        <p:spPr/>
        <p:txBody>
          <a:bodyPr/>
          <a:lstStyle/>
          <a:p>
            <a:fld id="{A5A0FF14-01A7-4130-9E32-56147C508ACF}" type="datetimeFigureOut">
              <a:rPr lang="en-US" smtClean="0"/>
              <a:t>2/21/2026</a:t>
            </a:fld>
            <a:endParaRPr lang="en-US"/>
          </a:p>
        </p:txBody>
      </p:sp>
      <p:sp>
        <p:nvSpPr>
          <p:cNvPr id="5" name="Footer Placeholder 4">
            <a:extLst>
              <a:ext uri="{FF2B5EF4-FFF2-40B4-BE49-F238E27FC236}">
                <a16:creationId xmlns:a16="http://schemas.microsoft.com/office/drawing/2014/main" id="{91B11603-6171-6619-6CB1-853ABCC65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65403-AEBE-F4E7-2637-EF9B68222237}"/>
              </a:ext>
            </a:extLst>
          </p:cNvPr>
          <p:cNvSpPr>
            <a:spLocks noGrp="1"/>
          </p:cNvSpPr>
          <p:nvPr>
            <p:ph type="sldNum" sz="quarter" idx="12"/>
          </p:nvPr>
        </p:nvSpPr>
        <p:spPr/>
        <p:txBody>
          <a:bodyPr/>
          <a:lstStyle/>
          <a:p>
            <a:fld id="{7B0A70BD-A4AC-4B01-B76C-0BBC773E4A63}" type="slidenum">
              <a:rPr lang="en-US" smtClean="0"/>
              <a:t>‹#›</a:t>
            </a:fld>
            <a:endParaRPr lang="en-US"/>
          </a:p>
        </p:txBody>
      </p:sp>
    </p:spTree>
    <p:extLst>
      <p:ext uri="{BB962C8B-B14F-4D97-AF65-F5344CB8AC3E}">
        <p14:creationId xmlns:p14="http://schemas.microsoft.com/office/powerpoint/2010/main" val="3516835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E7F60C-2E43-D0D0-01FB-F54BC1FBDC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685EFC-165B-4279-8927-3154400266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792BD-815F-E7B1-63E3-8AC9F7150F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A0FF14-01A7-4130-9E32-56147C508ACF}" type="datetimeFigureOut">
              <a:rPr lang="en-US" smtClean="0"/>
              <a:t>2/21/2026</a:t>
            </a:fld>
            <a:endParaRPr lang="en-US"/>
          </a:p>
        </p:txBody>
      </p:sp>
      <p:sp>
        <p:nvSpPr>
          <p:cNvPr id="5" name="Footer Placeholder 4">
            <a:extLst>
              <a:ext uri="{FF2B5EF4-FFF2-40B4-BE49-F238E27FC236}">
                <a16:creationId xmlns:a16="http://schemas.microsoft.com/office/drawing/2014/main" id="{B6EF9051-F27C-B611-4469-18D95208E1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54E176-3C0D-EFB4-DBD1-9041F875A5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0A70BD-A4AC-4B01-B76C-0BBC773E4A63}" type="slidenum">
              <a:rPr lang="en-US" smtClean="0"/>
              <a:t>‹#›</a:t>
            </a:fld>
            <a:endParaRPr lang="en-US"/>
          </a:p>
        </p:txBody>
      </p:sp>
    </p:spTree>
    <p:extLst>
      <p:ext uri="{BB962C8B-B14F-4D97-AF65-F5344CB8AC3E}">
        <p14:creationId xmlns:p14="http://schemas.microsoft.com/office/powerpoint/2010/main" val="3836778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4AB36-946E-65C6-A227-A8F05965F040}"/>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A2F19E4E-0960-7908-B221-2ADB982804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50808" y="399487"/>
            <a:ext cx="2676778" cy="1047060"/>
          </a:xfrm>
          <a:prstGeom prst="rect">
            <a:avLst/>
          </a:prstGeom>
        </p:spPr>
      </p:pic>
      <p:pic>
        <p:nvPicPr>
          <p:cNvPr id="7" name="Picture 6">
            <a:extLst>
              <a:ext uri="{FF2B5EF4-FFF2-40B4-BE49-F238E27FC236}">
                <a16:creationId xmlns:a16="http://schemas.microsoft.com/office/drawing/2014/main" id="{D24A704B-105E-51D1-4E6B-31D06F8B20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118" y="162270"/>
            <a:ext cx="1516608" cy="1521494"/>
          </a:xfrm>
          <a:prstGeom prst="rect">
            <a:avLst/>
          </a:prstGeom>
        </p:spPr>
      </p:pic>
      <p:cxnSp>
        <p:nvCxnSpPr>
          <p:cNvPr id="9" name="Straight Connector 8">
            <a:extLst>
              <a:ext uri="{FF2B5EF4-FFF2-40B4-BE49-F238E27FC236}">
                <a16:creationId xmlns:a16="http://schemas.microsoft.com/office/drawing/2014/main" id="{5C607F42-EBB6-ABA9-18B4-0B00FB72FC2E}"/>
              </a:ext>
            </a:extLst>
          </p:cNvPr>
          <p:cNvCxnSpPr>
            <a:cxnSpLocks/>
          </p:cNvCxnSpPr>
          <p:nvPr/>
        </p:nvCxnSpPr>
        <p:spPr>
          <a:xfrm>
            <a:off x="749808" y="1847088"/>
            <a:ext cx="10677778"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3" name="Text Box 1">
            <a:extLst>
              <a:ext uri="{FF2B5EF4-FFF2-40B4-BE49-F238E27FC236}">
                <a16:creationId xmlns:a16="http://schemas.microsoft.com/office/drawing/2014/main" id="{06A7D811-E621-4213-3BE8-E34C789764EC}"/>
              </a:ext>
            </a:extLst>
          </p:cNvPr>
          <p:cNvSpPr txBox="1"/>
          <p:nvPr/>
        </p:nvSpPr>
        <p:spPr>
          <a:xfrm>
            <a:off x="3594913" y="331806"/>
            <a:ext cx="3759708" cy="118242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Université Chouaib Doukkali</a:t>
            </a:r>
          </a:p>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Faculté des Sciences d'el Jadida</a:t>
            </a:r>
          </a:p>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Master 2IAD</a:t>
            </a:r>
          </a:p>
        </p:txBody>
      </p:sp>
      <p:sp>
        <p:nvSpPr>
          <p:cNvPr id="15" name="TextBox 14">
            <a:extLst>
              <a:ext uri="{FF2B5EF4-FFF2-40B4-BE49-F238E27FC236}">
                <a16:creationId xmlns:a16="http://schemas.microsoft.com/office/drawing/2014/main" id="{508BD685-9013-AB27-97C6-5A4B78CA8438}"/>
              </a:ext>
            </a:extLst>
          </p:cNvPr>
          <p:cNvSpPr txBox="1"/>
          <p:nvPr/>
        </p:nvSpPr>
        <p:spPr>
          <a:xfrm>
            <a:off x="1561560" y="2546364"/>
            <a:ext cx="9054274" cy="461665"/>
          </a:xfrm>
          <a:prstGeom prst="rect">
            <a:avLst/>
          </a:prstGeom>
          <a:noFill/>
        </p:spPr>
        <p:txBody>
          <a:bodyPr wrap="none" rtlCol="0">
            <a:spAutoFit/>
          </a:bodyPr>
          <a:lstStyle/>
          <a:p>
            <a:r>
              <a:rPr lang="en-US" sz="2400" b="1" noProof="1"/>
              <a:t>Système de Trading Algorithmique basé sur le Machine Learning</a:t>
            </a:r>
            <a:endParaRPr lang="en-US" sz="4000" b="1" noProof="1"/>
          </a:p>
        </p:txBody>
      </p:sp>
      <p:sp>
        <p:nvSpPr>
          <p:cNvPr id="24" name="TextBox 23">
            <a:extLst>
              <a:ext uri="{FF2B5EF4-FFF2-40B4-BE49-F238E27FC236}">
                <a16:creationId xmlns:a16="http://schemas.microsoft.com/office/drawing/2014/main" id="{E2524D67-F082-166B-61A8-6D5355053610}"/>
              </a:ext>
            </a:extLst>
          </p:cNvPr>
          <p:cNvSpPr txBox="1"/>
          <p:nvPr/>
        </p:nvSpPr>
        <p:spPr>
          <a:xfrm>
            <a:off x="5376002" y="2038222"/>
            <a:ext cx="1229696" cy="461665"/>
          </a:xfrm>
          <a:prstGeom prst="rect">
            <a:avLst/>
          </a:prstGeom>
          <a:noFill/>
        </p:spPr>
        <p:txBody>
          <a:bodyPr wrap="none" rtlCol="0">
            <a:spAutoFit/>
          </a:bodyPr>
          <a:lstStyle/>
          <a:p>
            <a:r>
              <a:rPr lang="en-US" sz="2400" b="1" i="1" noProof="1">
                <a:solidFill>
                  <a:schemeClr val="bg1">
                    <a:lumMod val="50000"/>
                  </a:schemeClr>
                </a:solidFill>
              </a:rPr>
              <a:t>PROJET</a:t>
            </a:r>
          </a:p>
        </p:txBody>
      </p:sp>
      <p:pic>
        <p:nvPicPr>
          <p:cNvPr id="27" name="Picture 26">
            <a:extLst>
              <a:ext uri="{FF2B5EF4-FFF2-40B4-BE49-F238E27FC236}">
                <a16:creationId xmlns:a16="http://schemas.microsoft.com/office/drawing/2014/main" id="{5E3127FF-5DDE-DB79-0987-69198EC43A40}"/>
              </a:ext>
            </a:extLst>
          </p:cNvPr>
          <p:cNvPicPr>
            <a:picLocks noChangeAspect="1"/>
          </p:cNvPicPr>
          <p:nvPr/>
        </p:nvPicPr>
        <p:blipFill>
          <a:blip r:embed="rId5">
            <a:extLst>
              <a:ext uri="{28A0092B-C50C-407E-A947-70E740481C1C}">
                <a14:useLocalDpi xmlns:a14="http://schemas.microsoft.com/office/drawing/2010/main" val="0"/>
              </a:ext>
            </a:extLst>
          </a:blip>
          <a:srcRect t="12400" b="3600"/>
          <a:stretch>
            <a:fillRect/>
          </a:stretch>
        </p:blipFill>
        <p:spPr>
          <a:xfrm>
            <a:off x="6655328" y="3460168"/>
            <a:ext cx="4190960" cy="2346936"/>
          </a:xfrm>
          <a:prstGeom prst="rect">
            <a:avLst/>
          </a:prstGeom>
        </p:spPr>
      </p:pic>
      <p:grpSp>
        <p:nvGrpSpPr>
          <p:cNvPr id="30" name="Group 29">
            <a:extLst>
              <a:ext uri="{FF2B5EF4-FFF2-40B4-BE49-F238E27FC236}">
                <a16:creationId xmlns:a16="http://schemas.microsoft.com/office/drawing/2014/main" id="{9FBCAA1D-FD6F-B00C-17E2-CC4861C1E5E9}"/>
              </a:ext>
            </a:extLst>
          </p:cNvPr>
          <p:cNvGrpSpPr/>
          <p:nvPr/>
        </p:nvGrpSpPr>
        <p:grpSpPr>
          <a:xfrm>
            <a:off x="1869542" y="3568805"/>
            <a:ext cx="2203232" cy="2129662"/>
            <a:chOff x="2208974" y="3477840"/>
            <a:chExt cx="2203232" cy="2129662"/>
          </a:xfrm>
        </p:grpSpPr>
        <p:sp>
          <p:nvSpPr>
            <p:cNvPr id="19" name="TextBox 18">
              <a:extLst>
                <a:ext uri="{FF2B5EF4-FFF2-40B4-BE49-F238E27FC236}">
                  <a16:creationId xmlns:a16="http://schemas.microsoft.com/office/drawing/2014/main" id="{332D9AB7-7B9F-8396-37C0-596774BBF566}"/>
                </a:ext>
              </a:extLst>
            </p:cNvPr>
            <p:cNvSpPr txBox="1"/>
            <p:nvPr/>
          </p:nvSpPr>
          <p:spPr>
            <a:xfrm>
              <a:off x="2208974" y="3972283"/>
              <a:ext cx="2203232" cy="646331"/>
            </a:xfrm>
            <a:prstGeom prst="rect">
              <a:avLst/>
            </a:prstGeom>
            <a:noFill/>
          </p:spPr>
          <p:txBody>
            <a:bodyPr wrap="none" rtlCol="0">
              <a:spAutoFit/>
            </a:bodyPr>
            <a:lstStyle/>
            <a:p>
              <a:r>
                <a:rPr lang="en-US" noProof="1"/>
                <a:t>Hassan EL AZZOUZI </a:t>
              </a:r>
            </a:p>
            <a:p>
              <a:r>
                <a:rPr lang="en-US" noProof="1"/>
                <a:t>Yassine CHOUAYT</a:t>
              </a:r>
            </a:p>
          </p:txBody>
        </p:sp>
        <p:sp>
          <p:nvSpPr>
            <p:cNvPr id="20" name="TextBox 19">
              <a:extLst>
                <a:ext uri="{FF2B5EF4-FFF2-40B4-BE49-F238E27FC236}">
                  <a16:creationId xmlns:a16="http://schemas.microsoft.com/office/drawing/2014/main" id="{A1A95363-3FFA-3FC5-4B53-675F83E28D5A}"/>
                </a:ext>
              </a:extLst>
            </p:cNvPr>
            <p:cNvSpPr txBox="1"/>
            <p:nvPr/>
          </p:nvSpPr>
          <p:spPr>
            <a:xfrm>
              <a:off x="2208974" y="5238170"/>
              <a:ext cx="2009974" cy="369332"/>
            </a:xfrm>
            <a:prstGeom prst="rect">
              <a:avLst/>
            </a:prstGeom>
            <a:noFill/>
          </p:spPr>
          <p:txBody>
            <a:bodyPr wrap="none" rtlCol="0">
              <a:spAutoFit/>
            </a:bodyPr>
            <a:lstStyle/>
            <a:p>
              <a:r>
                <a:rPr lang="en-US" noProof="1"/>
                <a:t>Pr. A. BENIHSAINE</a:t>
              </a:r>
            </a:p>
          </p:txBody>
        </p:sp>
        <p:sp>
          <p:nvSpPr>
            <p:cNvPr id="28" name="Rectangle: Diagonal Corners Rounded 27">
              <a:extLst>
                <a:ext uri="{FF2B5EF4-FFF2-40B4-BE49-F238E27FC236}">
                  <a16:creationId xmlns:a16="http://schemas.microsoft.com/office/drawing/2014/main" id="{9E46FB2E-E4CD-2BBB-A075-2416165D718C}"/>
                </a:ext>
              </a:extLst>
            </p:cNvPr>
            <p:cNvSpPr/>
            <p:nvPr/>
          </p:nvSpPr>
          <p:spPr>
            <a:xfrm>
              <a:off x="2208974" y="3477840"/>
              <a:ext cx="2121408" cy="369331"/>
            </a:xfrm>
            <a:prstGeom prst="round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1">
                  <a:solidFill>
                    <a:schemeClr val="tx2">
                      <a:lumMod val="10000"/>
                      <a:lumOff val="90000"/>
                    </a:schemeClr>
                  </a:solidFill>
                </a:rPr>
                <a:t>Réalisé par:</a:t>
              </a:r>
            </a:p>
          </p:txBody>
        </p:sp>
        <p:sp>
          <p:nvSpPr>
            <p:cNvPr id="29" name="Rectangle: Diagonal Corners Rounded 28">
              <a:extLst>
                <a:ext uri="{FF2B5EF4-FFF2-40B4-BE49-F238E27FC236}">
                  <a16:creationId xmlns:a16="http://schemas.microsoft.com/office/drawing/2014/main" id="{6004CB10-BE0D-742C-BD4B-D54A7F622035}"/>
                </a:ext>
              </a:extLst>
            </p:cNvPr>
            <p:cNvSpPr/>
            <p:nvPr/>
          </p:nvSpPr>
          <p:spPr>
            <a:xfrm>
              <a:off x="2208974" y="4743726"/>
              <a:ext cx="2121408" cy="369331"/>
            </a:xfrm>
            <a:prstGeom prst="round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1">
                  <a:solidFill>
                    <a:schemeClr val="tx2">
                      <a:lumMod val="10000"/>
                      <a:lumOff val="90000"/>
                    </a:schemeClr>
                  </a:solidFill>
                </a:rPr>
                <a:t>Encadré par:</a:t>
              </a:r>
            </a:p>
          </p:txBody>
        </p:sp>
      </p:grpSp>
      <p:sp>
        <p:nvSpPr>
          <p:cNvPr id="22" name="TextBox 21">
            <a:extLst>
              <a:ext uri="{FF2B5EF4-FFF2-40B4-BE49-F238E27FC236}">
                <a16:creationId xmlns:a16="http://schemas.microsoft.com/office/drawing/2014/main" id="{A47AA0D2-4208-4F7F-5A64-2C7546357943}"/>
              </a:ext>
            </a:extLst>
          </p:cNvPr>
          <p:cNvSpPr txBox="1"/>
          <p:nvPr/>
        </p:nvSpPr>
        <p:spPr>
          <a:xfrm>
            <a:off x="4681036" y="6094526"/>
            <a:ext cx="2815322" cy="369332"/>
          </a:xfrm>
          <a:prstGeom prst="rect">
            <a:avLst/>
          </a:prstGeom>
          <a:noFill/>
        </p:spPr>
        <p:txBody>
          <a:bodyPr wrap="none" rtlCol="0">
            <a:spAutoFit/>
          </a:bodyPr>
          <a:lstStyle/>
          <a:p>
            <a:r>
              <a:rPr lang="en-US" i="1" noProof="1"/>
              <a:t>MASTER 2IAD  - 2025/2026</a:t>
            </a:r>
          </a:p>
        </p:txBody>
      </p:sp>
      <p:cxnSp>
        <p:nvCxnSpPr>
          <p:cNvPr id="32" name="Straight Connector 31">
            <a:extLst>
              <a:ext uri="{FF2B5EF4-FFF2-40B4-BE49-F238E27FC236}">
                <a16:creationId xmlns:a16="http://schemas.microsoft.com/office/drawing/2014/main" id="{BA92159A-CAD2-1AFD-7093-D5153DA88916}"/>
              </a:ext>
            </a:extLst>
          </p:cNvPr>
          <p:cNvCxnSpPr>
            <a:cxnSpLocks/>
          </p:cNvCxnSpPr>
          <p:nvPr/>
        </p:nvCxnSpPr>
        <p:spPr>
          <a:xfrm>
            <a:off x="5594921" y="3568805"/>
            <a:ext cx="0" cy="2129662"/>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DB16798-04FD-DFED-D279-D39932BC01F1}"/>
              </a:ext>
            </a:extLst>
          </p:cNvPr>
          <p:cNvSpPr txBox="1"/>
          <p:nvPr/>
        </p:nvSpPr>
        <p:spPr>
          <a:xfrm>
            <a:off x="3811984" y="2981640"/>
            <a:ext cx="4357731" cy="369332"/>
          </a:xfrm>
          <a:prstGeom prst="rect">
            <a:avLst/>
          </a:prstGeom>
          <a:noFill/>
        </p:spPr>
        <p:txBody>
          <a:bodyPr wrap="none" rtlCol="0">
            <a:spAutoFit/>
          </a:bodyPr>
          <a:lstStyle/>
          <a:p>
            <a:r>
              <a:rPr lang="en-US" noProof="1"/>
              <a:t>Stratégie d’expérimentation en blockchain</a:t>
            </a:r>
            <a:endParaRPr lang="en-US" sz="2400" b="1" noProof="1"/>
          </a:p>
        </p:txBody>
      </p:sp>
      <p:sp>
        <p:nvSpPr>
          <p:cNvPr id="3" name="TextBox 2">
            <a:extLst>
              <a:ext uri="{FF2B5EF4-FFF2-40B4-BE49-F238E27FC236}">
                <a16:creationId xmlns:a16="http://schemas.microsoft.com/office/drawing/2014/main" id="{8B1D2704-08CE-E1E4-D091-4FCF0B0C9668}"/>
              </a:ext>
            </a:extLst>
          </p:cNvPr>
          <p:cNvSpPr txBox="1"/>
          <p:nvPr/>
        </p:nvSpPr>
        <p:spPr>
          <a:xfrm>
            <a:off x="153899" y="6326398"/>
            <a:ext cx="891654" cy="369332"/>
          </a:xfrm>
          <a:prstGeom prst="rect">
            <a:avLst/>
          </a:prstGeom>
          <a:noFill/>
        </p:spPr>
        <p:txBody>
          <a:bodyPr wrap="none" rtlCol="0">
            <a:spAutoFit/>
          </a:bodyPr>
          <a:lstStyle/>
          <a:p>
            <a:r>
              <a:rPr lang="en-US" b="1" i="1" noProof="1">
                <a:solidFill>
                  <a:srgbClr val="FF0000"/>
                </a:solidFill>
              </a:rPr>
              <a:t>PART 1</a:t>
            </a:r>
          </a:p>
        </p:txBody>
      </p:sp>
    </p:spTree>
    <p:extLst>
      <p:ext uri="{BB962C8B-B14F-4D97-AF65-F5344CB8AC3E}">
        <p14:creationId xmlns:p14="http://schemas.microsoft.com/office/powerpoint/2010/main" val="32651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DFC9-9815-528E-C264-22B4226303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34E6DE-7CF4-7C8F-1A48-31D077AAC704}"/>
              </a:ext>
            </a:extLst>
          </p:cNvPr>
          <p:cNvSpPr txBox="1"/>
          <p:nvPr/>
        </p:nvSpPr>
        <p:spPr>
          <a:xfrm>
            <a:off x="692443" y="992682"/>
            <a:ext cx="2464714" cy="584775"/>
          </a:xfrm>
          <a:prstGeom prst="rect">
            <a:avLst/>
          </a:prstGeom>
          <a:noFill/>
        </p:spPr>
        <p:txBody>
          <a:bodyPr wrap="none" rtlCol="0">
            <a:spAutoFit/>
          </a:bodyPr>
          <a:lstStyle/>
          <a:p>
            <a:r>
              <a:rPr lang="en-US" sz="3200" b="1" noProof="1"/>
              <a:t>PLAN : ML4T</a:t>
            </a:r>
          </a:p>
        </p:txBody>
      </p:sp>
      <p:sp>
        <p:nvSpPr>
          <p:cNvPr id="3" name="TextBox 2">
            <a:extLst>
              <a:ext uri="{FF2B5EF4-FFF2-40B4-BE49-F238E27FC236}">
                <a16:creationId xmlns:a16="http://schemas.microsoft.com/office/drawing/2014/main" id="{48EB9133-1A6B-E051-6EF5-9DC80B635AA7}"/>
              </a:ext>
            </a:extLst>
          </p:cNvPr>
          <p:cNvSpPr txBox="1"/>
          <p:nvPr/>
        </p:nvSpPr>
        <p:spPr>
          <a:xfrm>
            <a:off x="1154837" y="2081040"/>
            <a:ext cx="2038763" cy="400110"/>
          </a:xfrm>
          <a:prstGeom prst="rect">
            <a:avLst/>
          </a:prstGeom>
          <a:noFill/>
        </p:spPr>
        <p:txBody>
          <a:bodyPr wrap="none" rtlCol="0">
            <a:spAutoFit/>
          </a:bodyPr>
          <a:lstStyle/>
          <a:p>
            <a:r>
              <a:rPr lang="en-US" sz="2000" b="1" noProof="1"/>
              <a:t>INTRODUCTION</a:t>
            </a:r>
          </a:p>
        </p:txBody>
      </p:sp>
      <p:sp>
        <p:nvSpPr>
          <p:cNvPr id="4" name="TextBox 3">
            <a:extLst>
              <a:ext uri="{FF2B5EF4-FFF2-40B4-BE49-F238E27FC236}">
                <a16:creationId xmlns:a16="http://schemas.microsoft.com/office/drawing/2014/main" id="{9B3C5DA2-F256-6056-463A-FDEF9E03F975}"/>
              </a:ext>
            </a:extLst>
          </p:cNvPr>
          <p:cNvSpPr txBox="1"/>
          <p:nvPr/>
        </p:nvSpPr>
        <p:spPr>
          <a:xfrm>
            <a:off x="1154837" y="4792119"/>
            <a:ext cx="3609834" cy="400110"/>
          </a:xfrm>
          <a:prstGeom prst="rect">
            <a:avLst/>
          </a:prstGeom>
          <a:noFill/>
        </p:spPr>
        <p:txBody>
          <a:bodyPr wrap="none" rtlCol="0">
            <a:spAutoFit/>
          </a:bodyPr>
          <a:lstStyle/>
          <a:p>
            <a:r>
              <a:rPr lang="en-US" sz="2000" b="1" noProof="1"/>
              <a:t>MODÉLISATION (ML MODELS)</a:t>
            </a:r>
          </a:p>
        </p:txBody>
      </p:sp>
      <p:sp>
        <p:nvSpPr>
          <p:cNvPr id="5" name="TextBox 4">
            <a:extLst>
              <a:ext uri="{FF2B5EF4-FFF2-40B4-BE49-F238E27FC236}">
                <a16:creationId xmlns:a16="http://schemas.microsoft.com/office/drawing/2014/main" id="{FF5203C2-1236-83BD-4995-8B49B752E833}"/>
              </a:ext>
            </a:extLst>
          </p:cNvPr>
          <p:cNvSpPr txBox="1"/>
          <p:nvPr/>
        </p:nvSpPr>
        <p:spPr>
          <a:xfrm>
            <a:off x="1154837" y="3888426"/>
            <a:ext cx="5863785" cy="400110"/>
          </a:xfrm>
          <a:prstGeom prst="rect">
            <a:avLst/>
          </a:prstGeom>
          <a:noFill/>
        </p:spPr>
        <p:txBody>
          <a:bodyPr wrap="none" rtlCol="0">
            <a:spAutoFit/>
          </a:bodyPr>
          <a:lstStyle/>
          <a:p>
            <a:r>
              <a:rPr lang="en-US" sz="2000" b="1" noProof="1"/>
              <a:t>LA DONNÉE (DATASET &amp; FEATURE ENGINEERING)</a:t>
            </a:r>
          </a:p>
        </p:txBody>
      </p:sp>
      <p:sp>
        <p:nvSpPr>
          <p:cNvPr id="6" name="TextBox 5">
            <a:extLst>
              <a:ext uri="{FF2B5EF4-FFF2-40B4-BE49-F238E27FC236}">
                <a16:creationId xmlns:a16="http://schemas.microsoft.com/office/drawing/2014/main" id="{7FA67D2D-94D1-01CC-0D09-400CF40AB2CE}"/>
              </a:ext>
            </a:extLst>
          </p:cNvPr>
          <p:cNvSpPr txBox="1"/>
          <p:nvPr/>
        </p:nvSpPr>
        <p:spPr>
          <a:xfrm>
            <a:off x="1154837" y="2984733"/>
            <a:ext cx="3554371" cy="400110"/>
          </a:xfrm>
          <a:prstGeom prst="rect">
            <a:avLst/>
          </a:prstGeom>
          <a:noFill/>
        </p:spPr>
        <p:txBody>
          <a:bodyPr wrap="none" rtlCol="0">
            <a:spAutoFit/>
          </a:bodyPr>
          <a:lstStyle/>
          <a:p>
            <a:r>
              <a:rPr lang="en-US" sz="2000" b="1" noProof="1"/>
              <a:t>ARCHITECTURE DU SYSTÈME</a:t>
            </a:r>
          </a:p>
        </p:txBody>
      </p:sp>
      <p:sp>
        <p:nvSpPr>
          <p:cNvPr id="7" name="TextBox 6">
            <a:extLst>
              <a:ext uri="{FF2B5EF4-FFF2-40B4-BE49-F238E27FC236}">
                <a16:creationId xmlns:a16="http://schemas.microsoft.com/office/drawing/2014/main" id="{9F635027-B0F6-3AE1-B815-7B523529F475}"/>
              </a:ext>
            </a:extLst>
          </p:cNvPr>
          <p:cNvSpPr txBox="1"/>
          <p:nvPr/>
        </p:nvSpPr>
        <p:spPr>
          <a:xfrm>
            <a:off x="7705344" y="2081040"/>
            <a:ext cx="3820918" cy="400110"/>
          </a:xfrm>
          <a:prstGeom prst="rect">
            <a:avLst/>
          </a:prstGeom>
          <a:noFill/>
        </p:spPr>
        <p:txBody>
          <a:bodyPr wrap="none" rtlCol="0">
            <a:spAutoFit/>
          </a:bodyPr>
          <a:lstStyle/>
          <a:p>
            <a:r>
              <a:rPr lang="en-US" sz="2000" b="1" noProof="1"/>
              <a:t>INTERFACE WEB (DASHBOARD)</a:t>
            </a:r>
          </a:p>
        </p:txBody>
      </p:sp>
      <p:sp>
        <p:nvSpPr>
          <p:cNvPr id="8" name="TextBox 7">
            <a:extLst>
              <a:ext uri="{FF2B5EF4-FFF2-40B4-BE49-F238E27FC236}">
                <a16:creationId xmlns:a16="http://schemas.microsoft.com/office/drawing/2014/main" id="{36AFCA17-3A57-C2DF-8A65-77742733AFDB}"/>
              </a:ext>
            </a:extLst>
          </p:cNvPr>
          <p:cNvSpPr txBox="1"/>
          <p:nvPr/>
        </p:nvSpPr>
        <p:spPr>
          <a:xfrm>
            <a:off x="7705344" y="2984733"/>
            <a:ext cx="3826112" cy="400110"/>
          </a:xfrm>
          <a:prstGeom prst="rect">
            <a:avLst/>
          </a:prstGeom>
          <a:noFill/>
        </p:spPr>
        <p:txBody>
          <a:bodyPr wrap="none" rtlCol="0">
            <a:spAutoFit/>
          </a:bodyPr>
          <a:lstStyle/>
          <a:p>
            <a:r>
              <a:rPr lang="en-US" sz="2000" b="1" noProof="1"/>
              <a:t>INTÉGRATION ET BACKTESTING</a:t>
            </a:r>
          </a:p>
        </p:txBody>
      </p:sp>
      <p:sp>
        <p:nvSpPr>
          <p:cNvPr id="9" name="TextBox 8">
            <a:extLst>
              <a:ext uri="{FF2B5EF4-FFF2-40B4-BE49-F238E27FC236}">
                <a16:creationId xmlns:a16="http://schemas.microsoft.com/office/drawing/2014/main" id="{60A3E680-4077-9A1E-0107-26D18EC900A5}"/>
              </a:ext>
            </a:extLst>
          </p:cNvPr>
          <p:cNvSpPr txBox="1"/>
          <p:nvPr/>
        </p:nvSpPr>
        <p:spPr>
          <a:xfrm>
            <a:off x="7705344" y="3888426"/>
            <a:ext cx="1829219" cy="400110"/>
          </a:xfrm>
          <a:prstGeom prst="rect">
            <a:avLst/>
          </a:prstGeom>
          <a:noFill/>
        </p:spPr>
        <p:txBody>
          <a:bodyPr wrap="none" rtlCol="0">
            <a:spAutoFit/>
          </a:bodyPr>
          <a:lstStyle/>
          <a:p>
            <a:r>
              <a:rPr lang="en-US" sz="2000" b="1" noProof="1"/>
              <a:t>CONCLUSION</a:t>
            </a:r>
          </a:p>
        </p:txBody>
      </p:sp>
      <p:sp>
        <p:nvSpPr>
          <p:cNvPr id="10" name="Rectangle: Diagonal Corners Snipped 9">
            <a:extLst>
              <a:ext uri="{FF2B5EF4-FFF2-40B4-BE49-F238E27FC236}">
                <a16:creationId xmlns:a16="http://schemas.microsoft.com/office/drawing/2014/main" id="{A7A31532-E18A-D16F-927B-7CD8FBA4330D}"/>
              </a:ext>
            </a:extLst>
          </p:cNvPr>
          <p:cNvSpPr/>
          <p:nvPr/>
        </p:nvSpPr>
        <p:spPr>
          <a:xfrm>
            <a:off x="697637" y="2081040"/>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1</a:t>
            </a:r>
          </a:p>
        </p:txBody>
      </p:sp>
      <p:sp>
        <p:nvSpPr>
          <p:cNvPr id="11" name="Rectangle: Diagonal Corners Snipped 10">
            <a:extLst>
              <a:ext uri="{FF2B5EF4-FFF2-40B4-BE49-F238E27FC236}">
                <a16:creationId xmlns:a16="http://schemas.microsoft.com/office/drawing/2014/main" id="{F3F47932-70EE-E7B8-EE2E-08DA3182CB61}"/>
              </a:ext>
            </a:extLst>
          </p:cNvPr>
          <p:cNvSpPr/>
          <p:nvPr/>
        </p:nvSpPr>
        <p:spPr>
          <a:xfrm>
            <a:off x="692443" y="2984733"/>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2</a:t>
            </a:r>
          </a:p>
        </p:txBody>
      </p:sp>
      <p:sp>
        <p:nvSpPr>
          <p:cNvPr id="12" name="Rectangle: Diagonal Corners Snipped 11">
            <a:extLst>
              <a:ext uri="{FF2B5EF4-FFF2-40B4-BE49-F238E27FC236}">
                <a16:creationId xmlns:a16="http://schemas.microsoft.com/office/drawing/2014/main" id="{926E677A-C3B6-E6EA-8655-6DDE453BEE56}"/>
              </a:ext>
            </a:extLst>
          </p:cNvPr>
          <p:cNvSpPr/>
          <p:nvPr/>
        </p:nvSpPr>
        <p:spPr>
          <a:xfrm>
            <a:off x="687249" y="3888426"/>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3</a:t>
            </a:r>
          </a:p>
        </p:txBody>
      </p:sp>
      <p:sp>
        <p:nvSpPr>
          <p:cNvPr id="13" name="Rectangle: Diagonal Corners Snipped 12">
            <a:extLst>
              <a:ext uri="{FF2B5EF4-FFF2-40B4-BE49-F238E27FC236}">
                <a16:creationId xmlns:a16="http://schemas.microsoft.com/office/drawing/2014/main" id="{ABF59995-A198-1D92-32C3-0A19DD97A92B}"/>
              </a:ext>
            </a:extLst>
          </p:cNvPr>
          <p:cNvSpPr/>
          <p:nvPr/>
        </p:nvSpPr>
        <p:spPr>
          <a:xfrm>
            <a:off x="682055" y="4792119"/>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4</a:t>
            </a:r>
          </a:p>
        </p:txBody>
      </p:sp>
      <p:sp>
        <p:nvSpPr>
          <p:cNvPr id="14" name="Rectangle: Diagonal Corners Snipped 13">
            <a:extLst>
              <a:ext uri="{FF2B5EF4-FFF2-40B4-BE49-F238E27FC236}">
                <a16:creationId xmlns:a16="http://schemas.microsoft.com/office/drawing/2014/main" id="{DD50D228-6144-B078-475C-6BAF8829D659}"/>
              </a:ext>
            </a:extLst>
          </p:cNvPr>
          <p:cNvSpPr/>
          <p:nvPr/>
        </p:nvSpPr>
        <p:spPr>
          <a:xfrm>
            <a:off x="7344051" y="2081040"/>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5</a:t>
            </a:r>
          </a:p>
        </p:txBody>
      </p:sp>
      <p:sp>
        <p:nvSpPr>
          <p:cNvPr id="15" name="Rectangle: Diagonal Corners Snipped 14">
            <a:extLst>
              <a:ext uri="{FF2B5EF4-FFF2-40B4-BE49-F238E27FC236}">
                <a16:creationId xmlns:a16="http://schemas.microsoft.com/office/drawing/2014/main" id="{2499DEAF-B4D3-B7B6-CD08-E4121582D2BA}"/>
              </a:ext>
            </a:extLst>
          </p:cNvPr>
          <p:cNvSpPr/>
          <p:nvPr/>
        </p:nvSpPr>
        <p:spPr>
          <a:xfrm>
            <a:off x="7344050" y="2984733"/>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6</a:t>
            </a:r>
          </a:p>
        </p:txBody>
      </p:sp>
      <p:sp>
        <p:nvSpPr>
          <p:cNvPr id="16" name="Rectangle: Diagonal Corners Snipped 15">
            <a:extLst>
              <a:ext uri="{FF2B5EF4-FFF2-40B4-BE49-F238E27FC236}">
                <a16:creationId xmlns:a16="http://schemas.microsoft.com/office/drawing/2014/main" id="{B1E413DB-6FBF-2B7E-0960-C7D4E2DF61D9}"/>
              </a:ext>
            </a:extLst>
          </p:cNvPr>
          <p:cNvSpPr/>
          <p:nvPr/>
        </p:nvSpPr>
        <p:spPr>
          <a:xfrm>
            <a:off x="7344049" y="3888426"/>
            <a:ext cx="361293" cy="400110"/>
          </a:xfrm>
          <a:prstGeom prst="snip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7</a:t>
            </a:r>
          </a:p>
        </p:txBody>
      </p:sp>
      <p:cxnSp>
        <p:nvCxnSpPr>
          <p:cNvPr id="18" name="Straight Connector 17">
            <a:extLst>
              <a:ext uri="{FF2B5EF4-FFF2-40B4-BE49-F238E27FC236}">
                <a16:creationId xmlns:a16="http://schemas.microsoft.com/office/drawing/2014/main" id="{52FC82A1-80C9-EE43-AB37-CE383BE4FB28}"/>
              </a:ext>
            </a:extLst>
          </p:cNvPr>
          <p:cNvCxnSpPr>
            <a:cxnSpLocks/>
          </p:cNvCxnSpPr>
          <p:nvPr/>
        </p:nvCxnSpPr>
        <p:spPr>
          <a:xfrm>
            <a:off x="3193600" y="1389888"/>
            <a:ext cx="8254688" cy="0"/>
          </a:xfrm>
          <a:prstGeom prst="line">
            <a:avLst/>
          </a:prstGeom>
          <a:ln w="38100">
            <a:solidFill>
              <a:srgbClr val="83A5AB"/>
            </a:solidFill>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305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Diagonal Corners Rounded 2">
            <a:extLst>
              <a:ext uri="{FF2B5EF4-FFF2-40B4-BE49-F238E27FC236}">
                <a16:creationId xmlns:a16="http://schemas.microsoft.com/office/drawing/2014/main" id="{61DBCA11-1F51-2EB1-5EAA-C9DA0A3F18A7}"/>
              </a:ext>
            </a:extLst>
          </p:cNvPr>
          <p:cNvSpPr/>
          <p:nvPr/>
        </p:nvSpPr>
        <p:spPr>
          <a:xfrm>
            <a:off x="3194304" y="2025396"/>
            <a:ext cx="5803392" cy="3136392"/>
          </a:xfrm>
          <a:prstGeom prst="round2DiagRect">
            <a:avLst>
              <a:gd name="adj1" fmla="val 16667"/>
              <a:gd name="adj2" fmla="val 0"/>
            </a:avLst>
          </a:prstGeom>
          <a:solidFill>
            <a:srgbClr val="83A5AB"/>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518C414C-A9EB-6C2F-9BE7-243E863DC9EE}"/>
              </a:ext>
            </a:extLst>
          </p:cNvPr>
          <p:cNvSpPr txBox="1"/>
          <p:nvPr/>
        </p:nvSpPr>
        <p:spPr>
          <a:xfrm>
            <a:off x="4521370" y="3873264"/>
            <a:ext cx="3149260" cy="584775"/>
          </a:xfrm>
          <a:prstGeom prst="rect">
            <a:avLst/>
          </a:prstGeom>
          <a:noFill/>
        </p:spPr>
        <p:txBody>
          <a:bodyPr wrap="none" rtlCol="0">
            <a:spAutoFit/>
          </a:bodyPr>
          <a:lstStyle/>
          <a:p>
            <a:r>
              <a:rPr lang="en-US" sz="3200" b="1" noProof="1"/>
              <a:t>INTRODUCTION</a:t>
            </a:r>
          </a:p>
        </p:txBody>
      </p:sp>
      <p:sp>
        <p:nvSpPr>
          <p:cNvPr id="5" name="Rectangle: Diagonal Corners Snipped 4">
            <a:extLst>
              <a:ext uri="{FF2B5EF4-FFF2-40B4-BE49-F238E27FC236}">
                <a16:creationId xmlns:a16="http://schemas.microsoft.com/office/drawing/2014/main" id="{A93DCBFB-39C7-53BE-ABA5-247DCCE88B95}"/>
              </a:ext>
            </a:extLst>
          </p:cNvPr>
          <p:cNvSpPr/>
          <p:nvPr/>
        </p:nvSpPr>
        <p:spPr>
          <a:xfrm>
            <a:off x="5654500" y="2824830"/>
            <a:ext cx="883000" cy="768762"/>
          </a:xfrm>
          <a:prstGeom prst="snip2DiagRect">
            <a:avLst/>
          </a:prstGeom>
          <a:solidFill>
            <a:schemeClr val="tx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noProof="1"/>
              <a:t>1</a:t>
            </a:r>
          </a:p>
        </p:txBody>
      </p:sp>
    </p:spTree>
    <p:extLst>
      <p:ext uri="{BB962C8B-B14F-4D97-AF65-F5344CB8AC3E}">
        <p14:creationId xmlns:p14="http://schemas.microsoft.com/office/powerpoint/2010/main" val="998664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4398907-97A4-0219-145D-EBFC51AC7070}"/>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D61A04F-1D25-564E-3026-598AA5FBF67A}"/>
              </a:ext>
            </a:extLst>
          </p:cNvPr>
          <p:cNvSpPr txBox="1"/>
          <p:nvPr/>
        </p:nvSpPr>
        <p:spPr>
          <a:xfrm>
            <a:off x="658368" y="336542"/>
            <a:ext cx="10488168" cy="461665"/>
          </a:xfrm>
          <a:prstGeom prst="rect">
            <a:avLst/>
          </a:prstGeom>
          <a:noFill/>
        </p:spPr>
        <p:txBody>
          <a:bodyPr wrap="square">
            <a:spAutoFit/>
          </a:bodyPr>
          <a:lstStyle/>
          <a:p>
            <a:r>
              <a:rPr lang="en-US" sz="2400" b="1" noProof="1"/>
              <a:t>LA RÉVOLUTION DU TRADING PAR LES DONNÉES</a:t>
            </a:r>
          </a:p>
        </p:txBody>
      </p:sp>
      <p:sp>
        <p:nvSpPr>
          <p:cNvPr id="10" name="TextBox 9">
            <a:extLst>
              <a:ext uri="{FF2B5EF4-FFF2-40B4-BE49-F238E27FC236}">
                <a16:creationId xmlns:a16="http://schemas.microsoft.com/office/drawing/2014/main" id="{677137EA-A3A3-B122-1AFC-8B999F796E58}"/>
              </a:ext>
            </a:extLst>
          </p:cNvPr>
          <p:cNvSpPr txBox="1"/>
          <p:nvPr/>
        </p:nvSpPr>
        <p:spPr>
          <a:xfrm>
            <a:off x="658368" y="1106424"/>
            <a:ext cx="10698480" cy="1200329"/>
          </a:xfrm>
          <a:prstGeom prst="rect">
            <a:avLst/>
          </a:prstGeom>
          <a:noFill/>
        </p:spPr>
        <p:txBody>
          <a:bodyPr wrap="square" rtlCol="0">
            <a:spAutoFit/>
          </a:bodyPr>
          <a:lstStyle/>
          <a:p>
            <a:pPr algn="just"/>
            <a:r>
              <a:rPr lang="en-US" noProof="1"/>
              <a:t>Depuis des décennies, le trading repose sur l'analyse technique traditionnelle et l'intuition humaine. Cependant, avec l'explosion du </a:t>
            </a:r>
            <a:r>
              <a:rPr lang="en-US" b="1" noProof="1"/>
              <a:t>Big Data</a:t>
            </a:r>
            <a:r>
              <a:rPr lang="en-US" noProof="1"/>
              <a:t> et de la puissance de calcul, les marchés financiers sont devenus trop complexes pour être analysés manuellement. Aujourd'hui, plus de 70 % des volumes d'échanges aux États-Unis sont réalisés par des algorithmes.</a:t>
            </a:r>
          </a:p>
        </p:txBody>
      </p:sp>
      <p:sp>
        <p:nvSpPr>
          <p:cNvPr id="11" name="TextBox 10">
            <a:extLst>
              <a:ext uri="{FF2B5EF4-FFF2-40B4-BE49-F238E27FC236}">
                <a16:creationId xmlns:a16="http://schemas.microsoft.com/office/drawing/2014/main" id="{DB363BC5-3EC7-C7BA-3DA5-7D48788C2944}"/>
              </a:ext>
            </a:extLst>
          </p:cNvPr>
          <p:cNvSpPr txBox="1"/>
          <p:nvPr/>
        </p:nvSpPr>
        <p:spPr>
          <a:xfrm>
            <a:off x="658368" y="2383128"/>
            <a:ext cx="10698480" cy="646331"/>
          </a:xfrm>
          <a:prstGeom prst="rect">
            <a:avLst/>
          </a:prstGeom>
          <a:noFill/>
        </p:spPr>
        <p:txBody>
          <a:bodyPr wrap="square" rtlCol="0">
            <a:spAutoFit/>
          </a:bodyPr>
          <a:lstStyle/>
          <a:p>
            <a:pPr algn="just"/>
            <a:r>
              <a:rPr lang="en-US" noProof="1"/>
              <a:t>Ce projet ne se contente pas d'appliquer des modèles de Machine Learning (ML) au hasard. Il s'appuie sur la méthodologie de </a:t>
            </a:r>
            <a:r>
              <a:rPr lang="en-US" b="1" noProof="1"/>
              <a:t>Stefan Jansen</a:t>
            </a:r>
            <a:r>
              <a:rPr lang="en-US" noProof="1"/>
              <a:t>, auteur de référence dans le domaine du Trading Algorithmique.</a:t>
            </a:r>
          </a:p>
        </p:txBody>
      </p:sp>
      <p:sp>
        <p:nvSpPr>
          <p:cNvPr id="12" name="TextBox 11">
            <a:extLst>
              <a:ext uri="{FF2B5EF4-FFF2-40B4-BE49-F238E27FC236}">
                <a16:creationId xmlns:a16="http://schemas.microsoft.com/office/drawing/2014/main" id="{9AFCBE17-F6AC-318E-C021-961B05601762}"/>
              </a:ext>
            </a:extLst>
          </p:cNvPr>
          <p:cNvSpPr txBox="1"/>
          <p:nvPr/>
        </p:nvSpPr>
        <p:spPr>
          <a:xfrm>
            <a:off x="658368" y="3105834"/>
            <a:ext cx="10698480" cy="1200329"/>
          </a:xfrm>
          <a:prstGeom prst="rect">
            <a:avLst/>
          </a:prstGeom>
          <a:noFill/>
        </p:spPr>
        <p:txBody>
          <a:bodyPr wrap="square" rtlCol="0">
            <a:spAutoFit/>
          </a:bodyPr>
          <a:lstStyle/>
          <a:p>
            <a:pPr marL="285750" indent="-285750">
              <a:buFont typeface="Arial" panose="020B0604020202020204" pitchFamily="34" charset="0"/>
              <a:buChar char="•"/>
            </a:pPr>
            <a:r>
              <a:rPr lang="en-US" b="1" noProof="1"/>
              <a:t>L'approche :</a:t>
            </a:r>
            <a:r>
              <a:rPr lang="en-US" noProof="1"/>
              <a:t> Passer d'une simple analyse de graphiques à la construction d'un pipeline scientifique complet.</a:t>
            </a:r>
          </a:p>
          <a:p>
            <a:pPr marL="285750" indent="-285750">
              <a:buFont typeface="Arial" panose="020B0604020202020204" pitchFamily="34" charset="0"/>
              <a:buChar char="•"/>
            </a:pPr>
            <a:r>
              <a:rPr lang="en-US" b="1" noProof="1"/>
              <a:t>La ressource :</a:t>
            </a:r>
            <a:r>
              <a:rPr lang="en-US" noProof="1"/>
              <a:t> Une base rigoureuse s'appuyant sur plus de 150 notebooks explorant tout le spectre du ML, des régressions linéaires aux réseaux de neurones profonds.</a:t>
            </a:r>
          </a:p>
        </p:txBody>
      </p:sp>
      <p:sp>
        <p:nvSpPr>
          <p:cNvPr id="13" name="TextBox 12">
            <a:extLst>
              <a:ext uri="{FF2B5EF4-FFF2-40B4-BE49-F238E27FC236}">
                <a16:creationId xmlns:a16="http://schemas.microsoft.com/office/drawing/2014/main" id="{6447BF92-D291-38CE-25D8-5D41030E57AC}"/>
              </a:ext>
            </a:extLst>
          </p:cNvPr>
          <p:cNvSpPr txBox="1"/>
          <p:nvPr/>
        </p:nvSpPr>
        <p:spPr>
          <a:xfrm>
            <a:off x="658368" y="4382538"/>
            <a:ext cx="10698480" cy="923330"/>
          </a:xfrm>
          <a:prstGeom prst="rect">
            <a:avLst/>
          </a:prstGeom>
          <a:noFill/>
        </p:spPr>
        <p:txBody>
          <a:bodyPr wrap="square" rtlCol="0">
            <a:spAutoFit/>
          </a:bodyPr>
          <a:lstStyle/>
          <a:p>
            <a:pPr algn="just"/>
            <a:r>
              <a:rPr lang="en-US" noProof="1"/>
              <a:t>Le défi majeur en finance n'est pas de prédire le futur, mais de trouver des </a:t>
            </a:r>
            <a:r>
              <a:rPr lang="en-US" b="1" noProof="1"/>
              <a:t>"Alpha Factors"</a:t>
            </a:r>
            <a:r>
              <a:rPr lang="en-US" noProof="1"/>
              <a:t> (signaux prédictifs) capables de battre le marché de manière consistante, tout en gérant le risque de manière stricte.</a:t>
            </a:r>
          </a:p>
        </p:txBody>
      </p:sp>
      <p:sp>
        <p:nvSpPr>
          <p:cNvPr id="14" name="TextBox 13">
            <a:extLst>
              <a:ext uri="{FF2B5EF4-FFF2-40B4-BE49-F238E27FC236}">
                <a16:creationId xmlns:a16="http://schemas.microsoft.com/office/drawing/2014/main" id="{1340079F-D3D3-D8A0-A71E-8AF19BEAFBED}"/>
              </a:ext>
            </a:extLst>
          </p:cNvPr>
          <p:cNvSpPr txBox="1"/>
          <p:nvPr/>
        </p:nvSpPr>
        <p:spPr>
          <a:xfrm>
            <a:off x="658368" y="5382243"/>
            <a:ext cx="10698480" cy="646331"/>
          </a:xfrm>
          <a:prstGeom prst="rect">
            <a:avLst/>
          </a:prstGeom>
          <a:noFill/>
        </p:spPr>
        <p:txBody>
          <a:bodyPr wrap="square" rtlCol="0">
            <a:spAutoFit/>
          </a:bodyPr>
          <a:lstStyle/>
          <a:p>
            <a:pPr algn="just"/>
            <a:r>
              <a:rPr lang="en-US" i="1" noProof="1">
                <a:latin typeface="Times New Roman" panose="02020603050405020304" pitchFamily="18" charset="0"/>
                <a:ea typeface="Tahoma" panose="020B0604030504040204" pitchFamily="34" charset="0"/>
                <a:cs typeface="Times New Roman" panose="02020603050405020304" pitchFamily="18" charset="0"/>
              </a:rPr>
              <a:t>Comment transformer une masse de données hétérogènes (prix, bilans, sentiments) en une stratégie de trading automatisée et robuste ?</a:t>
            </a:r>
            <a:endParaRPr lang="en-US" noProof="1">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595760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A7ED7-6DDA-0B25-BA85-0C437861DBE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AED3AC4-B7B8-27F3-B42C-CBC8136AB4C4}"/>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7B3C8C2-79E3-5C22-2E36-F2FDB93045EE}"/>
              </a:ext>
            </a:extLst>
          </p:cNvPr>
          <p:cNvSpPr txBox="1"/>
          <p:nvPr/>
        </p:nvSpPr>
        <p:spPr>
          <a:xfrm>
            <a:off x="658368" y="336542"/>
            <a:ext cx="10488168" cy="461665"/>
          </a:xfrm>
          <a:prstGeom prst="rect">
            <a:avLst/>
          </a:prstGeom>
          <a:noFill/>
        </p:spPr>
        <p:txBody>
          <a:bodyPr wrap="square">
            <a:spAutoFit/>
          </a:bodyPr>
          <a:lstStyle/>
          <a:p>
            <a:r>
              <a:rPr lang="en-US" sz="2400" b="1" noProof="1"/>
              <a:t>LES OBJECTIFS DU PROJET</a:t>
            </a:r>
          </a:p>
        </p:txBody>
      </p:sp>
      <p:sp>
        <p:nvSpPr>
          <p:cNvPr id="10" name="TextBox 9">
            <a:extLst>
              <a:ext uri="{FF2B5EF4-FFF2-40B4-BE49-F238E27FC236}">
                <a16:creationId xmlns:a16="http://schemas.microsoft.com/office/drawing/2014/main" id="{77416A52-5611-3793-496D-BD61A042656D}"/>
              </a:ext>
            </a:extLst>
          </p:cNvPr>
          <p:cNvSpPr txBox="1"/>
          <p:nvPr/>
        </p:nvSpPr>
        <p:spPr>
          <a:xfrm>
            <a:off x="658368" y="1106424"/>
            <a:ext cx="10698480" cy="369332"/>
          </a:xfrm>
          <a:prstGeom prst="rect">
            <a:avLst/>
          </a:prstGeom>
          <a:noFill/>
        </p:spPr>
        <p:txBody>
          <a:bodyPr wrap="square" rtlCol="0">
            <a:spAutoFit/>
          </a:bodyPr>
          <a:lstStyle/>
          <a:p>
            <a:pPr algn="just"/>
            <a:r>
              <a:rPr lang="en-US" noProof="1"/>
              <a:t>Notre mission à travers ce projet est :</a:t>
            </a:r>
          </a:p>
        </p:txBody>
      </p:sp>
      <p:sp>
        <p:nvSpPr>
          <p:cNvPr id="11" name="TextBox 10">
            <a:extLst>
              <a:ext uri="{FF2B5EF4-FFF2-40B4-BE49-F238E27FC236}">
                <a16:creationId xmlns:a16="http://schemas.microsoft.com/office/drawing/2014/main" id="{2C167951-585B-4742-8EE3-D084A0CAEF81}"/>
              </a:ext>
            </a:extLst>
          </p:cNvPr>
          <p:cNvSpPr txBox="1"/>
          <p:nvPr/>
        </p:nvSpPr>
        <p:spPr>
          <a:xfrm>
            <a:off x="658368" y="1575215"/>
            <a:ext cx="10698480" cy="1754326"/>
          </a:xfrm>
          <a:prstGeom prst="rect">
            <a:avLst/>
          </a:prstGeom>
          <a:noFill/>
        </p:spPr>
        <p:txBody>
          <a:bodyPr wrap="square" rtlCol="0">
            <a:spAutoFit/>
          </a:bodyPr>
          <a:lstStyle/>
          <a:p>
            <a:pPr marL="285750" indent="-285750">
              <a:buFont typeface="Arial" panose="020B0604020202020204" pitchFamily="34" charset="0"/>
              <a:buChar char="•"/>
            </a:pPr>
            <a:r>
              <a:rPr lang="en-US" b="1" noProof="1"/>
              <a:t>Recherche &amp; Développement :</a:t>
            </a:r>
            <a:r>
              <a:rPr lang="en-US" noProof="1"/>
              <a:t> Concevoir des modèles capables d'apprendre des motifs historiques complexes.</a:t>
            </a:r>
          </a:p>
          <a:p>
            <a:pPr marL="285750" indent="-285750">
              <a:buFont typeface="Arial" panose="020B0604020202020204" pitchFamily="34" charset="0"/>
              <a:buChar char="•"/>
            </a:pPr>
            <a:r>
              <a:rPr lang="en-US" b="1" noProof="1"/>
              <a:t>Rigueur Scientifique :</a:t>
            </a:r>
            <a:r>
              <a:rPr lang="en-US" noProof="1"/>
              <a:t> Appliquer des protocoles de backtesting stricts pour éviter le sur-apprentissage (overfitting), le piège numéro 1 du trading algorithmique.</a:t>
            </a:r>
          </a:p>
          <a:p>
            <a:pPr marL="285750" indent="-285750">
              <a:buFont typeface="Arial" panose="020B0604020202020204" pitchFamily="34" charset="0"/>
              <a:buChar char="•"/>
            </a:pPr>
            <a:r>
              <a:rPr lang="en-US" b="1" noProof="1"/>
              <a:t>Opérationnalisation :</a:t>
            </a:r>
            <a:r>
              <a:rPr lang="en-US" noProof="1"/>
              <a:t> Développer une interface web interactive qui transforme nos modèles en un outil de décision visuel et actionnable en temps réel.</a:t>
            </a:r>
          </a:p>
        </p:txBody>
      </p:sp>
      <p:sp>
        <p:nvSpPr>
          <p:cNvPr id="2" name="TextBox 1">
            <a:extLst>
              <a:ext uri="{FF2B5EF4-FFF2-40B4-BE49-F238E27FC236}">
                <a16:creationId xmlns:a16="http://schemas.microsoft.com/office/drawing/2014/main" id="{01E73427-BEF0-7A75-C1F6-E21EB6B20756}"/>
              </a:ext>
            </a:extLst>
          </p:cNvPr>
          <p:cNvSpPr txBox="1"/>
          <p:nvPr/>
        </p:nvSpPr>
        <p:spPr>
          <a:xfrm>
            <a:off x="658368" y="3429000"/>
            <a:ext cx="10698480" cy="923330"/>
          </a:xfrm>
          <a:prstGeom prst="rect">
            <a:avLst/>
          </a:prstGeom>
          <a:noFill/>
        </p:spPr>
        <p:txBody>
          <a:bodyPr wrap="square" rtlCol="0">
            <a:spAutoFit/>
          </a:bodyPr>
          <a:lstStyle/>
          <a:p>
            <a:pPr algn="just"/>
            <a:r>
              <a:rPr lang="en-US" noProof="1"/>
              <a:t>Au terme de ce travail, nous n'aurons pas seulement un "modèle", mais un </a:t>
            </a:r>
            <a:r>
              <a:rPr lang="en-US" b="1" noProof="1"/>
              <a:t>écosystème complet</a:t>
            </a:r>
            <a:r>
              <a:rPr lang="en-US" noProof="1"/>
              <a:t> : de l'ingestion de données massives à l'exécution de signaux sur un tableau de bord, le tout validé par des métriques financières de pointe (Ratio de Sharpe, Information Coefficient).</a:t>
            </a:r>
          </a:p>
        </p:txBody>
      </p:sp>
    </p:spTree>
    <p:extLst>
      <p:ext uri="{BB962C8B-B14F-4D97-AF65-F5344CB8AC3E}">
        <p14:creationId xmlns:p14="http://schemas.microsoft.com/office/powerpoint/2010/main" val="337088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722F4-7ABA-8B3E-F363-1B47D4D35B63}"/>
            </a:ext>
          </a:extLst>
        </p:cNvPr>
        <p:cNvGrpSpPr/>
        <p:nvPr/>
      </p:nvGrpSpPr>
      <p:grpSpPr>
        <a:xfrm>
          <a:off x="0" y="0"/>
          <a:ext cx="0" cy="0"/>
          <a:chOff x="0" y="0"/>
          <a:chExt cx="0" cy="0"/>
        </a:xfrm>
      </p:grpSpPr>
      <p:sp>
        <p:nvSpPr>
          <p:cNvPr id="3" name="Rectangle: Diagonal Corners Rounded 2">
            <a:extLst>
              <a:ext uri="{FF2B5EF4-FFF2-40B4-BE49-F238E27FC236}">
                <a16:creationId xmlns:a16="http://schemas.microsoft.com/office/drawing/2014/main" id="{77C2B571-48F9-E478-1E9F-7C6D3A823B89}"/>
              </a:ext>
            </a:extLst>
          </p:cNvPr>
          <p:cNvSpPr/>
          <p:nvPr/>
        </p:nvSpPr>
        <p:spPr>
          <a:xfrm>
            <a:off x="3194304" y="2025396"/>
            <a:ext cx="5803392" cy="3136392"/>
          </a:xfrm>
          <a:prstGeom prst="round2DiagRect">
            <a:avLst>
              <a:gd name="adj1" fmla="val 16667"/>
              <a:gd name="adj2" fmla="val 0"/>
            </a:avLst>
          </a:prstGeom>
          <a:solidFill>
            <a:srgbClr val="83A5AB"/>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F6743630-C2A8-2561-9179-95C3823BBC69}"/>
              </a:ext>
            </a:extLst>
          </p:cNvPr>
          <p:cNvSpPr txBox="1"/>
          <p:nvPr/>
        </p:nvSpPr>
        <p:spPr>
          <a:xfrm>
            <a:off x="3310333" y="3873264"/>
            <a:ext cx="5571333" cy="584775"/>
          </a:xfrm>
          <a:prstGeom prst="rect">
            <a:avLst/>
          </a:prstGeom>
          <a:noFill/>
        </p:spPr>
        <p:txBody>
          <a:bodyPr wrap="none" rtlCol="0">
            <a:spAutoFit/>
          </a:bodyPr>
          <a:lstStyle/>
          <a:p>
            <a:r>
              <a:rPr lang="en-US" sz="3200" b="1" noProof="1"/>
              <a:t>ARCHITECTURE DU SYSTÈME</a:t>
            </a:r>
          </a:p>
        </p:txBody>
      </p:sp>
      <p:sp>
        <p:nvSpPr>
          <p:cNvPr id="5" name="Rectangle: Diagonal Corners Snipped 4">
            <a:extLst>
              <a:ext uri="{FF2B5EF4-FFF2-40B4-BE49-F238E27FC236}">
                <a16:creationId xmlns:a16="http://schemas.microsoft.com/office/drawing/2014/main" id="{C70E005D-9312-EE19-0B93-C27514BFA83F}"/>
              </a:ext>
            </a:extLst>
          </p:cNvPr>
          <p:cNvSpPr/>
          <p:nvPr/>
        </p:nvSpPr>
        <p:spPr>
          <a:xfrm>
            <a:off x="5654500" y="2824830"/>
            <a:ext cx="883000" cy="768762"/>
          </a:xfrm>
          <a:prstGeom prst="snip2DiagRect">
            <a:avLst/>
          </a:prstGeom>
          <a:solidFill>
            <a:schemeClr val="tx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noProof="1"/>
              <a:t>2</a:t>
            </a:r>
          </a:p>
        </p:txBody>
      </p:sp>
    </p:spTree>
    <p:extLst>
      <p:ext uri="{BB962C8B-B14F-4D97-AF65-F5344CB8AC3E}">
        <p14:creationId xmlns:p14="http://schemas.microsoft.com/office/powerpoint/2010/main" val="2619041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E161F-4F00-2FB7-ABB0-1E72B679B34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C785455-3B07-D21E-2D66-7D7302F4B195}"/>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A807A3F-91F7-D7C5-A5FD-4617EEC4E70F}"/>
              </a:ext>
            </a:extLst>
          </p:cNvPr>
          <p:cNvSpPr txBox="1"/>
          <p:nvPr/>
        </p:nvSpPr>
        <p:spPr>
          <a:xfrm>
            <a:off x="658368" y="336542"/>
            <a:ext cx="10698480" cy="461665"/>
          </a:xfrm>
          <a:prstGeom prst="rect">
            <a:avLst/>
          </a:prstGeom>
          <a:noFill/>
        </p:spPr>
        <p:txBody>
          <a:bodyPr wrap="square">
            <a:spAutoFit/>
          </a:bodyPr>
          <a:lstStyle/>
          <a:p>
            <a:r>
              <a:rPr lang="en-US" sz="2400" b="1" noProof="1"/>
              <a:t>ARCHITECTURE DU SYSTÈME (THE ML4T PIPELINE)</a:t>
            </a:r>
          </a:p>
        </p:txBody>
      </p:sp>
      <p:sp>
        <p:nvSpPr>
          <p:cNvPr id="2" name="TextBox 1">
            <a:extLst>
              <a:ext uri="{FF2B5EF4-FFF2-40B4-BE49-F238E27FC236}">
                <a16:creationId xmlns:a16="http://schemas.microsoft.com/office/drawing/2014/main" id="{7CDA8ACA-3719-853D-A90C-4F35BE8E918B}"/>
              </a:ext>
            </a:extLst>
          </p:cNvPr>
          <p:cNvSpPr txBox="1"/>
          <p:nvPr/>
        </p:nvSpPr>
        <p:spPr>
          <a:xfrm>
            <a:off x="658368" y="1106424"/>
            <a:ext cx="10698480" cy="646331"/>
          </a:xfrm>
          <a:prstGeom prst="rect">
            <a:avLst/>
          </a:prstGeom>
          <a:noFill/>
        </p:spPr>
        <p:txBody>
          <a:bodyPr wrap="square" rtlCol="0">
            <a:spAutoFit/>
          </a:bodyPr>
          <a:lstStyle/>
          <a:p>
            <a:pPr algn="just"/>
            <a:r>
              <a:rPr lang="en-US" noProof="1"/>
              <a:t>Pour transformer des données brutes en décisions de trading, nous allons structurer le projet en </a:t>
            </a:r>
            <a:r>
              <a:rPr lang="en-US" b="1" noProof="1"/>
              <a:t>quatre couches majeures</a:t>
            </a:r>
            <a:r>
              <a:rPr lang="en-US" noProof="1"/>
              <a:t>.</a:t>
            </a:r>
          </a:p>
        </p:txBody>
      </p:sp>
      <p:sp>
        <p:nvSpPr>
          <p:cNvPr id="4" name="TextBox 3">
            <a:extLst>
              <a:ext uri="{FF2B5EF4-FFF2-40B4-BE49-F238E27FC236}">
                <a16:creationId xmlns:a16="http://schemas.microsoft.com/office/drawing/2014/main" id="{BF6069FA-2EE0-9256-5951-481947149912}"/>
              </a:ext>
            </a:extLst>
          </p:cNvPr>
          <p:cNvSpPr txBox="1"/>
          <p:nvPr/>
        </p:nvSpPr>
        <p:spPr>
          <a:xfrm>
            <a:off x="658368" y="1787544"/>
            <a:ext cx="10698480" cy="369332"/>
          </a:xfrm>
          <a:prstGeom prst="rect">
            <a:avLst/>
          </a:prstGeom>
          <a:noFill/>
        </p:spPr>
        <p:txBody>
          <a:bodyPr wrap="square" rtlCol="0">
            <a:spAutoFit/>
          </a:bodyPr>
          <a:lstStyle/>
          <a:p>
            <a:r>
              <a:rPr lang="en-US" b="1" noProof="1"/>
              <a:t>1. La Couche de Données (Data Layer)</a:t>
            </a:r>
          </a:p>
        </p:txBody>
      </p:sp>
      <p:sp>
        <p:nvSpPr>
          <p:cNvPr id="5" name="TextBox 4">
            <a:extLst>
              <a:ext uri="{FF2B5EF4-FFF2-40B4-BE49-F238E27FC236}">
                <a16:creationId xmlns:a16="http://schemas.microsoft.com/office/drawing/2014/main" id="{4F0CCCD4-559F-556D-7026-7CE17F33D390}"/>
              </a:ext>
            </a:extLst>
          </p:cNvPr>
          <p:cNvSpPr txBox="1"/>
          <p:nvPr/>
        </p:nvSpPr>
        <p:spPr>
          <a:xfrm>
            <a:off x="658368" y="2191665"/>
            <a:ext cx="10698480" cy="369332"/>
          </a:xfrm>
          <a:prstGeom prst="rect">
            <a:avLst/>
          </a:prstGeom>
          <a:noFill/>
        </p:spPr>
        <p:txBody>
          <a:bodyPr wrap="square" rtlCol="0">
            <a:spAutoFit/>
          </a:bodyPr>
          <a:lstStyle/>
          <a:p>
            <a:pPr algn="just"/>
            <a:r>
              <a:rPr lang="en-US" noProof="1"/>
              <a:t>C'est le point de départ. En trading, la vitesse et l'organisation des données sont cruciales.</a:t>
            </a:r>
          </a:p>
        </p:txBody>
      </p:sp>
      <p:sp>
        <p:nvSpPr>
          <p:cNvPr id="6" name="Rectangle: Diagonal Corners Rounded 5">
            <a:extLst>
              <a:ext uri="{FF2B5EF4-FFF2-40B4-BE49-F238E27FC236}">
                <a16:creationId xmlns:a16="http://schemas.microsoft.com/office/drawing/2014/main" id="{8D9946C3-D7FB-4A80-EB0D-E05C11C78BF0}"/>
              </a:ext>
            </a:extLst>
          </p:cNvPr>
          <p:cNvSpPr/>
          <p:nvPr/>
        </p:nvSpPr>
        <p:spPr>
          <a:xfrm>
            <a:off x="658368" y="2843784"/>
            <a:ext cx="2532888"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Ingestion</a:t>
            </a:r>
            <a:endParaRPr lang="en-US" noProof="1"/>
          </a:p>
        </p:txBody>
      </p:sp>
      <p:sp>
        <p:nvSpPr>
          <p:cNvPr id="8" name="Rectangle: Diagonal Corners Rounded 7">
            <a:extLst>
              <a:ext uri="{FF2B5EF4-FFF2-40B4-BE49-F238E27FC236}">
                <a16:creationId xmlns:a16="http://schemas.microsoft.com/office/drawing/2014/main" id="{922CEB8A-9443-89F2-77BC-33A3B7CBD685}"/>
              </a:ext>
            </a:extLst>
          </p:cNvPr>
          <p:cNvSpPr/>
          <p:nvPr/>
        </p:nvSpPr>
        <p:spPr>
          <a:xfrm>
            <a:off x="4741164" y="2843784"/>
            <a:ext cx="2532888"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Stockage</a:t>
            </a:r>
            <a:endParaRPr lang="en-US" noProof="1"/>
          </a:p>
        </p:txBody>
      </p:sp>
      <p:sp>
        <p:nvSpPr>
          <p:cNvPr id="9" name="Rectangle: Diagonal Corners Rounded 8">
            <a:extLst>
              <a:ext uri="{FF2B5EF4-FFF2-40B4-BE49-F238E27FC236}">
                <a16:creationId xmlns:a16="http://schemas.microsoft.com/office/drawing/2014/main" id="{86BC22F0-727F-4FB3-A5C5-34BA3129AC38}"/>
              </a:ext>
            </a:extLst>
          </p:cNvPr>
          <p:cNvSpPr/>
          <p:nvPr/>
        </p:nvSpPr>
        <p:spPr>
          <a:xfrm>
            <a:off x="8823960" y="2843784"/>
            <a:ext cx="2532888" cy="36933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Nettoyage</a:t>
            </a:r>
            <a:endParaRPr lang="en-US" noProof="1"/>
          </a:p>
        </p:txBody>
      </p:sp>
      <p:sp>
        <p:nvSpPr>
          <p:cNvPr id="10" name="Rectangle 9">
            <a:extLst>
              <a:ext uri="{FF2B5EF4-FFF2-40B4-BE49-F238E27FC236}">
                <a16:creationId xmlns:a16="http://schemas.microsoft.com/office/drawing/2014/main" id="{B65C1E6D-687C-7EA2-408A-55AC8DE5F42C}"/>
              </a:ext>
            </a:extLst>
          </p:cNvPr>
          <p:cNvSpPr/>
          <p:nvPr/>
        </p:nvSpPr>
        <p:spPr>
          <a:xfrm>
            <a:off x="658368" y="3422751"/>
            <a:ext cx="2532888" cy="2752344"/>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1">
                <a:solidFill>
                  <a:schemeClr val="tx1"/>
                </a:solidFill>
              </a:rPr>
              <a:t>Collecte de données via des API (YFinance, Alpha Vantage, ou Quandl).</a:t>
            </a:r>
          </a:p>
        </p:txBody>
      </p:sp>
      <p:sp>
        <p:nvSpPr>
          <p:cNvPr id="11" name="Rectangle 10">
            <a:extLst>
              <a:ext uri="{FF2B5EF4-FFF2-40B4-BE49-F238E27FC236}">
                <a16:creationId xmlns:a16="http://schemas.microsoft.com/office/drawing/2014/main" id="{642B64BA-A5B9-6BA2-0799-4EC2B134B5B1}"/>
              </a:ext>
            </a:extLst>
          </p:cNvPr>
          <p:cNvSpPr/>
          <p:nvPr/>
        </p:nvSpPr>
        <p:spPr>
          <a:xfrm>
            <a:off x="4741164" y="3422751"/>
            <a:ext cx="2532888" cy="2752344"/>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1">
                <a:solidFill>
                  <a:schemeClr val="tx1"/>
                </a:solidFill>
              </a:rPr>
              <a:t>Utilisation du format </a:t>
            </a:r>
            <a:r>
              <a:rPr lang="en-US" sz="1600" b="1" noProof="1">
                <a:solidFill>
                  <a:schemeClr val="tx1"/>
                </a:solidFill>
              </a:rPr>
              <a:t>HDF5</a:t>
            </a:r>
            <a:r>
              <a:rPr lang="en-US" sz="1600" noProof="1">
                <a:solidFill>
                  <a:schemeClr val="tx1"/>
                </a:solidFill>
              </a:rPr>
              <a:t> ou </a:t>
            </a:r>
            <a:r>
              <a:rPr lang="en-US" sz="1600" b="1" noProof="1">
                <a:solidFill>
                  <a:schemeClr val="tx1"/>
                </a:solidFill>
              </a:rPr>
              <a:t>Parquet</a:t>
            </a:r>
            <a:r>
              <a:rPr lang="en-US" sz="1600" noProof="1">
                <a:solidFill>
                  <a:schemeClr val="tx1"/>
                </a:solidFill>
              </a:rPr>
              <a:t>. Jansen recommande ces formats car ils sont extrêmement rapides pour lire de grandes séries temporelles (beaucoup plus vite que le CSV).</a:t>
            </a:r>
          </a:p>
        </p:txBody>
      </p:sp>
      <p:sp>
        <p:nvSpPr>
          <p:cNvPr id="12" name="Rectangle 11">
            <a:extLst>
              <a:ext uri="{FF2B5EF4-FFF2-40B4-BE49-F238E27FC236}">
                <a16:creationId xmlns:a16="http://schemas.microsoft.com/office/drawing/2014/main" id="{5CDFF503-83B9-3110-EB6D-296F20AC5051}"/>
              </a:ext>
            </a:extLst>
          </p:cNvPr>
          <p:cNvSpPr/>
          <p:nvPr/>
        </p:nvSpPr>
        <p:spPr>
          <a:xfrm>
            <a:off x="8823960" y="3422751"/>
            <a:ext cx="2532888" cy="2752344"/>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1">
                <a:solidFill>
                  <a:schemeClr val="tx1"/>
                </a:solidFill>
              </a:rPr>
              <a:t>Gestion des données manquantes, ajustement des prix pour les fractionnements d'actions (splits) et les dividendes.</a:t>
            </a:r>
          </a:p>
        </p:txBody>
      </p:sp>
      <p:sp>
        <p:nvSpPr>
          <p:cNvPr id="13" name="Arrow: Right 12">
            <a:extLst>
              <a:ext uri="{FF2B5EF4-FFF2-40B4-BE49-F238E27FC236}">
                <a16:creationId xmlns:a16="http://schemas.microsoft.com/office/drawing/2014/main" id="{B84BBE70-FFE7-9C81-9226-B88B2F186752}"/>
              </a:ext>
            </a:extLst>
          </p:cNvPr>
          <p:cNvSpPr/>
          <p:nvPr/>
        </p:nvSpPr>
        <p:spPr>
          <a:xfrm>
            <a:off x="3611104" y="4347743"/>
            <a:ext cx="710212" cy="9023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4" name="Arrow: Right 13">
            <a:extLst>
              <a:ext uri="{FF2B5EF4-FFF2-40B4-BE49-F238E27FC236}">
                <a16:creationId xmlns:a16="http://schemas.microsoft.com/office/drawing/2014/main" id="{60A659D9-2C32-A993-AB14-67EEFD4C135A}"/>
              </a:ext>
            </a:extLst>
          </p:cNvPr>
          <p:cNvSpPr/>
          <p:nvPr/>
        </p:nvSpPr>
        <p:spPr>
          <a:xfrm>
            <a:off x="7693900" y="4347743"/>
            <a:ext cx="710212" cy="9023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381816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93B97-DD53-7A7E-5CDA-3CA15088CC34}"/>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E9D4B63-4343-AFEA-D0CF-41397C23BEB1}"/>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4C49307-710D-4905-4CA4-2518518A82A1}"/>
              </a:ext>
            </a:extLst>
          </p:cNvPr>
          <p:cNvSpPr txBox="1"/>
          <p:nvPr/>
        </p:nvSpPr>
        <p:spPr>
          <a:xfrm>
            <a:off x="658368" y="336542"/>
            <a:ext cx="10698480" cy="461665"/>
          </a:xfrm>
          <a:prstGeom prst="rect">
            <a:avLst/>
          </a:prstGeom>
          <a:noFill/>
        </p:spPr>
        <p:txBody>
          <a:bodyPr wrap="square">
            <a:spAutoFit/>
          </a:bodyPr>
          <a:lstStyle/>
          <a:p>
            <a:r>
              <a:rPr lang="en-US" sz="2400" b="1" noProof="1"/>
              <a:t>ARCHITECTURE DU SYSTÈME (THE ML4T PIPELINE)</a:t>
            </a:r>
          </a:p>
        </p:txBody>
      </p:sp>
      <p:sp>
        <p:nvSpPr>
          <p:cNvPr id="4" name="TextBox 3">
            <a:extLst>
              <a:ext uri="{FF2B5EF4-FFF2-40B4-BE49-F238E27FC236}">
                <a16:creationId xmlns:a16="http://schemas.microsoft.com/office/drawing/2014/main" id="{E8C64E59-4BBB-1B4A-A31E-2AE57B7B3245}"/>
              </a:ext>
            </a:extLst>
          </p:cNvPr>
          <p:cNvSpPr txBox="1"/>
          <p:nvPr/>
        </p:nvSpPr>
        <p:spPr>
          <a:xfrm>
            <a:off x="658368" y="1046880"/>
            <a:ext cx="10698480" cy="369332"/>
          </a:xfrm>
          <a:prstGeom prst="rect">
            <a:avLst/>
          </a:prstGeom>
          <a:noFill/>
        </p:spPr>
        <p:txBody>
          <a:bodyPr wrap="square" rtlCol="0">
            <a:spAutoFit/>
          </a:bodyPr>
          <a:lstStyle/>
          <a:p>
            <a:r>
              <a:rPr lang="en-US" b="1" noProof="1"/>
              <a:t>2. Le Moteur de Recherche de Facteurs (Alpha Factory)</a:t>
            </a:r>
          </a:p>
        </p:txBody>
      </p:sp>
      <p:sp>
        <p:nvSpPr>
          <p:cNvPr id="5" name="TextBox 4">
            <a:extLst>
              <a:ext uri="{FF2B5EF4-FFF2-40B4-BE49-F238E27FC236}">
                <a16:creationId xmlns:a16="http://schemas.microsoft.com/office/drawing/2014/main" id="{1CB7DC88-0D40-5081-1F29-50886B7E0C3B}"/>
              </a:ext>
            </a:extLst>
          </p:cNvPr>
          <p:cNvSpPr txBox="1"/>
          <p:nvPr/>
        </p:nvSpPr>
        <p:spPr>
          <a:xfrm>
            <a:off x="658368" y="1451001"/>
            <a:ext cx="10698480" cy="646331"/>
          </a:xfrm>
          <a:prstGeom prst="rect">
            <a:avLst/>
          </a:prstGeom>
          <a:noFill/>
        </p:spPr>
        <p:txBody>
          <a:bodyPr wrap="square" rtlCol="0">
            <a:spAutoFit/>
          </a:bodyPr>
          <a:lstStyle/>
          <a:p>
            <a:r>
              <a:rPr lang="en-US" noProof="1"/>
              <a:t>C'est ici que l'intelligence métier intervient. Un "Facteur Alpha" est un signal qui tente de prédire le mouvement futur des prix.</a:t>
            </a:r>
          </a:p>
        </p:txBody>
      </p:sp>
      <p:sp>
        <p:nvSpPr>
          <p:cNvPr id="6" name="Rectangle: Diagonal Corners Rounded 5">
            <a:extLst>
              <a:ext uri="{FF2B5EF4-FFF2-40B4-BE49-F238E27FC236}">
                <a16:creationId xmlns:a16="http://schemas.microsoft.com/office/drawing/2014/main" id="{9583C990-74C7-F579-FCE7-47FC15E91C25}"/>
              </a:ext>
            </a:extLst>
          </p:cNvPr>
          <p:cNvSpPr/>
          <p:nvPr/>
        </p:nvSpPr>
        <p:spPr>
          <a:xfrm>
            <a:off x="658368" y="2346653"/>
            <a:ext cx="2532888" cy="681120"/>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Feature Engineering :</a:t>
            </a:r>
            <a:r>
              <a:rPr lang="en-US" noProof="1"/>
              <a:t> </a:t>
            </a:r>
          </a:p>
        </p:txBody>
      </p:sp>
      <p:sp>
        <p:nvSpPr>
          <p:cNvPr id="8" name="Rectangle: Diagonal Corners Rounded 7">
            <a:extLst>
              <a:ext uri="{FF2B5EF4-FFF2-40B4-BE49-F238E27FC236}">
                <a16:creationId xmlns:a16="http://schemas.microsoft.com/office/drawing/2014/main" id="{E9D5711D-CDC7-CA60-A460-33097C87FC0B}"/>
              </a:ext>
            </a:extLst>
          </p:cNvPr>
          <p:cNvSpPr/>
          <p:nvPr/>
        </p:nvSpPr>
        <p:spPr>
          <a:xfrm>
            <a:off x="658368" y="3334203"/>
            <a:ext cx="2532888" cy="68111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Analyse de Facteurs :</a:t>
            </a:r>
            <a:endParaRPr lang="en-US" noProof="1"/>
          </a:p>
        </p:txBody>
      </p:sp>
      <p:sp>
        <p:nvSpPr>
          <p:cNvPr id="10" name="Rectangle 9">
            <a:extLst>
              <a:ext uri="{FF2B5EF4-FFF2-40B4-BE49-F238E27FC236}">
                <a16:creationId xmlns:a16="http://schemas.microsoft.com/office/drawing/2014/main" id="{95396497-55E3-BC15-EE68-C6836F88A6E1}"/>
              </a:ext>
            </a:extLst>
          </p:cNvPr>
          <p:cNvSpPr/>
          <p:nvPr/>
        </p:nvSpPr>
        <p:spPr>
          <a:xfrm>
            <a:off x="3474720" y="2346652"/>
            <a:ext cx="7882128" cy="681119"/>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noProof="1">
                <a:solidFill>
                  <a:schemeClr val="tx1"/>
                </a:solidFill>
              </a:rPr>
              <a:t>Création d'indicateurs techniques (RSI, MACD, Moyennes Mobiles) et de facteurs financiers (Momentum, Volatilité).</a:t>
            </a:r>
            <a:endParaRPr lang="en-US" sz="1400" noProof="1">
              <a:solidFill>
                <a:schemeClr val="tx1"/>
              </a:solidFill>
            </a:endParaRPr>
          </a:p>
        </p:txBody>
      </p:sp>
      <p:sp>
        <p:nvSpPr>
          <p:cNvPr id="11" name="Rectangle 10">
            <a:extLst>
              <a:ext uri="{FF2B5EF4-FFF2-40B4-BE49-F238E27FC236}">
                <a16:creationId xmlns:a16="http://schemas.microsoft.com/office/drawing/2014/main" id="{BA469E2D-D8F6-8649-82AC-486967337053}"/>
              </a:ext>
            </a:extLst>
          </p:cNvPr>
          <p:cNvSpPr/>
          <p:nvPr/>
        </p:nvSpPr>
        <p:spPr>
          <a:xfrm>
            <a:off x="3474720" y="3334203"/>
            <a:ext cx="7882128" cy="681119"/>
          </a:xfrm>
          <a:prstGeom prst="rect">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noProof="1">
                <a:solidFill>
                  <a:schemeClr val="tx1"/>
                </a:solidFill>
              </a:rPr>
              <a:t>Utilisation de l'outil </a:t>
            </a:r>
            <a:r>
              <a:rPr lang="en-US" sz="1600" b="1" noProof="1">
                <a:solidFill>
                  <a:schemeClr val="tx1"/>
                </a:solidFill>
              </a:rPr>
              <a:t>Alphalens</a:t>
            </a:r>
            <a:r>
              <a:rPr lang="en-US" sz="1600" noProof="1">
                <a:solidFill>
                  <a:schemeClr val="tx1"/>
                </a:solidFill>
              </a:rPr>
              <a:t> (un outil clé du workflow Jansen) pour évaluer si nos indicateurs ont réellement un pouvoir prédictif avant même d'entraîner un modèle.</a:t>
            </a:r>
            <a:endParaRPr lang="en-US" sz="1400" noProof="1">
              <a:solidFill>
                <a:schemeClr val="tx1"/>
              </a:solidFill>
            </a:endParaRPr>
          </a:p>
        </p:txBody>
      </p:sp>
    </p:spTree>
    <p:extLst>
      <p:ext uri="{BB962C8B-B14F-4D97-AF65-F5344CB8AC3E}">
        <p14:creationId xmlns:p14="http://schemas.microsoft.com/office/powerpoint/2010/main" val="18983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EF922-59E3-2C10-1A93-553BBC6ECCD8}"/>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73348AD-6D25-3C5E-FFE8-A4B9C4C97EBE}"/>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D31AF41-8634-F77B-0256-F818C9EEE615}"/>
              </a:ext>
            </a:extLst>
          </p:cNvPr>
          <p:cNvSpPr txBox="1"/>
          <p:nvPr/>
        </p:nvSpPr>
        <p:spPr>
          <a:xfrm>
            <a:off x="658368" y="336542"/>
            <a:ext cx="10698480" cy="461665"/>
          </a:xfrm>
          <a:prstGeom prst="rect">
            <a:avLst/>
          </a:prstGeom>
          <a:noFill/>
        </p:spPr>
        <p:txBody>
          <a:bodyPr wrap="square">
            <a:spAutoFit/>
          </a:bodyPr>
          <a:lstStyle/>
          <a:p>
            <a:r>
              <a:rPr lang="en-US" sz="2400" b="1" noProof="1"/>
              <a:t>ARCHITECTURE DU SYSTÈME (THE ML4T PIPELINE)</a:t>
            </a:r>
          </a:p>
        </p:txBody>
      </p:sp>
      <p:sp>
        <p:nvSpPr>
          <p:cNvPr id="4" name="TextBox 3">
            <a:extLst>
              <a:ext uri="{FF2B5EF4-FFF2-40B4-BE49-F238E27FC236}">
                <a16:creationId xmlns:a16="http://schemas.microsoft.com/office/drawing/2014/main" id="{9AF1E57A-F05C-DE95-567A-671D18BF328D}"/>
              </a:ext>
            </a:extLst>
          </p:cNvPr>
          <p:cNvSpPr txBox="1"/>
          <p:nvPr/>
        </p:nvSpPr>
        <p:spPr>
          <a:xfrm>
            <a:off x="658368" y="1037736"/>
            <a:ext cx="10698480" cy="369332"/>
          </a:xfrm>
          <a:prstGeom prst="rect">
            <a:avLst/>
          </a:prstGeom>
          <a:noFill/>
        </p:spPr>
        <p:txBody>
          <a:bodyPr wrap="square" rtlCol="0">
            <a:spAutoFit/>
          </a:bodyPr>
          <a:lstStyle/>
          <a:p>
            <a:r>
              <a:rPr lang="en-US" b="1" noProof="1"/>
              <a:t>3. La Couche d'Intelligence &amp; Backtesting (The Strategy Engine)</a:t>
            </a:r>
          </a:p>
        </p:txBody>
      </p:sp>
      <p:sp>
        <p:nvSpPr>
          <p:cNvPr id="5" name="TextBox 4">
            <a:extLst>
              <a:ext uri="{FF2B5EF4-FFF2-40B4-BE49-F238E27FC236}">
                <a16:creationId xmlns:a16="http://schemas.microsoft.com/office/drawing/2014/main" id="{DC985CC2-78D2-B1CE-262C-D8D4E9D2B504}"/>
              </a:ext>
            </a:extLst>
          </p:cNvPr>
          <p:cNvSpPr txBox="1"/>
          <p:nvPr/>
        </p:nvSpPr>
        <p:spPr>
          <a:xfrm>
            <a:off x="658368" y="1441857"/>
            <a:ext cx="10698480" cy="369332"/>
          </a:xfrm>
          <a:prstGeom prst="rect">
            <a:avLst/>
          </a:prstGeom>
          <a:noFill/>
        </p:spPr>
        <p:txBody>
          <a:bodyPr wrap="square" rtlCol="0">
            <a:spAutoFit/>
          </a:bodyPr>
          <a:lstStyle/>
          <a:p>
            <a:r>
              <a:rPr lang="en-US" noProof="1"/>
              <a:t>C'est le cœur algorithmique où les modèles ML transforment les facteurs en signaux de trading.</a:t>
            </a:r>
          </a:p>
        </p:txBody>
      </p:sp>
      <p:sp>
        <p:nvSpPr>
          <p:cNvPr id="9" name="TextBox 8">
            <a:extLst>
              <a:ext uri="{FF2B5EF4-FFF2-40B4-BE49-F238E27FC236}">
                <a16:creationId xmlns:a16="http://schemas.microsoft.com/office/drawing/2014/main" id="{975E74BF-CC11-5DF9-1BC2-1B5D09DF6496}"/>
              </a:ext>
            </a:extLst>
          </p:cNvPr>
          <p:cNvSpPr txBox="1"/>
          <p:nvPr/>
        </p:nvSpPr>
        <p:spPr>
          <a:xfrm>
            <a:off x="658368" y="1845978"/>
            <a:ext cx="10698480" cy="369332"/>
          </a:xfrm>
          <a:prstGeom prst="rect">
            <a:avLst/>
          </a:prstGeom>
          <a:noFill/>
        </p:spPr>
        <p:txBody>
          <a:bodyPr wrap="square" rtlCol="0">
            <a:spAutoFit/>
          </a:bodyPr>
          <a:lstStyle/>
          <a:p>
            <a:r>
              <a:rPr lang="en-US" b="1" noProof="1"/>
              <a:t>Le Modèle ML :</a:t>
            </a:r>
            <a:endParaRPr lang="en-US" noProof="1"/>
          </a:p>
        </p:txBody>
      </p:sp>
      <p:sp>
        <p:nvSpPr>
          <p:cNvPr id="12" name="TextBox 11">
            <a:extLst>
              <a:ext uri="{FF2B5EF4-FFF2-40B4-BE49-F238E27FC236}">
                <a16:creationId xmlns:a16="http://schemas.microsoft.com/office/drawing/2014/main" id="{3F7E9E52-F3EB-3383-96F5-2C2E79C86B1F}"/>
              </a:ext>
            </a:extLst>
          </p:cNvPr>
          <p:cNvSpPr txBox="1"/>
          <p:nvPr/>
        </p:nvSpPr>
        <p:spPr>
          <a:xfrm>
            <a:off x="658368" y="2250099"/>
            <a:ext cx="10698480" cy="646331"/>
          </a:xfrm>
          <a:prstGeom prst="rect">
            <a:avLst/>
          </a:prstGeom>
          <a:noFill/>
        </p:spPr>
        <p:txBody>
          <a:bodyPr wrap="square" rtlCol="0">
            <a:spAutoFit/>
          </a:bodyPr>
          <a:lstStyle/>
          <a:p>
            <a:r>
              <a:rPr lang="en-US" noProof="1"/>
              <a:t>Entraînement de modèles (Random Forest, LightGBM, ou LSTM) avec une validation croisée spécifique aux séries temporelles (</a:t>
            </a:r>
            <a:r>
              <a:rPr lang="en-US" b="1" noProof="1"/>
              <a:t>Time-Series Split</a:t>
            </a:r>
            <a:r>
              <a:rPr lang="en-US" noProof="1"/>
              <a:t>).</a:t>
            </a:r>
          </a:p>
        </p:txBody>
      </p:sp>
      <p:sp>
        <p:nvSpPr>
          <p:cNvPr id="13" name="TextBox 12">
            <a:extLst>
              <a:ext uri="{FF2B5EF4-FFF2-40B4-BE49-F238E27FC236}">
                <a16:creationId xmlns:a16="http://schemas.microsoft.com/office/drawing/2014/main" id="{4DBC9F1E-D964-FBB3-B532-55C28CC43175}"/>
              </a:ext>
            </a:extLst>
          </p:cNvPr>
          <p:cNvSpPr txBox="1"/>
          <p:nvPr/>
        </p:nvSpPr>
        <p:spPr>
          <a:xfrm>
            <a:off x="658368" y="2931219"/>
            <a:ext cx="10698480" cy="369332"/>
          </a:xfrm>
          <a:prstGeom prst="rect">
            <a:avLst/>
          </a:prstGeom>
          <a:noFill/>
        </p:spPr>
        <p:txBody>
          <a:bodyPr wrap="square" rtlCol="0">
            <a:spAutoFit/>
          </a:bodyPr>
          <a:lstStyle/>
          <a:p>
            <a:r>
              <a:rPr lang="en-US" b="1" noProof="1"/>
              <a:t>Backtesting :</a:t>
            </a:r>
            <a:endParaRPr lang="en-US" noProof="1"/>
          </a:p>
        </p:txBody>
      </p:sp>
      <p:sp>
        <p:nvSpPr>
          <p:cNvPr id="14" name="TextBox 13">
            <a:extLst>
              <a:ext uri="{FF2B5EF4-FFF2-40B4-BE49-F238E27FC236}">
                <a16:creationId xmlns:a16="http://schemas.microsoft.com/office/drawing/2014/main" id="{CF39E7AD-A708-4FAC-B0FF-62591E4AC740}"/>
              </a:ext>
            </a:extLst>
          </p:cNvPr>
          <p:cNvSpPr txBox="1"/>
          <p:nvPr/>
        </p:nvSpPr>
        <p:spPr>
          <a:xfrm>
            <a:off x="658368" y="3335340"/>
            <a:ext cx="10698480" cy="646331"/>
          </a:xfrm>
          <a:prstGeom prst="rect">
            <a:avLst/>
          </a:prstGeom>
          <a:noFill/>
        </p:spPr>
        <p:txBody>
          <a:bodyPr wrap="square" rtlCol="0">
            <a:spAutoFit/>
          </a:bodyPr>
          <a:lstStyle/>
          <a:p>
            <a:r>
              <a:rPr lang="en-US" noProof="1"/>
              <a:t>Une fois que le modèle génère une prédiction (ex: "Acheter"), nous devons simuler cette stratégie sur le passé.</a:t>
            </a:r>
          </a:p>
        </p:txBody>
      </p:sp>
      <p:sp>
        <p:nvSpPr>
          <p:cNvPr id="15" name="TextBox 14">
            <a:extLst>
              <a:ext uri="{FF2B5EF4-FFF2-40B4-BE49-F238E27FC236}">
                <a16:creationId xmlns:a16="http://schemas.microsoft.com/office/drawing/2014/main" id="{5A6C1F58-8008-0FEE-F5DD-77314EB1EDFD}"/>
              </a:ext>
            </a:extLst>
          </p:cNvPr>
          <p:cNvSpPr txBox="1"/>
          <p:nvPr/>
        </p:nvSpPr>
        <p:spPr>
          <a:xfrm>
            <a:off x="859536" y="4016460"/>
            <a:ext cx="10497312" cy="646331"/>
          </a:xfrm>
          <a:prstGeom prst="rect">
            <a:avLst/>
          </a:prstGeom>
          <a:noFill/>
        </p:spPr>
        <p:txBody>
          <a:bodyPr wrap="square" rtlCol="0">
            <a:spAutoFit/>
          </a:bodyPr>
          <a:lstStyle/>
          <a:p>
            <a:pPr marL="285750" indent="-285750">
              <a:buFont typeface="Arial" panose="020B0604020202020204" pitchFamily="34" charset="0"/>
              <a:buChar char="•"/>
            </a:pPr>
            <a:r>
              <a:rPr lang="en-US" i="1" noProof="1"/>
              <a:t>Outils :</a:t>
            </a:r>
            <a:r>
              <a:rPr lang="en-US" noProof="1"/>
              <a:t> </a:t>
            </a:r>
            <a:r>
              <a:rPr lang="en-US" b="1" noProof="1"/>
              <a:t>VectorBT</a:t>
            </a:r>
            <a:r>
              <a:rPr lang="en-US" noProof="1"/>
              <a:t> ou </a:t>
            </a:r>
            <a:r>
              <a:rPr lang="en-US" b="1" noProof="1"/>
              <a:t>Zipline</a:t>
            </a:r>
            <a:r>
              <a:rPr lang="en-US" noProof="1"/>
              <a:t>.</a:t>
            </a:r>
          </a:p>
          <a:p>
            <a:pPr marL="285750" indent="-285750">
              <a:buFont typeface="Arial" panose="020B0604020202020204" pitchFamily="34" charset="0"/>
              <a:buChar char="•"/>
            </a:pPr>
            <a:r>
              <a:rPr lang="en-US" i="1" noProof="1"/>
              <a:t>Métriques :</a:t>
            </a:r>
            <a:r>
              <a:rPr lang="en-US" noProof="1"/>
              <a:t> Analyse des performances avec </a:t>
            </a:r>
            <a:r>
              <a:rPr lang="en-US" b="1" noProof="1"/>
              <a:t>PyFolio</a:t>
            </a:r>
            <a:r>
              <a:rPr lang="en-US" noProof="1"/>
              <a:t> (Ratio de Sharpe, Drawdown, etc.).</a:t>
            </a:r>
          </a:p>
        </p:txBody>
      </p:sp>
    </p:spTree>
    <p:extLst>
      <p:ext uri="{BB962C8B-B14F-4D97-AF65-F5344CB8AC3E}">
        <p14:creationId xmlns:p14="http://schemas.microsoft.com/office/powerpoint/2010/main" val="1043022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AA61F-F0FD-53EF-890F-F434E4D8E092}"/>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B992B68-08B6-8E98-F999-992F3492880C}"/>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A6F44E6-6800-EC3E-6ED2-58067734CAE3}"/>
              </a:ext>
            </a:extLst>
          </p:cNvPr>
          <p:cNvSpPr txBox="1"/>
          <p:nvPr/>
        </p:nvSpPr>
        <p:spPr>
          <a:xfrm>
            <a:off x="658368" y="336542"/>
            <a:ext cx="10698480" cy="461665"/>
          </a:xfrm>
          <a:prstGeom prst="rect">
            <a:avLst/>
          </a:prstGeom>
          <a:noFill/>
        </p:spPr>
        <p:txBody>
          <a:bodyPr wrap="square">
            <a:spAutoFit/>
          </a:bodyPr>
          <a:lstStyle/>
          <a:p>
            <a:r>
              <a:rPr lang="en-US" sz="2400" b="1" noProof="1"/>
              <a:t>ARCHITECTURE DU SYSTÈME (THE ML4T PIPELINE)</a:t>
            </a:r>
          </a:p>
        </p:txBody>
      </p:sp>
      <p:sp>
        <p:nvSpPr>
          <p:cNvPr id="4" name="TextBox 3">
            <a:extLst>
              <a:ext uri="{FF2B5EF4-FFF2-40B4-BE49-F238E27FC236}">
                <a16:creationId xmlns:a16="http://schemas.microsoft.com/office/drawing/2014/main" id="{37EFC038-17DB-4BEE-7E59-8CB234DCA445}"/>
              </a:ext>
            </a:extLst>
          </p:cNvPr>
          <p:cNvSpPr txBox="1"/>
          <p:nvPr/>
        </p:nvSpPr>
        <p:spPr>
          <a:xfrm>
            <a:off x="658368" y="1020213"/>
            <a:ext cx="10698480" cy="369332"/>
          </a:xfrm>
          <a:prstGeom prst="rect">
            <a:avLst/>
          </a:prstGeom>
          <a:noFill/>
        </p:spPr>
        <p:txBody>
          <a:bodyPr wrap="square" rtlCol="0">
            <a:spAutoFit/>
          </a:bodyPr>
          <a:lstStyle/>
          <a:p>
            <a:r>
              <a:rPr lang="en-US" b="1" noProof="1"/>
              <a:t>4. La Couche de Présentation (Web Interface &amp; Deployment)</a:t>
            </a:r>
          </a:p>
        </p:txBody>
      </p:sp>
      <p:sp>
        <p:nvSpPr>
          <p:cNvPr id="5" name="TextBox 4">
            <a:extLst>
              <a:ext uri="{FF2B5EF4-FFF2-40B4-BE49-F238E27FC236}">
                <a16:creationId xmlns:a16="http://schemas.microsoft.com/office/drawing/2014/main" id="{95F4C91B-DE4C-CB9E-9D90-38BFF57C51E3}"/>
              </a:ext>
            </a:extLst>
          </p:cNvPr>
          <p:cNvSpPr txBox="1"/>
          <p:nvPr/>
        </p:nvSpPr>
        <p:spPr>
          <a:xfrm>
            <a:off x="658368" y="1470819"/>
            <a:ext cx="10698480" cy="369332"/>
          </a:xfrm>
          <a:prstGeom prst="rect">
            <a:avLst/>
          </a:prstGeom>
          <a:noFill/>
        </p:spPr>
        <p:txBody>
          <a:bodyPr wrap="square" rtlCol="0">
            <a:spAutoFit/>
          </a:bodyPr>
          <a:lstStyle/>
          <a:p>
            <a:r>
              <a:rPr lang="en-US" noProof="1"/>
              <a:t>C'est la partie que vous ajoutez pour rendre le projet "produit-ready".</a:t>
            </a:r>
          </a:p>
        </p:txBody>
      </p:sp>
      <p:sp>
        <p:nvSpPr>
          <p:cNvPr id="9" name="TextBox 8">
            <a:extLst>
              <a:ext uri="{FF2B5EF4-FFF2-40B4-BE49-F238E27FC236}">
                <a16:creationId xmlns:a16="http://schemas.microsoft.com/office/drawing/2014/main" id="{CA57594E-A190-2EAA-3A9D-91D793F93FC4}"/>
              </a:ext>
            </a:extLst>
          </p:cNvPr>
          <p:cNvSpPr txBox="1"/>
          <p:nvPr/>
        </p:nvSpPr>
        <p:spPr>
          <a:xfrm>
            <a:off x="658368" y="1921425"/>
            <a:ext cx="10698480" cy="369332"/>
          </a:xfrm>
          <a:prstGeom prst="rect">
            <a:avLst/>
          </a:prstGeom>
          <a:noFill/>
        </p:spPr>
        <p:txBody>
          <a:bodyPr wrap="square" rtlCol="0">
            <a:spAutoFit/>
          </a:bodyPr>
          <a:lstStyle/>
          <a:p>
            <a:r>
              <a:rPr lang="en-US" b="1" noProof="1"/>
              <a:t>Backend (FastAPI) :</a:t>
            </a:r>
            <a:endParaRPr lang="en-US" noProof="1"/>
          </a:p>
        </p:txBody>
      </p:sp>
      <p:sp>
        <p:nvSpPr>
          <p:cNvPr id="12" name="TextBox 11">
            <a:extLst>
              <a:ext uri="{FF2B5EF4-FFF2-40B4-BE49-F238E27FC236}">
                <a16:creationId xmlns:a16="http://schemas.microsoft.com/office/drawing/2014/main" id="{E68B7908-36A6-A18D-D7A6-49224CC45A51}"/>
              </a:ext>
            </a:extLst>
          </p:cNvPr>
          <p:cNvSpPr txBox="1"/>
          <p:nvPr/>
        </p:nvSpPr>
        <p:spPr>
          <a:xfrm>
            <a:off x="658368" y="2372031"/>
            <a:ext cx="10698480" cy="369332"/>
          </a:xfrm>
          <a:prstGeom prst="rect">
            <a:avLst/>
          </a:prstGeom>
          <a:noFill/>
        </p:spPr>
        <p:txBody>
          <a:bodyPr wrap="square" rtlCol="0">
            <a:spAutoFit/>
          </a:bodyPr>
          <a:lstStyle/>
          <a:p>
            <a:r>
              <a:rPr lang="en-US" noProof="1"/>
              <a:t>Un serveur qui charge le modèle entraîné et récupère les données en temps réel.</a:t>
            </a:r>
          </a:p>
        </p:txBody>
      </p:sp>
      <p:sp>
        <p:nvSpPr>
          <p:cNvPr id="13" name="TextBox 12">
            <a:extLst>
              <a:ext uri="{FF2B5EF4-FFF2-40B4-BE49-F238E27FC236}">
                <a16:creationId xmlns:a16="http://schemas.microsoft.com/office/drawing/2014/main" id="{A587825D-9A50-7874-A709-161EEF44A12E}"/>
              </a:ext>
            </a:extLst>
          </p:cNvPr>
          <p:cNvSpPr txBox="1"/>
          <p:nvPr/>
        </p:nvSpPr>
        <p:spPr>
          <a:xfrm>
            <a:off x="658368" y="2822637"/>
            <a:ext cx="10698480" cy="369332"/>
          </a:xfrm>
          <a:prstGeom prst="rect">
            <a:avLst/>
          </a:prstGeom>
          <a:noFill/>
        </p:spPr>
        <p:txBody>
          <a:bodyPr wrap="square" rtlCol="0">
            <a:spAutoFit/>
          </a:bodyPr>
          <a:lstStyle/>
          <a:p>
            <a:r>
              <a:rPr lang="en-US" b="1" noProof="1"/>
              <a:t>Frontend (Streamlit) :</a:t>
            </a:r>
            <a:endParaRPr lang="en-US" noProof="1"/>
          </a:p>
        </p:txBody>
      </p:sp>
      <p:sp>
        <p:nvSpPr>
          <p:cNvPr id="14" name="TextBox 13">
            <a:extLst>
              <a:ext uri="{FF2B5EF4-FFF2-40B4-BE49-F238E27FC236}">
                <a16:creationId xmlns:a16="http://schemas.microsoft.com/office/drawing/2014/main" id="{EEF2CF0C-DEA6-2A80-FA5F-66C53FBD3352}"/>
              </a:ext>
            </a:extLst>
          </p:cNvPr>
          <p:cNvSpPr txBox="1"/>
          <p:nvPr/>
        </p:nvSpPr>
        <p:spPr>
          <a:xfrm>
            <a:off x="658368" y="3273243"/>
            <a:ext cx="10698480" cy="369332"/>
          </a:xfrm>
          <a:prstGeom prst="rect">
            <a:avLst/>
          </a:prstGeom>
          <a:noFill/>
        </p:spPr>
        <p:txBody>
          <a:bodyPr wrap="square" rtlCol="0">
            <a:spAutoFit/>
          </a:bodyPr>
          <a:lstStyle/>
          <a:p>
            <a:r>
              <a:rPr lang="en-US" noProof="1"/>
              <a:t>Une interface utilisateur qui affiche :</a:t>
            </a:r>
          </a:p>
        </p:txBody>
      </p:sp>
      <p:sp>
        <p:nvSpPr>
          <p:cNvPr id="15" name="TextBox 14">
            <a:extLst>
              <a:ext uri="{FF2B5EF4-FFF2-40B4-BE49-F238E27FC236}">
                <a16:creationId xmlns:a16="http://schemas.microsoft.com/office/drawing/2014/main" id="{865E8E82-63FB-D1E2-698B-48F134D4A5AD}"/>
              </a:ext>
            </a:extLst>
          </p:cNvPr>
          <p:cNvSpPr txBox="1"/>
          <p:nvPr/>
        </p:nvSpPr>
        <p:spPr>
          <a:xfrm>
            <a:off x="859536" y="3723852"/>
            <a:ext cx="10497312" cy="923330"/>
          </a:xfrm>
          <a:prstGeom prst="rect">
            <a:avLst/>
          </a:prstGeom>
          <a:noFill/>
        </p:spPr>
        <p:txBody>
          <a:bodyPr wrap="square" rtlCol="0">
            <a:spAutoFit/>
          </a:bodyPr>
          <a:lstStyle/>
          <a:p>
            <a:pPr marL="285750" indent="-285750">
              <a:buFont typeface="Arial" panose="020B0604020202020204" pitchFamily="34" charset="0"/>
              <a:buChar char="•"/>
            </a:pPr>
            <a:r>
              <a:rPr lang="en-US" noProof="1"/>
              <a:t>Le graphique des prix interactif.</a:t>
            </a:r>
          </a:p>
          <a:p>
            <a:pPr marL="285750" indent="-285750">
              <a:buFont typeface="Arial" panose="020B0604020202020204" pitchFamily="34" charset="0"/>
              <a:buChar char="•"/>
            </a:pPr>
            <a:r>
              <a:rPr lang="en-US" noProof="1"/>
              <a:t>Le "Score de Confiance" du modèle pour la prochaine période.</a:t>
            </a:r>
          </a:p>
          <a:p>
            <a:pPr marL="285750" indent="-285750">
              <a:buFont typeface="Arial" panose="020B0604020202020204" pitchFamily="34" charset="0"/>
              <a:buChar char="•"/>
            </a:pPr>
            <a:r>
              <a:rPr lang="en-US" noProof="1"/>
              <a:t>L'état actuel du portefeuille virtuel.</a:t>
            </a:r>
          </a:p>
        </p:txBody>
      </p:sp>
    </p:spTree>
    <p:extLst>
      <p:ext uri="{BB962C8B-B14F-4D97-AF65-F5344CB8AC3E}">
        <p14:creationId xmlns:p14="http://schemas.microsoft.com/office/powerpoint/2010/main" val="1870757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25183-9E47-2B38-93A2-6F6A13997380}"/>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3ED9DE2-B5F2-D953-BD1F-54A6D2DCC3D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BA0AD8D-741A-2885-0C7C-284E8FE2A98A}"/>
              </a:ext>
            </a:extLst>
          </p:cNvPr>
          <p:cNvSpPr txBox="1"/>
          <p:nvPr/>
        </p:nvSpPr>
        <p:spPr>
          <a:xfrm>
            <a:off x="658368" y="336542"/>
            <a:ext cx="10698480" cy="461665"/>
          </a:xfrm>
          <a:prstGeom prst="rect">
            <a:avLst/>
          </a:prstGeom>
          <a:noFill/>
        </p:spPr>
        <p:txBody>
          <a:bodyPr wrap="square">
            <a:spAutoFit/>
          </a:bodyPr>
          <a:lstStyle/>
          <a:p>
            <a:r>
              <a:rPr lang="en-US" sz="2400" b="1" noProof="1"/>
              <a:t>SCHÉMA CONCEPTUEL DU FLUX :</a:t>
            </a:r>
          </a:p>
        </p:txBody>
      </p:sp>
      <p:sp>
        <p:nvSpPr>
          <p:cNvPr id="6" name="Rectangle 5">
            <a:extLst>
              <a:ext uri="{FF2B5EF4-FFF2-40B4-BE49-F238E27FC236}">
                <a16:creationId xmlns:a16="http://schemas.microsoft.com/office/drawing/2014/main" id="{2DE25B76-0618-A6D9-7D41-E22B31562CC5}"/>
              </a:ext>
            </a:extLst>
          </p:cNvPr>
          <p:cNvSpPr/>
          <p:nvPr/>
        </p:nvSpPr>
        <p:spPr>
          <a:xfrm>
            <a:off x="658368" y="1717081"/>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Données Brutes</a:t>
            </a:r>
          </a:p>
        </p:txBody>
      </p:sp>
      <p:sp>
        <p:nvSpPr>
          <p:cNvPr id="8" name="Rectangle 7">
            <a:extLst>
              <a:ext uri="{FF2B5EF4-FFF2-40B4-BE49-F238E27FC236}">
                <a16:creationId xmlns:a16="http://schemas.microsoft.com/office/drawing/2014/main" id="{49B2E446-B03E-5B9D-E91E-D44BE34ECEAE}"/>
              </a:ext>
            </a:extLst>
          </p:cNvPr>
          <p:cNvSpPr/>
          <p:nvPr/>
        </p:nvSpPr>
        <p:spPr>
          <a:xfrm>
            <a:off x="4924044" y="1717081"/>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Fichiers HDF5</a:t>
            </a:r>
          </a:p>
        </p:txBody>
      </p:sp>
      <p:sp>
        <p:nvSpPr>
          <p:cNvPr id="10" name="Rectangle 9">
            <a:extLst>
              <a:ext uri="{FF2B5EF4-FFF2-40B4-BE49-F238E27FC236}">
                <a16:creationId xmlns:a16="http://schemas.microsoft.com/office/drawing/2014/main" id="{52EE59EF-FA22-A6F3-AE2C-A5A213C6DB54}"/>
              </a:ext>
            </a:extLst>
          </p:cNvPr>
          <p:cNvSpPr/>
          <p:nvPr/>
        </p:nvSpPr>
        <p:spPr>
          <a:xfrm>
            <a:off x="9189720" y="1717081"/>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Alpha Factors</a:t>
            </a:r>
          </a:p>
        </p:txBody>
      </p:sp>
      <p:sp>
        <p:nvSpPr>
          <p:cNvPr id="11" name="Rectangle 10">
            <a:extLst>
              <a:ext uri="{FF2B5EF4-FFF2-40B4-BE49-F238E27FC236}">
                <a16:creationId xmlns:a16="http://schemas.microsoft.com/office/drawing/2014/main" id="{EE477F99-4C93-9308-5C4C-A922A3D6914F}"/>
              </a:ext>
            </a:extLst>
          </p:cNvPr>
          <p:cNvSpPr/>
          <p:nvPr/>
        </p:nvSpPr>
        <p:spPr>
          <a:xfrm>
            <a:off x="4924044" y="3429000"/>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Modèle ML</a:t>
            </a:r>
          </a:p>
        </p:txBody>
      </p:sp>
      <p:sp>
        <p:nvSpPr>
          <p:cNvPr id="16" name="Rectangle 15">
            <a:extLst>
              <a:ext uri="{FF2B5EF4-FFF2-40B4-BE49-F238E27FC236}">
                <a16:creationId xmlns:a16="http://schemas.microsoft.com/office/drawing/2014/main" id="{4E6B570F-6656-E6AC-626F-34696A531BB5}"/>
              </a:ext>
            </a:extLst>
          </p:cNvPr>
          <p:cNvSpPr/>
          <p:nvPr/>
        </p:nvSpPr>
        <p:spPr>
          <a:xfrm>
            <a:off x="9189720" y="5308092"/>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Signal (Achat/Vente)</a:t>
            </a:r>
          </a:p>
        </p:txBody>
      </p:sp>
      <p:sp>
        <p:nvSpPr>
          <p:cNvPr id="17" name="Rectangle 16">
            <a:extLst>
              <a:ext uri="{FF2B5EF4-FFF2-40B4-BE49-F238E27FC236}">
                <a16:creationId xmlns:a16="http://schemas.microsoft.com/office/drawing/2014/main" id="{F656F030-3611-83C4-F366-FDC9425580CC}"/>
              </a:ext>
            </a:extLst>
          </p:cNvPr>
          <p:cNvSpPr/>
          <p:nvPr/>
        </p:nvSpPr>
        <p:spPr>
          <a:xfrm>
            <a:off x="4924044" y="5308092"/>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Backtest</a:t>
            </a:r>
          </a:p>
        </p:txBody>
      </p:sp>
      <p:sp>
        <p:nvSpPr>
          <p:cNvPr id="18" name="Rectangle 17">
            <a:extLst>
              <a:ext uri="{FF2B5EF4-FFF2-40B4-BE49-F238E27FC236}">
                <a16:creationId xmlns:a16="http://schemas.microsoft.com/office/drawing/2014/main" id="{B0A30BF4-6BDC-6C2F-667B-3FC910902E8E}"/>
              </a:ext>
            </a:extLst>
          </p:cNvPr>
          <p:cNvSpPr/>
          <p:nvPr/>
        </p:nvSpPr>
        <p:spPr>
          <a:xfrm>
            <a:off x="658368" y="5308092"/>
            <a:ext cx="2167128" cy="64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Dashboard Streamlit</a:t>
            </a:r>
          </a:p>
        </p:txBody>
      </p:sp>
      <p:cxnSp>
        <p:nvCxnSpPr>
          <p:cNvPr id="20" name="Straight Arrow Connector 19">
            <a:extLst>
              <a:ext uri="{FF2B5EF4-FFF2-40B4-BE49-F238E27FC236}">
                <a16:creationId xmlns:a16="http://schemas.microsoft.com/office/drawing/2014/main" id="{A7178EE6-FCFF-B382-545D-F1AEB0374C08}"/>
              </a:ext>
            </a:extLst>
          </p:cNvPr>
          <p:cNvCxnSpPr>
            <a:stCxn id="6" idx="3"/>
          </p:cNvCxnSpPr>
          <p:nvPr/>
        </p:nvCxnSpPr>
        <p:spPr>
          <a:xfrm flipV="1">
            <a:off x="2825496" y="2041692"/>
            <a:ext cx="2098548" cy="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15AB13D-53B6-67F3-9094-9E5678141710}"/>
              </a:ext>
            </a:extLst>
          </p:cNvPr>
          <p:cNvCxnSpPr/>
          <p:nvPr/>
        </p:nvCxnSpPr>
        <p:spPr>
          <a:xfrm flipV="1">
            <a:off x="7091172" y="2041692"/>
            <a:ext cx="2098548" cy="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900C2C3-9A48-35FD-E574-8F946AE2D443}"/>
              </a:ext>
            </a:extLst>
          </p:cNvPr>
          <p:cNvCxnSpPr>
            <a:cxnSpLocks/>
            <a:stCxn id="10" idx="2"/>
            <a:endCxn id="11" idx="3"/>
          </p:cNvCxnSpPr>
          <p:nvPr/>
        </p:nvCxnSpPr>
        <p:spPr>
          <a:xfrm flipH="1">
            <a:off x="7091172" y="2366304"/>
            <a:ext cx="3182112" cy="138730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C0A28944-8953-BB07-9CF5-1DC59CD6206F}"/>
              </a:ext>
            </a:extLst>
          </p:cNvPr>
          <p:cNvCxnSpPr>
            <a:cxnSpLocks/>
            <a:stCxn id="11" idx="3"/>
            <a:endCxn id="16" idx="0"/>
          </p:cNvCxnSpPr>
          <p:nvPr/>
        </p:nvCxnSpPr>
        <p:spPr>
          <a:xfrm>
            <a:off x="7091172" y="3753612"/>
            <a:ext cx="3182112" cy="155448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B36DE4AB-30F1-0CF9-C205-D595A2A6C17F}"/>
              </a:ext>
            </a:extLst>
          </p:cNvPr>
          <p:cNvCxnSpPr>
            <a:cxnSpLocks/>
            <a:stCxn id="16" idx="1"/>
            <a:endCxn id="17" idx="3"/>
          </p:cNvCxnSpPr>
          <p:nvPr/>
        </p:nvCxnSpPr>
        <p:spPr>
          <a:xfrm flipH="1">
            <a:off x="7091172" y="5632704"/>
            <a:ext cx="2098548"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A895B1E-9F49-2479-9D74-66146397C7B4}"/>
              </a:ext>
            </a:extLst>
          </p:cNvPr>
          <p:cNvCxnSpPr>
            <a:cxnSpLocks/>
          </p:cNvCxnSpPr>
          <p:nvPr/>
        </p:nvCxnSpPr>
        <p:spPr>
          <a:xfrm flipH="1">
            <a:off x="2825496" y="5632703"/>
            <a:ext cx="2098548"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9098349-C1FE-AC85-0A06-9FD864E8450A}"/>
              </a:ext>
            </a:extLst>
          </p:cNvPr>
          <p:cNvSpPr txBox="1"/>
          <p:nvPr/>
        </p:nvSpPr>
        <p:spPr>
          <a:xfrm>
            <a:off x="1180784" y="2487168"/>
            <a:ext cx="1122295" cy="307777"/>
          </a:xfrm>
          <a:prstGeom prst="rect">
            <a:avLst/>
          </a:prstGeom>
          <a:noFill/>
        </p:spPr>
        <p:txBody>
          <a:bodyPr wrap="none" rtlCol="0">
            <a:spAutoFit/>
          </a:bodyPr>
          <a:lstStyle/>
          <a:p>
            <a:r>
              <a:rPr lang="en-US" sz="1400" i="1" noProof="1"/>
              <a:t>Market Data</a:t>
            </a:r>
          </a:p>
        </p:txBody>
      </p:sp>
      <p:sp>
        <p:nvSpPr>
          <p:cNvPr id="33" name="TextBox 32">
            <a:extLst>
              <a:ext uri="{FF2B5EF4-FFF2-40B4-BE49-F238E27FC236}">
                <a16:creationId xmlns:a16="http://schemas.microsoft.com/office/drawing/2014/main" id="{763365A8-E76A-1B26-6B93-97913ED6643F}"/>
              </a:ext>
            </a:extLst>
          </p:cNvPr>
          <p:cNvSpPr txBox="1"/>
          <p:nvPr/>
        </p:nvSpPr>
        <p:spPr>
          <a:xfrm>
            <a:off x="3313622" y="1571609"/>
            <a:ext cx="997389" cy="338554"/>
          </a:xfrm>
          <a:prstGeom prst="rect">
            <a:avLst/>
          </a:prstGeom>
          <a:noFill/>
        </p:spPr>
        <p:txBody>
          <a:bodyPr wrap="none" rtlCol="0">
            <a:spAutoFit/>
          </a:bodyPr>
          <a:lstStyle/>
          <a:p>
            <a:r>
              <a:rPr lang="en-US" sz="1600" noProof="1"/>
              <a:t>Stockage</a:t>
            </a:r>
          </a:p>
        </p:txBody>
      </p:sp>
      <p:sp>
        <p:nvSpPr>
          <p:cNvPr id="34" name="TextBox 33">
            <a:extLst>
              <a:ext uri="{FF2B5EF4-FFF2-40B4-BE49-F238E27FC236}">
                <a16:creationId xmlns:a16="http://schemas.microsoft.com/office/drawing/2014/main" id="{3D9444E1-3B8F-F77B-1A70-4B898D554CE3}"/>
              </a:ext>
            </a:extLst>
          </p:cNvPr>
          <p:cNvSpPr txBox="1"/>
          <p:nvPr/>
        </p:nvSpPr>
        <p:spPr>
          <a:xfrm>
            <a:off x="4827270" y="2400014"/>
            <a:ext cx="2537460" cy="738664"/>
          </a:xfrm>
          <a:prstGeom prst="rect">
            <a:avLst/>
          </a:prstGeom>
          <a:noFill/>
        </p:spPr>
        <p:txBody>
          <a:bodyPr wrap="square" rtlCol="0">
            <a:spAutoFit/>
          </a:bodyPr>
          <a:lstStyle/>
          <a:p>
            <a:r>
              <a:rPr lang="en-US" sz="1400" i="1" noProof="1"/>
              <a:t>Utilisation de HDFStore pour un accès rapide par "Ticker" ou par "Date".</a:t>
            </a:r>
            <a:endParaRPr lang="en-US" sz="1100" i="1" noProof="1"/>
          </a:p>
        </p:txBody>
      </p:sp>
      <p:sp>
        <p:nvSpPr>
          <p:cNvPr id="35" name="TextBox 34">
            <a:extLst>
              <a:ext uri="{FF2B5EF4-FFF2-40B4-BE49-F238E27FC236}">
                <a16:creationId xmlns:a16="http://schemas.microsoft.com/office/drawing/2014/main" id="{9FD19F26-0A37-2DB0-09A4-546A8348DB66}"/>
              </a:ext>
            </a:extLst>
          </p:cNvPr>
          <p:cNvSpPr txBox="1"/>
          <p:nvPr/>
        </p:nvSpPr>
        <p:spPr>
          <a:xfrm>
            <a:off x="7091172" y="1256863"/>
            <a:ext cx="2580448" cy="523220"/>
          </a:xfrm>
          <a:prstGeom prst="rect">
            <a:avLst/>
          </a:prstGeom>
          <a:noFill/>
        </p:spPr>
        <p:txBody>
          <a:bodyPr wrap="square" rtlCol="0">
            <a:spAutoFit/>
          </a:bodyPr>
          <a:lstStyle/>
          <a:p>
            <a:r>
              <a:rPr lang="en-US" sz="1400" i="1" noProof="1"/>
              <a:t>transforme les données brutes en signaux</a:t>
            </a:r>
            <a:endParaRPr lang="en-US" sz="1100" i="1" noProof="1"/>
          </a:p>
        </p:txBody>
      </p:sp>
      <p:sp>
        <p:nvSpPr>
          <p:cNvPr id="36" name="TextBox 35">
            <a:extLst>
              <a:ext uri="{FF2B5EF4-FFF2-40B4-BE49-F238E27FC236}">
                <a16:creationId xmlns:a16="http://schemas.microsoft.com/office/drawing/2014/main" id="{B4EB6805-D695-02BC-9E66-6FE50EDF7E24}"/>
              </a:ext>
            </a:extLst>
          </p:cNvPr>
          <p:cNvSpPr txBox="1"/>
          <p:nvPr/>
        </p:nvSpPr>
        <p:spPr>
          <a:xfrm>
            <a:off x="10116670" y="2352687"/>
            <a:ext cx="1396793" cy="954107"/>
          </a:xfrm>
          <a:prstGeom prst="rect">
            <a:avLst/>
          </a:prstGeom>
          <a:noFill/>
        </p:spPr>
        <p:txBody>
          <a:bodyPr wrap="none" rtlCol="0">
            <a:spAutoFit/>
          </a:bodyPr>
          <a:lstStyle/>
          <a:p>
            <a:pPr algn="ctr"/>
            <a:r>
              <a:rPr lang="en-US" sz="1400" noProof="1"/>
              <a:t>RSI</a:t>
            </a:r>
          </a:p>
          <a:p>
            <a:pPr algn="ctr"/>
            <a:r>
              <a:rPr lang="en-US" sz="1400" noProof="1"/>
              <a:t>MACD</a:t>
            </a:r>
          </a:p>
          <a:p>
            <a:pPr algn="ctr"/>
            <a:r>
              <a:rPr lang="en-US" sz="1400" noProof="1"/>
              <a:t>Bollinger Bands</a:t>
            </a:r>
          </a:p>
          <a:p>
            <a:pPr algn="ctr"/>
            <a:r>
              <a:rPr lang="en-US" sz="1400" noProof="1"/>
              <a:t>ATR</a:t>
            </a:r>
            <a:endParaRPr lang="en-US" sz="1100" noProof="1"/>
          </a:p>
        </p:txBody>
      </p:sp>
      <p:cxnSp>
        <p:nvCxnSpPr>
          <p:cNvPr id="40" name="Straight Connector 39">
            <a:extLst>
              <a:ext uri="{FF2B5EF4-FFF2-40B4-BE49-F238E27FC236}">
                <a16:creationId xmlns:a16="http://schemas.microsoft.com/office/drawing/2014/main" id="{95BC90F0-D919-00A4-89D3-F1DEB1D76E58}"/>
              </a:ext>
            </a:extLst>
          </p:cNvPr>
          <p:cNvCxnSpPr>
            <a:cxnSpLocks/>
          </p:cNvCxnSpPr>
          <p:nvPr/>
        </p:nvCxnSpPr>
        <p:spPr>
          <a:xfrm>
            <a:off x="1490472" y="3136392"/>
            <a:ext cx="6099048" cy="0"/>
          </a:xfrm>
          <a:prstGeom prst="line">
            <a:avLst/>
          </a:prstGeom>
          <a:ln>
            <a:prstDash val="dashDot"/>
          </a:ln>
        </p:spPr>
        <p:style>
          <a:lnRef idx="1">
            <a:schemeClr val="accent6"/>
          </a:lnRef>
          <a:fillRef idx="0">
            <a:schemeClr val="accent6"/>
          </a:fillRef>
          <a:effectRef idx="0">
            <a:schemeClr val="accent6"/>
          </a:effectRef>
          <a:fontRef idx="minor">
            <a:schemeClr val="tx1"/>
          </a:fontRef>
        </p:style>
      </p:cxnSp>
      <p:cxnSp>
        <p:nvCxnSpPr>
          <p:cNvPr id="41" name="Straight Connector 40">
            <a:extLst>
              <a:ext uri="{FF2B5EF4-FFF2-40B4-BE49-F238E27FC236}">
                <a16:creationId xmlns:a16="http://schemas.microsoft.com/office/drawing/2014/main" id="{5C1314A8-8CE2-8307-792F-D58637D372C2}"/>
              </a:ext>
            </a:extLst>
          </p:cNvPr>
          <p:cNvCxnSpPr>
            <a:cxnSpLocks/>
          </p:cNvCxnSpPr>
          <p:nvPr/>
        </p:nvCxnSpPr>
        <p:spPr>
          <a:xfrm>
            <a:off x="1490472" y="4413504"/>
            <a:ext cx="6099048" cy="0"/>
          </a:xfrm>
          <a:prstGeom prst="line">
            <a:avLst/>
          </a:prstGeom>
          <a:ln>
            <a:prstDash val="dashDot"/>
          </a:ln>
        </p:spPr>
        <p:style>
          <a:lnRef idx="1">
            <a:schemeClr val="accent6"/>
          </a:lnRef>
          <a:fillRef idx="0">
            <a:schemeClr val="accent6"/>
          </a:fillRef>
          <a:effectRef idx="0">
            <a:schemeClr val="accent6"/>
          </a:effectRef>
          <a:fontRef idx="minor">
            <a:schemeClr val="tx1"/>
          </a:fontRef>
        </p:style>
      </p:cxnSp>
      <p:sp>
        <p:nvSpPr>
          <p:cNvPr id="42" name="TextBox 41">
            <a:extLst>
              <a:ext uri="{FF2B5EF4-FFF2-40B4-BE49-F238E27FC236}">
                <a16:creationId xmlns:a16="http://schemas.microsoft.com/office/drawing/2014/main" id="{E6D797C0-650F-F5AF-7411-273C7199C934}"/>
              </a:ext>
            </a:extLst>
          </p:cNvPr>
          <p:cNvSpPr txBox="1"/>
          <p:nvPr/>
        </p:nvSpPr>
        <p:spPr>
          <a:xfrm>
            <a:off x="1490472" y="3143132"/>
            <a:ext cx="2232919" cy="338554"/>
          </a:xfrm>
          <a:prstGeom prst="rect">
            <a:avLst/>
          </a:prstGeom>
          <a:noFill/>
        </p:spPr>
        <p:txBody>
          <a:bodyPr wrap="none" rtlCol="0">
            <a:spAutoFit/>
          </a:bodyPr>
          <a:lstStyle/>
          <a:p>
            <a:r>
              <a:rPr lang="en-US" sz="1600" b="1" i="1" noProof="1"/>
              <a:t>Pipeline de Prédiction</a:t>
            </a:r>
          </a:p>
        </p:txBody>
      </p:sp>
      <p:sp>
        <p:nvSpPr>
          <p:cNvPr id="45" name="TextBox 44">
            <a:extLst>
              <a:ext uri="{FF2B5EF4-FFF2-40B4-BE49-F238E27FC236}">
                <a16:creationId xmlns:a16="http://schemas.microsoft.com/office/drawing/2014/main" id="{357261B7-A199-2BAE-9FD7-FE50921E452D}"/>
              </a:ext>
            </a:extLst>
          </p:cNvPr>
          <p:cNvSpPr txBox="1"/>
          <p:nvPr/>
        </p:nvSpPr>
        <p:spPr>
          <a:xfrm>
            <a:off x="1490472" y="3431167"/>
            <a:ext cx="3078920" cy="523220"/>
          </a:xfrm>
          <a:prstGeom prst="rect">
            <a:avLst/>
          </a:prstGeom>
          <a:noFill/>
        </p:spPr>
        <p:txBody>
          <a:bodyPr wrap="none" rtlCol="0">
            <a:spAutoFit/>
          </a:bodyPr>
          <a:lstStyle/>
          <a:p>
            <a:pPr marL="285750" indent="-285750">
              <a:buFont typeface="Arial" panose="020B0604020202020204" pitchFamily="34" charset="0"/>
              <a:buChar char="•"/>
            </a:pPr>
            <a:r>
              <a:rPr lang="en-US" sz="1400" i="1" noProof="1"/>
              <a:t>Preprocessing : StandardScaler</a:t>
            </a:r>
          </a:p>
          <a:p>
            <a:pPr marL="285750" indent="-285750">
              <a:buFont typeface="Arial" panose="020B0604020202020204" pitchFamily="34" charset="0"/>
              <a:buChar char="•"/>
            </a:pPr>
            <a:r>
              <a:rPr lang="en-US" sz="1400" i="1" noProof="1"/>
              <a:t>Cross-Validation : TimeSeriesSplit</a:t>
            </a:r>
          </a:p>
        </p:txBody>
      </p:sp>
      <p:sp>
        <p:nvSpPr>
          <p:cNvPr id="46" name="TextBox 45">
            <a:extLst>
              <a:ext uri="{FF2B5EF4-FFF2-40B4-BE49-F238E27FC236}">
                <a16:creationId xmlns:a16="http://schemas.microsoft.com/office/drawing/2014/main" id="{4445651D-AB08-9AA3-8637-86CAEC056823}"/>
              </a:ext>
            </a:extLst>
          </p:cNvPr>
          <p:cNvSpPr txBox="1"/>
          <p:nvPr/>
        </p:nvSpPr>
        <p:spPr>
          <a:xfrm>
            <a:off x="1490472" y="3889644"/>
            <a:ext cx="3307252" cy="523220"/>
          </a:xfrm>
          <a:prstGeom prst="rect">
            <a:avLst/>
          </a:prstGeom>
          <a:noFill/>
        </p:spPr>
        <p:txBody>
          <a:bodyPr wrap="none" rtlCol="0">
            <a:spAutoFit/>
          </a:bodyPr>
          <a:lstStyle/>
          <a:p>
            <a:r>
              <a:rPr lang="en-US" sz="1400" noProof="1"/>
              <a:t>Baseline : Régression Ridge/Lasso.</a:t>
            </a:r>
          </a:p>
          <a:p>
            <a:r>
              <a:rPr lang="en-US" sz="1400" noProof="1"/>
              <a:t>Avancé : LightGBM / XGBoost / CatBoost</a:t>
            </a:r>
          </a:p>
        </p:txBody>
      </p:sp>
      <p:sp>
        <p:nvSpPr>
          <p:cNvPr id="47" name="TextBox 46">
            <a:extLst>
              <a:ext uri="{FF2B5EF4-FFF2-40B4-BE49-F238E27FC236}">
                <a16:creationId xmlns:a16="http://schemas.microsoft.com/office/drawing/2014/main" id="{70E0D252-3490-79F7-0825-7C3759837E6E}"/>
              </a:ext>
            </a:extLst>
          </p:cNvPr>
          <p:cNvSpPr txBox="1"/>
          <p:nvPr/>
        </p:nvSpPr>
        <p:spPr>
          <a:xfrm>
            <a:off x="9489928" y="5971032"/>
            <a:ext cx="1566711" cy="738664"/>
          </a:xfrm>
          <a:prstGeom prst="rect">
            <a:avLst/>
          </a:prstGeom>
          <a:noFill/>
        </p:spPr>
        <p:txBody>
          <a:bodyPr wrap="none" rtlCol="0">
            <a:spAutoFit/>
          </a:bodyPr>
          <a:lstStyle/>
          <a:p>
            <a:pPr algn="ctr"/>
            <a:r>
              <a:rPr lang="en-US" sz="1400" i="1" noProof="1"/>
              <a:t>Seuils</a:t>
            </a:r>
          </a:p>
          <a:p>
            <a:pPr algn="ctr"/>
            <a:r>
              <a:rPr lang="en-US" sz="1400" i="1" noProof="1"/>
              <a:t>Optimisation</a:t>
            </a:r>
          </a:p>
          <a:p>
            <a:pPr algn="ctr"/>
            <a:r>
              <a:rPr lang="en-US" sz="1400" i="1" noProof="1"/>
              <a:t>Risk Management</a:t>
            </a:r>
            <a:endParaRPr lang="en-US" sz="1000" i="1" noProof="1"/>
          </a:p>
        </p:txBody>
      </p:sp>
      <p:sp>
        <p:nvSpPr>
          <p:cNvPr id="48" name="TextBox 47">
            <a:extLst>
              <a:ext uri="{FF2B5EF4-FFF2-40B4-BE49-F238E27FC236}">
                <a16:creationId xmlns:a16="http://schemas.microsoft.com/office/drawing/2014/main" id="{A3F7405A-1380-BFCC-32DB-896D5AC0F9C0}"/>
              </a:ext>
            </a:extLst>
          </p:cNvPr>
          <p:cNvSpPr txBox="1"/>
          <p:nvPr/>
        </p:nvSpPr>
        <p:spPr>
          <a:xfrm>
            <a:off x="8525613" y="4152773"/>
            <a:ext cx="2831235" cy="307777"/>
          </a:xfrm>
          <a:prstGeom prst="rect">
            <a:avLst/>
          </a:prstGeom>
          <a:noFill/>
        </p:spPr>
        <p:txBody>
          <a:bodyPr wrap="square" rtlCol="0">
            <a:spAutoFit/>
          </a:bodyPr>
          <a:lstStyle/>
          <a:p>
            <a:r>
              <a:rPr lang="en-US" sz="1400" i="1" noProof="1"/>
              <a:t>Le modèle donne une prédiction</a:t>
            </a:r>
            <a:endParaRPr lang="en-US" sz="1000" i="1" noProof="1"/>
          </a:p>
        </p:txBody>
      </p:sp>
      <p:sp>
        <p:nvSpPr>
          <p:cNvPr id="49" name="TextBox 48">
            <a:extLst>
              <a:ext uri="{FF2B5EF4-FFF2-40B4-BE49-F238E27FC236}">
                <a16:creationId xmlns:a16="http://schemas.microsoft.com/office/drawing/2014/main" id="{C4DEA135-2BFA-A959-3EC0-3037D02F7C0D}"/>
              </a:ext>
            </a:extLst>
          </p:cNvPr>
          <p:cNvSpPr txBox="1"/>
          <p:nvPr/>
        </p:nvSpPr>
        <p:spPr>
          <a:xfrm>
            <a:off x="7183966" y="5660207"/>
            <a:ext cx="1912960" cy="307777"/>
          </a:xfrm>
          <a:prstGeom prst="rect">
            <a:avLst/>
          </a:prstGeom>
          <a:noFill/>
        </p:spPr>
        <p:txBody>
          <a:bodyPr wrap="none" rtlCol="0">
            <a:spAutoFit/>
          </a:bodyPr>
          <a:lstStyle/>
          <a:p>
            <a:r>
              <a:rPr lang="en-US" sz="1400" noProof="1"/>
              <a:t>La Simulation Réaliste</a:t>
            </a:r>
          </a:p>
        </p:txBody>
      </p:sp>
      <p:sp>
        <p:nvSpPr>
          <p:cNvPr id="50" name="TextBox 49">
            <a:extLst>
              <a:ext uri="{FF2B5EF4-FFF2-40B4-BE49-F238E27FC236}">
                <a16:creationId xmlns:a16="http://schemas.microsoft.com/office/drawing/2014/main" id="{BDB4D0A1-43B2-9637-8583-09FF1CE8FF67}"/>
              </a:ext>
            </a:extLst>
          </p:cNvPr>
          <p:cNvSpPr txBox="1"/>
          <p:nvPr/>
        </p:nvSpPr>
        <p:spPr>
          <a:xfrm>
            <a:off x="3422306" y="4514989"/>
            <a:ext cx="5962081" cy="738664"/>
          </a:xfrm>
          <a:prstGeom prst="rect">
            <a:avLst/>
          </a:prstGeom>
          <a:noFill/>
        </p:spPr>
        <p:txBody>
          <a:bodyPr wrap="none" rtlCol="0">
            <a:spAutoFit/>
          </a:bodyPr>
          <a:lstStyle/>
          <a:p>
            <a:r>
              <a:rPr lang="en-US" sz="1400" b="1" i="1" noProof="1"/>
              <a:t>Coûts :</a:t>
            </a:r>
            <a:r>
              <a:rPr lang="en-US" sz="1400" i="1" noProof="1"/>
              <a:t> Intégration des frais de transaction et du "Slippage".</a:t>
            </a:r>
          </a:p>
          <a:p>
            <a:r>
              <a:rPr lang="en-US" sz="1400" b="1" i="1" noProof="1"/>
              <a:t>Outil :</a:t>
            </a:r>
            <a:r>
              <a:rPr lang="en-US" sz="1400" i="1" noProof="1"/>
              <a:t> Zipline ou VectorBT.</a:t>
            </a:r>
          </a:p>
          <a:p>
            <a:r>
              <a:rPr lang="en-US" sz="1400" b="1" i="1" noProof="1"/>
              <a:t>Analyse Performance: PyFolio (Sharpe Ratio, Max Drawdown, Volatilité)</a:t>
            </a:r>
          </a:p>
        </p:txBody>
      </p:sp>
      <p:sp>
        <p:nvSpPr>
          <p:cNvPr id="51" name="TextBox 50">
            <a:extLst>
              <a:ext uri="{FF2B5EF4-FFF2-40B4-BE49-F238E27FC236}">
                <a16:creationId xmlns:a16="http://schemas.microsoft.com/office/drawing/2014/main" id="{87B75F8F-BB78-A393-2B51-09DE66A6CDC7}"/>
              </a:ext>
            </a:extLst>
          </p:cNvPr>
          <p:cNvSpPr txBox="1"/>
          <p:nvPr/>
        </p:nvSpPr>
        <p:spPr>
          <a:xfrm>
            <a:off x="3100913" y="5253653"/>
            <a:ext cx="1696811" cy="307777"/>
          </a:xfrm>
          <a:prstGeom prst="rect">
            <a:avLst/>
          </a:prstGeom>
          <a:noFill/>
        </p:spPr>
        <p:txBody>
          <a:bodyPr wrap="none" rtlCol="0">
            <a:spAutoFit/>
          </a:bodyPr>
          <a:lstStyle/>
          <a:p>
            <a:r>
              <a:rPr lang="en-US" sz="1400" noProof="1"/>
              <a:t>Visualisation Finale</a:t>
            </a:r>
          </a:p>
        </p:txBody>
      </p:sp>
      <p:sp>
        <p:nvSpPr>
          <p:cNvPr id="52" name="TextBox 51">
            <a:extLst>
              <a:ext uri="{FF2B5EF4-FFF2-40B4-BE49-F238E27FC236}">
                <a16:creationId xmlns:a16="http://schemas.microsoft.com/office/drawing/2014/main" id="{AFB0DF1D-1657-492D-C173-8B4336BE7521}"/>
              </a:ext>
            </a:extLst>
          </p:cNvPr>
          <p:cNvSpPr txBox="1"/>
          <p:nvPr/>
        </p:nvSpPr>
        <p:spPr>
          <a:xfrm>
            <a:off x="547958" y="5992317"/>
            <a:ext cx="3432286" cy="738664"/>
          </a:xfrm>
          <a:prstGeom prst="rect">
            <a:avLst/>
          </a:prstGeom>
          <a:noFill/>
        </p:spPr>
        <p:txBody>
          <a:bodyPr wrap="none" rtlCol="0">
            <a:spAutoFit/>
          </a:bodyPr>
          <a:lstStyle/>
          <a:p>
            <a:r>
              <a:rPr lang="en-US" sz="1400" b="1" i="1" noProof="1"/>
              <a:t>Interactive Charts: </a:t>
            </a:r>
            <a:r>
              <a:rPr lang="en-US" sz="1400" i="1" noProof="1"/>
              <a:t>Plotly.</a:t>
            </a:r>
            <a:endParaRPr lang="en-US" sz="1400" b="1" i="1" noProof="1"/>
          </a:p>
          <a:p>
            <a:r>
              <a:rPr lang="en-US" sz="1400" b="1" i="1" noProof="1"/>
              <a:t>Heatmaps: </a:t>
            </a:r>
            <a:r>
              <a:rPr lang="en-US" sz="1400" i="1" noProof="1"/>
              <a:t>Corrélation entre les facteurs.</a:t>
            </a:r>
            <a:endParaRPr lang="en-US" sz="1400" b="1" i="1" noProof="1"/>
          </a:p>
          <a:p>
            <a:r>
              <a:rPr lang="en-US" sz="1400" b="1" i="1" noProof="1"/>
              <a:t>Live Metrics: </a:t>
            </a:r>
            <a:r>
              <a:rPr lang="en-US" sz="1400" i="1" noProof="1"/>
              <a:t>Equity Curve</a:t>
            </a:r>
            <a:endParaRPr lang="en-US" sz="1100" b="1" i="1" noProof="1"/>
          </a:p>
        </p:txBody>
      </p:sp>
    </p:spTree>
    <p:extLst>
      <p:ext uri="{BB962C8B-B14F-4D97-AF65-F5344CB8AC3E}">
        <p14:creationId xmlns:p14="http://schemas.microsoft.com/office/powerpoint/2010/main" val="2188855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AB80-3774-0BE3-51D4-FDA10CC5DE9F}"/>
            </a:ext>
          </a:extLst>
        </p:cNvPr>
        <p:cNvGrpSpPr/>
        <p:nvPr/>
      </p:nvGrpSpPr>
      <p:grpSpPr>
        <a:xfrm>
          <a:off x="0" y="0"/>
          <a:ext cx="0" cy="0"/>
          <a:chOff x="0" y="0"/>
          <a:chExt cx="0" cy="0"/>
        </a:xfrm>
      </p:grpSpPr>
      <p:sp>
        <p:nvSpPr>
          <p:cNvPr id="3" name="Rectangle: Diagonal Corners Rounded 2">
            <a:extLst>
              <a:ext uri="{FF2B5EF4-FFF2-40B4-BE49-F238E27FC236}">
                <a16:creationId xmlns:a16="http://schemas.microsoft.com/office/drawing/2014/main" id="{050A62EA-E0F0-4296-809C-E036DEEFAB65}"/>
              </a:ext>
            </a:extLst>
          </p:cNvPr>
          <p:cNvSpPr/>
          <p:nvPr/>
        </p:nvSpPr>
        <p:spPr>
          <a:xfrm>
            <a:off x="2499360" y="1773936"/>
            <a:ext cx="7193280" cy="3639312"/>
          </a:xfrm>
          <a:prstGeom prst="round2DiagRect">
            <a:avLst>
              <a:gd name="adj1" fmla="val 16667"/>
              <a:gd name="adj2" fmla="val 0"/>
            </a:avLst>
          </a:prstGeom>
          <a:solidFill>
            <a:srgbClr val="83A5AB"/>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9F14F337-1804-C040-F7F6-7AB3FB46BF8D}"/>
              </a:ext>
            </a:extLst>
          </p:cNvPr>
          <p:cNvSpPr txBox="1"/>
          <p:nvPr/>
        </p:nvSpPr>
        <p:spPr>
          <a:xfrm>
            <a:off x="2614983" y="3763536"/>
            <a:ext cx="6962034" cy="1077218"/>
          </a:xfrm>
          <a:prstGeom prst="rect">
            <a:avLst/>
          </a:prstGeom>
          <a:noFill/>
        </p:spPr>
        <p:txBody>
          <a:bodyPr wrap="none" rtlCol="0">
            <a:spAutoFit/>
          </a:bodyPr>
          <a:lstStyle/>
          <a:p>
            <a:pPr algn="ctr"/>
            <a:r>
              <a:rPr lang="en-US" sz="3200" b="1" noProof="1"/>
              <a:t>LA DONNÉE </a:t>
            </a:r>
          </a:p>
          <a:p>
            <a:pPr algn="ctr"/>
            <a:r>
              <a:rPr lang="en-US" sz="3200" b="1" noProof="1"/>
              <a:t>(DATASET &amp; FEATURE ENGINEERING)</a:t>
            </a:r>
          </a:p>
        </p:txBody>
      </p:sp>
      <p:sp>
        <p:nvSpPr>
          <p:cNvPr id="5" name="Rectangle: Diagonal Corners Snipped 4">
            <a:extLst>
              <a:ext uri="{FF2B5EF4-FFF2-40B4-BE49-F238E27FC236}">
                <a16:creationId xmlns:a16="http://schemas.microsoft.com/office/drawing/2014/main" id="{2FA17784-6350-2892-4BDC-385A08C1E904}"/>
              </a:ext>
            </a:extLst>
          </p:cNvPr>
          <p:cNvSpPr/>
          <p:nvPr/>
        </p:nvSpPr>
        <p:spPr>
          <a:xfrm>
            <a:off x="5654500" y="2824830"/>
            <a:ext cx="883000" cy="768762"/>
          </a:xfrm>
          <a:prstGeom prst="snip2DiagRect">
            <a:avLst/>
          </a:prstGeom>
          <a:solidFill>
            <a:schemeClr val="tx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noProof="1"/>
              <a:t>3</a:t>
            </a:r>
          </a:p>
        </p:txBody>
      </p:sp>
    </p:spTree>
    <p:extLst>
      <p:ext uri="{BB962C8B-B14F-4D97-AF65-F5344CB8AC3E}">
        <p14:creationId xmlns:p14="http://schemas.microsoft.com/office/powerpoint/2010/main" val="3205817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2F50C-6DF5-301E-9BCE-B71F339A1AC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EA82503-F96B-A301-6818-8543EFC365D8}"/>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A4A91B0-021D-5AD5-6841-B543876ED1D3}"/>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2" name="TextBox 1">
            <a:extLst>
              <a:ext uri="{FF2B5EF4-FFF2-40B4-BE49-F238E27FC236}">
                <a16:creationId xmlns:a16="http://schemas.microsoft.com/office/drawing/2014/main" id="{FC97FFA2-FE80-6FC6-31FE-87A47ECBF54A}"/>
              </a:ext>
            </a:extLst>
          </p:cNvPr>
          <p:cNvSpPr txBox="1"/>
          <p:nvPr/>
        </p:nvSpPr>
        <p:spPr>
          <a:xfrm>
            <a:off x="658368" y="1106424"/>
            <a:ext cx="10698480" cy="646331"/>
          </a:xfrm>
          <a:prstGeom prst="rect">
            <a:avLst/>
          </a:prstGeom>
          <a:noFill/>
        </p:spPr>
        <p:txBody>
          <a:bodyPr wrap="square" rtlCol="0">
            <a:spAutoFit/>
          </a:bodyPr>
          <a:lstStyle/>
          <a:p>
            <a:pPr algn="just"/>
            <a:r>
              <a:rPr lang="en-US" noProof="1"/>
              <a:t>L'objectif ici est de transformer des prix bruts en un ensemble de données structuré que le Machine Learning peut "comprendre".</a:t>
            </a:r>
          </a:p>
        </p:txBody>
      </p:sp>
      <p:sp>
        <p:nvSpPr>
          <p:cNvPr id="4" name="TextBox 3">
            <a:extLst>
              <a:ext uri="{FF2B5EF4-FFF2-40B4-BE49-F238E27FC236}">
                <a16:creationId xmlns:a16="http://schemas.microsoft.com/office/drawing/2014/main" id="{418D4E7E-9D24-415D-61ED-CE15F07D3267}"/>
              </a:ext>
            </a:extLst>
          </p:cNvPr>
          <p:cNvSpPr txBox="1"/>
          <p:nvPr/>
        </p:nvSpPr>
        <p:spPr>
          <a:xfrm>
            <a:off x="658368" y="1825752"/>
            <a:ext cx="10698480" cy="369332"/>
          </a:xfrm>
          <a:prstGeom prst="rect">
            <a:avLst/>
          </a:prstGeom>
          <a:noFill/>
        </p:spPr>
        <p:txBody>
          <a:bodyPr wrap="square" rtlCol="0">
            <a:spAutoFit/>
          </a:bodyPr>
          <a:lstStyle/>
          <a:p>
            <a:r>
              <a:rPr lang="en-US" b="1" noProof="1"/>
              <a:t>1. Les Sources de Données (Data Sourcing)</a:t>
            </a:r>
          </a:p>
        </p:txBody>
      </p:sp>
      <p:sp>
        <p:nvSpPr>
          <p:cNvPr id="5" name="TextBox 4">
            <a:extLst>
              <a:ext uri="{FF2B5EF4-FFF2-40B4-BE49-F238E27FC236}">
                <a16:creationId xmlns:a16="http://schemas.microsoft.com/office/drawing/2014/main" id="{14B87D5B-E545-368C-FFCD-FF090B4055A0}"/>
              </a:ext>
            </a:extLst>
          </p:cNvPr>
          <p:cNvSpPr txBox="1"/>
          <p:nvPr/>
        </p:nvSpPr>
        <p:spPr>
          <a:xfrm>
            <a:off x="658368" y="2268081"/>
            <a:ext cx="10698480" cy="369332"/>
          </a:xfrm>
          <a:prstGeom prst="rect">
            <a:avLst/>
          </a:prstGeom>
          <a:noFill/>
        </p:spPr>
        <p:txBody>
          <a:bodyPr wrap="square" rtlCol="0">
            <a:spAutoFit/>
          </a:bodyPr>
          <a:lstStyle/>
          <a:p>
            <a:pPr algn="just"/>
            <a:r>
              <a:rPr lang="en-US" noProof="1"/>
              <a:t>Nous utilisons trois catégories de données pour enrichir le modèle :</a:t>
            </a:r>
          </a:p>
        </p:txBody>
      </p:sp>
      <p:sp>
        <p:nvSpPr>
          <p:cNvPr id="6" name="TextBox 5">
            <a:extLst>
              <a:ext uri="{FF2B5EF4-FFF2-40B4-BE49-F238E27FC236}">
                <a16:creationId xmlns:a16="http://schemas.microsoft.com/office/drawing/2014/main" id="{F3C5A9E5-4FCC-F558-FBE9-144022711935}"/>
              </a:ext>
            </a:extLst>
          </p:cNvPr>
          <p:cNvSpPr txBox="1"/>
          <p:nvPr/>
        </p:nvSpPr>
        <p:spPr>
          <a:xfrm>
            <a:off x="658368" y="2710410"/>
            <a:ext cx="10698480" cy="1754326"/>
          </a:xfrm>
          <a:prstGeom prst="rect">
            <a:avLst/>
          </a:prstGeom>
          <a:noFill/>
        </p:spPr>
        <p:txBody>
          <a:bodyPr wrap="square" rtlCol="0">
            <a:spAutoFit/>
          </a:bodyPr>
          <a:lstStyle/>
          <a:p>
            <a:pPr marL="285750" indent="-285750">
              <a:buFont typeface="Arial" panose="020B0604020202020204" pitchFamily="34" charset="0"/>
              <a:buChar char="•"/>
            </a:pPr>
            <a:r>
              <a:rPr lang="en-US" b="1" noProof="1"/>
              <a:t>Données de Marché (Market Data) :</a:t>
            </a:r>
            <a:r>
              <a:rPr lang="en-US" noProof="1"/>
              <a:t> Prix OHLCV (Open, High, Low, Close, Volume). C'est la base. Nous utilisons généralement des fréquences quotidiennes (Daily) ou intra-journalières (Intraday).</a:t>
            </a:r>
          </a:p>
          <a:p>
            <a:pPr marL="285750" indent="-285750">
              <a:buFont typeface="Arial" panose="020B0604020202020204" pitchFamily="34" charset="0"/>
              <a:buChar char="•"/>
            </a:pPr>
            <a:r>
              <a:rPr lang="en-US" b="1" noProof="1"/>
              <a:t>Données Fondamentales :</a:t>
            </a:r>
            <a:r>
              <a:rPr lang="en-US" noProof="1"/>
              <a:t> Ratios comme le P/E (Price-to-Earnings), la capitalisation boursière, et les dividendes. Cela aide le modèle à comprendre la "valeur" de l'actif.</a:t>
            </a:r>
          </a:p>
          <a:p>
            <a:pPr marL="285750" indent="-285750">
              <a:buFont typeface="Arial" panose="020B0604020202020204" pitchFamily="34" charset="0"/>
              <a:buChar char="•"/>
            </a:pPr>
            <a:r>
              <a:rPr lang="en-US" b="1" noProof="1"/>
              <a:t>Données Alternatives (Le "Plus" de Jansen) :</a:t>
            </a:r>
            <a:r>
              <a:rPr lang="en-US" noProof="1"/>
              <a:t> Sentiment extrait des titres de presse ou de Twitter via le NLP (Natural Language Processing).</a:t>
            </a:r>
          </a:p>
        </p:txBody>
      </p:sp>
      <p:pic>
        <p:nvPicPr>
          <p:cNvPr id="8" name="Image 8">
            <a:extLst>
              <a:ext uri="{FF2B5EF4-FFF2-40B4-BE49-F238E27FC236}">
                <a16:creationId xmlns:a16="http://schemas.microsoft.com/office/drawing/2014/main" id="{8A71FAA5-DCA6-4324-AD6F-22B2F4141F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22588" y="4537733"/>
            <a:ext cx="9746824" cy="2155675"/>
          </a:xfrm>
          <a:prstGeom prst="rect">
            <a:avLst/>
          </a:prstGeom>
        </p:spPr>
      </p:pic>
    </p:spTree>
    <p:extLst>
      <p:ext uri="{BB962C8B-B14F-4D97-AF65-F5344CB8AC3E}">
        <p14:creationId xmlns:p14="http://schemas.microsoft.com/office/powerpoint/2010/main" val="904528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0FBC5-E024-608A-EC4B-AAC184715430}"/>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C3950E3-940F-3798-031A-82FCD3888761}"/>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8162A08-52E8-BC6D-75C1-88AD8E5D8BBA}"/>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7030DE7A-7158-04F2-2D0B-B55E89D1BFBB}"/>
              </a:ext>
            </a:extLst>
          </p:cNvPr>
          <p:cNvSpPr txBox="1"/>
          <p:nvPr/>
        </p:nvSpPr>
        <p:spPr>
          <a:xfrm>
            <a:off x="658368" y="1030224"/>
            <a:ext cx="10698480" cy="369332"/>
          </a:xfrm>
          <a:prstGeom prst="rect">
            <a:avLst/>
          </a:prstGeom>
          <a:noFill/>
        </p:spPr>
        <p:txBody>
          <a:bodyPr wrap="square" rtlCol="0">
            <a:spAutoFit/>
          </a:bodyPr>
          <a:lstStyle/>
          <a:p>
            <a:r>
              <a:rPr lang="en-US" b="1" noProof="1"/>
              <a:t>2. Stockage et Nettoyage (Preprocessing)</a:t>
            </a:r>
          </a:p>
        </p:txBody>
      </p:sp>
      <p:sp>
        <p:nvSpPr>
          <p:cNvPr id="5" name="TextBox 4">
            <a:extLst>
              <a:ext uri="{FF2B5EF4-FFF2-40B4-BE49-F238E27FC236}">
                <a16:creationId xmlns:a16="http://schemas.microsoft.com/office/drawing/2014/main" id="{F6F00C29-425B-6FA3-D0F3-D38E7E3A29FA}"/>
              </a:ext>
            </a:extLst>
          </p:cNvPr>
          <p:cNvSpPr txBox="1"/>
          <p:nvPr/>
        </p:nvSpPr>
        <p:spPr>
          <a:xfrm>
            <a:off x="658368" y="1472553"/>
            <a:ext cx="10698480" cy="369332"/>
          </a:xfrm>
          <a:prstGeom prst="rect">
            <a:avLst/>
          </a:prstGeom>
          <a:noFill/>
        </p:spPr>
        <p:txBody>
          <a:bodyPr wrap="square" rtlCol="0">
            <a:spAutoFit/>
          </a:bodyPr>
          <a:lstStyle/>
          <a:p>
            <a:pPr algn="just"/>
            <a:r>
              <a:rPr lang="en-US" noProof="1"/>
              <a:t>Les données financières sont volumineuses et souvent "sales".</a:t>
            </a:r>
          </a:p>
        </p:txBody>
      </p:sp>
      <p:sp>
        <p:nvSpPr>
          <p:cNvPr id="6" name="TextBox 5">
            <a:extLst>
              <a:ext uri="{FF2B5EF4-FFF2-40B4-BE49-F238E27FC236}">
                <a16:creationId xmlns:a16="http://schemas.microsoft.com/office/drawing/2014/main" id="{AE9EBAF4-859F-C8AE-C69B-464AFE175C17}"/>
              </a:ext>
            </a:extLst>
          </p:cNvPr>
          <p:cNvSpPr txBox="1"/>
          <p:nvPr/>
        </p:nvSpPr>
        <p:spPr>
          <a:xfrm>
            <a:off x="658368" y="1914882"/>
            <a:ext cx="10698480" cy="1477328"/>
          </a:xfrm>
          <a:prstGeom prst="rect">
            <a:avLst/>
          </a:prstGeom>
          <a:noFill/>
        </p:spPr>
        <p:txBody>
          <a:bodyPr wrap="square" rtlCol="0">
            <a:spAutoFit/>
          </a:bodyPr>
          <a:lstStyle/>
          <a:p>
            <a:pPr marL="285750" indent="-285750">
              <a:buFont typeface="Arial" panose="020B0604020202020204" pitchFamily="34" charset="0"/>
              <a:buChar char="•"/>
            </a:pPr>
            <a:r>
              <a:rPr lang="en-US" b="1" noProof="1"/>
              <a:t>Format HDF5 :</a:t>
            </a:r>
            <a:r>
              <a:rPr lang="en-US" noProof="1"/>
              <a:t> Nous stockons tout dans un fichier .h5 pour une lecture ultra-rapide.</a:t>
            </a:r>
          </a:p>
          <a:p>
            <a:pPr marL="285750" indent="-285750">
              <a:buFont typeface="Arial" panose="020B0604020202020204" pitchFamily="34" charset="0"/>
              <a:buChar char="•"/>
            </a:pPr>
            <a:r>
              <a:rPr lang="en-US" b="1" noProof="1"/>
              <a:t>Ajustements :</a:t>
            </a:r>
            <a:r>
              <a:rPr lang="en-US" noProof="1"/>
              <a:t> Il est impératif d'ajuster les prix pour les </a:t>
            </a:r>
            <a:r>
              <a:rPr lang="en-US" b="1" noProof="1"/>
              <a:t>Stock Splits</a:t>
            </a:r>
            <a:r>
              <a:rPr lang="en-US" noProof="1"/>
              <a:t> et les </a:t>
            </a:r>
            <a:r>
              <a:rPr lang="en-US" b="1" noProof="1"/>
              <a:t>Dividendes</a:t>
            </a:r>
            <a:r>
              <a:rPr lang="en-US" noProof="1"/>
              <a:t>, sinon le modèle verra des chutes de prix artificielles.</a:t>
            </a:r>
          </a:p>
          <a:p>
            <a:pPr marL="285750" indent="-285750">
              <a:buFont typeface="Arial" panose="020B0604020202020204" pitchFamily="34" charset="0"/>
              <a:buChar char="•"/>
            </a:pPr>
            <a:r>
              <a:rPr lang="en-US" b="1" noProof="1"/>
              <a:t>Gestion des NaNs :</a:t>
            </a:r>
            <a:r>
              <a:rPr lang="en-US" noProof="1"/>
              <a:t> Imputation (remplissage) des données manquantes par propagation (forward fill) pour éviter les trous dans les séries temporelles.</a:t>
            </a:r>
          </a:p>
        </p:txBody>
      </p:sp>
      <p:pic>
        <p:nvPicPr>
          <p:cNvPr id="9" name="Picture 8">
            <a:extLst>
              <a:ext uri="{FF2B5EF4-FFF2-40B4-BE49-F238E27FC236}">
                <a16:creationId xmlns:a16="http://schemas.microsoft.com/office/drawing/2014/main" id="{DA93A673-67DF-AD76-B008-A8AD815BB78A}"/>
              </a:ext>
            </a:extLst>
          </p:cNvPr>
          <p:cNvPicPr>
            <a:picLocks noChangeAspect="1"/>
          </p:cNvPicPr>
          <p:nvPr/>
        </p:nvPicPr>
        <p:blipFill>
          <a:blip r:embed="rId2"/>
          <a:stretch>
            <a:fillRect/>
          </a:stretch>
        </p:blipFill>
        <p:spPr>
          <a:xfrm>
            <a:off x="1141336" y="3602366"/>
            <a:ext cx="9909327" cy="1207377"/>
          </a:xfrm>
          <a:prstGeom prst="rect">
            <a:avLst/>
          </a:prstGeom>
        </p:spPr>
      </p:pic>
      <p:sp>
        <p:nvSpPr>
          <p:cNvPr id="10" name="Rectangle 9">
            <a:extLst>
              <a:ext uri="{FF2B5EF4-FFF2-40B4-BE49-F238E27FC236}">
                <a16:creationId xmlns:a16="http://schemas.microsoft.com/office/drawing/2014/main" id="{5E4AA8BB-6F8D-1A28-EE05-9B6EAE8B8D83}"/>
              </a:ext>
            </a:extLst>
          </p:cNvPr>
          <p:cNvSpPr/>
          <p:nvPr/>
        </p:nvSpPr>
        <p:spPr>
          <a:xfrm>
            <a:off x="8357616" y="4297680"/>
            <a:ext cx="2395728" cy="48463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923325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51A2-F33E-5C3C-4411-B057ED94ACC7}"/>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EB91F7A-6EA1-9700-3794-1FF94ED4768A}"/>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5185499-320A-C35B-603A-77CF4D4C80D2}"/>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052BB415-80AD-8DC0-06B6-2647775B6FB8}"/>
              </a:ext>
            </a:extLst>
          </p:cNvPr>
          <p:cNvSpPr txBox="1"/>
          <p:nvPr/>
        </p:nvSpPr>
        <p:spPr>
          <a:xfrm>
            <a:off x="658368" y="1011936"/>
            <a:ext cx="10698480" cy="369332"/>
          </a:xfrm>
          <a:prstGeom prst="rect">
            <a:avLst/>
          </a:prstGeom>
          <a:noFill/>
        </p:spPr>
        <p:txBody>
          <a:bodyPr wrap="square" rtlCol="0">
            <a:spAutoFit/>
          </a:bodyPr>
          <a:lstStyle/>
          <a:p>
            <a:r>
              <a:rPr lang="en-US" b="1" noProof="1"/>
              <a:t>3. Création des Alpha Factors (Feature Engineering)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F934749-8C7A-CF3F-22D0-5562D1A32550}"/>
                  </a:ext>
                </a:extLst>
              </p:cNvPr>
              <p:cNvSpPr txBox="1"/>
              <p:nvPr/>
            </p:nvSpPr>
            <p:spPr>
              <a:xfrm>
                <a:off x="658368" y="1454265"/>
                <a:ext cx="10698480" cy="646331"/>
              </a:xfrm>
              <a:prstGeom prst="rect">
                <a:avLst/>
              </a:prstGeom>
              <a:noFill/>
            </p:spPr>
            <p:txBody>
              <a:bodyPr wrap="square" rtlCol="0">
                <a:spAutoFit/>
              </a:bodyPr>
              <a:lstStyle/>
              <a:p>
                <a:r>
                  <a:rPr lang="en-US" noProof="1"/>
                  <a:t>C'est ici que l'on crée les variables explicatives (</a:t>
                </a:r>
                <a14:m>
                  <m:oMath xmlns:m="http://schemas.openxmlformats.org/officeDocument/2006/math">
                    <m:r>
                      <a:rPr lang="en-US" i="1" noProof="1" dirty="0" smtClean="0">
                        <a:latin typeface="Cambria Math" panose="02040503050406030204" pitchFamily="18" charset="0"/>
                      </a:rPr>
                      <m:t>𝑋</m:t>
                    </m:r>
                  </m:oMath>
                </a14:m>
                <a:r>
                  <a:rPr lang="en-US" noProof="1"/>
                  <a:t>). Nous transformons les prix en indicateurs mathématiques :</a:t>
                </a:r>
              </a:p>
            </p:txBody>
          </p:sp>
        </mc:Choice>
        <mc:Fallback xmlns="">
          <p:sp>
            <p:nvSpPr>
              <p:cNvPr id="5" name="TextBox 4">
                <a:extLst>
                  <a:ext uri="{FF2B5EF4-FFF2-40B4-BE49-F238E27FC236}">
                    <a16:creationId xmlns:a16="http://schemas.microsoft.com/office/drawing/2014/main" id="{0F934749-8C7A-CF3F-22D0-5562D1A32550}"/>
                  </a:ext>
                </a:extLst>
              </p:cNvPr>
              <p:cNvSpPr txBox="1">
                <a:spLocks noRot="1" noChangeAspect="1" noMove="1" noResize="1" noEditPoints="1" noAdjustHandles="1" noChangeArrowheads="1" noChangeShapeType="1" noTextEdit="1"/>
              </p:cNvSpPr>
              <p:nvPr/>
            </p:nvSpPr>
            <p:spPr>
              <a:xfrm>
                <a:off x="658368" y="1454265"/>
                <a:ext cx="10698480" cy="646331"/>
              </a:xfrm>
              <a:prstGeom prst="rect">
                <a:avLst/>
              </a:prstGeom>
              <a:blipFill>
                <a:blip r:embed="rId2"/>
                <a:stretch>
                  <a:fillRect l="-456" t="-4717" b="-1509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813F0A33-B284-47D3-8EED-006D3B74EF75}"/>
              </a:ext>
            </a:extLst>
          </p:cNvPr>
          <p:cNvSpPr txBox="1"/>
          <p:nvPr/>
        </p:nvSpPr>
        <p:spPr>
          <a:xfrm>
            <a:off x="658368" y="2173593"/>
            <a:ext cx="10698480" cy="1477328"/>
          </a:xfrm>
          <a:prstGeom prst="rect">
            <a:avLst/>
          </a:prstGeom>
          <a:noFill/>
        </p:spPr>
        <p:txBody>
          <a:bodyPr wrap="square" rtlCol="0">
            <a:spAutoFit/>
          </a:bodyPr>
          <a:lstStyle/>
          <a:p>
            <a:pPr marL="285750" indent="-285750">
              <a:buFont typeface="Arial" panose="020B0604020202020204" pitchFamily="34" charset="0"/>
              <a:buChar char="•"/>
            </a:pPr>
            <a:r>
              <a:rPr lang="en-US" b="1" noProof="1"/>
              <a:t>Rendements (Returns) :</a:t>
            </a:r>
            <a:r>
              <a:rPr lang="en-US" noProof="1"/>
              <a:t> Rendements logarithmiques sur plusieurs horizons (1 jour, 5 jours, 21 jours).</a:t>
            </a:r>
          </a:p>
          <a:p>
            <a:pPr marL="285750" indent="-285750">
              <a:buFont typeface="Arial" panose="020B0604020202020204" pitchFamily="34" charset="0"/>
              <a:buChar char="•"/>
            </a:pPr>
            <a:r>
              <a:rPr lang="en-US" b="1" noProof="1"/>
              <a:t>Momentum :</a:t>
            </a:r>
            <a:r>
              <a:rPr lang="en-US" noProof="1"/>
              <a:t> RSI (Relative Strength Index), MACD.</a:t>
            </a:r>
          </a:p>
          <a:p>
            <a:pPr marL="285750" indent="-285750">
              <a:buFont typeface="Arial" panose="020B0604020202020204" pitchFamily="34" charset="0"/>
              <a:buChar char="•"/>
            </a:pPr>
            <a:r>
              <a:rPr lang="en-US" b="1" noProof="1"/>
              <a:t>Volatilité :</a:t>
            </a:r>
            <a:r>
              <a:rPr lang="en-US" noProof="1"/>
              <a:t> Bandes de Bollinger, ATR (Average True Range).</a:t>
            </a:r>
          </a:p>
          <a:p>
            <a:pPr marL="285750" indent="-285750">
              <a:buFont typeface="Arial" panose="020B0604020202020204" pitchFamily="34" charset="0"/>
              <a:buChar char="•"/>
            </a:pPr>
            <a:r>
              <a:rPr lang="en-US" b="1" noProof="1"/>
              <a:t>Stationnarité :</a:t>
            </a:r>
            <a:r>
              <a:rPr lang="en-US" noProof="1"/>
              <a:t> Le ML n'aime pas les prix bruts (qui montent à l'infini). Nous utilisons des rendements ou des ratios pour que les données soient "stationnaires".</a:t>
            </a:r>
          </a:p>
        </p:txBody>
      </p:sp>
      <p:pic>
        <p:nvPicPr>
          <p:cNvPr id="9" name="Picture 8">
            <a:extLst>
              <a:ext uri="{FF2B5EF4-FFF2-40B4-BE49-F238E27FC236}">
                <a16:creationId xmlns:a16="http://schemas.microsoft.com/office/drawing/2014/main" id="{F15919EF-7F6A-64D8-A573-313E0AD5AEC6}"/>
              </a:ext>
            </a:extLst>
          </p:cNvPr>
          <p:cNvPicPr>
            <a:picLocks noChangeAspect="1"/>
          </p:cNvPicPr>
          <p:nvPr/>
        </p:nvPicPr>
        <p:blipFill>
          <a:blip r:embed="rId3"/>
          <a:stretch>
            <a:fillRect/>
          </a:stretch>
        </p:blipFill>
        <p:spPr>
          <a:xfrm>
            <a:off x="658369" y="3849101"/>
            <a:ext cx="10698480" cy="1692159"/>
          </a:xfrm>
          <a:prstGeom prst="rect">
            <a:avLst/>
          </a:prstGeom>
        </p:spPr>
      </p:pic>
    </p:spTree>
    <p:extLst>
      <p:ext uri="{BB962C8B-B14F-4D97-AF65-F5344CB8AC3E}">
        <p14:creationId xmlns:p14="http://schemas.microsoft.com/office/powerpoint/2010/main" val="2617903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52E7-A3A4-EBCB-2BE4-F338F456AABF}"/>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540218B-847A-3781-5D33-E2266404E0C0}"/>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1F229C-E1C9-3143-62F2-EBC165740462}"/>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19B7AC4C-2C86-71D6-9845-53AC54599E70}"/>
              </a:ext>
            </a:extLst>
          </p:cNvPr>
          <p:cNvSpPr txBox="1"/>
          <p:nvPr/>
        </p:nvSpPr>
        <p:spPr>
          <a:xfrm>
            <a:off x="658368" y="1130808"/>
            <a:ext cx="10698480" cy="369332"/>
          </a:xfrm>
          <a:prstGeom prst="rect">
            <a:avLst/>
          </a:prstGeom>
          <a:noFill/>
        </p:spPr>
        <p:txBody>
          <a:bodyPr wrap="square" rtlCol="0">
            <a:spAutoFit/>
          </a:bodyPr>
          <a:lstStyle/>
          <a:p>
            <a:r>
              <a:rPr lang="en-US" b="1" noProof="1"/>
              <a:t>3. Création des Alpha Factors (Feature Engineering)</a:t>
            </a:r>
          </a:p>
        </p:txBody>
      </p:sp>
      <p:sp>
        <p:nvSpPr>
          <p:cNvPr id="12" name="TextBox 11">
            <a:extLst>
              <a:ext uri="{FF2B5EF4-FFF2-40B4-BE49-F238E27FC236}">
                <a16:creationId xmlns:a16="http://schemas.microsoft.com/office/drawing/2014/main" id="{67C34A42-4388-5DA6-12AB-BBE2D3C552C9}"/>
              </a:ext>
            </a:extLst>
          </p:cNvPr>
          <p:cNvSpPr txBox="1"/>
          <p:nvPr/>
        </p:nvSpPr>
        <p:spPr>
          <a:xfrm>
            <a:off x="658368" y="1655588"/>
            <a:ext cx="6094476" cy="369332"/>
          </a:xfrm>
          <a:prstGeom prst="rect">
            <a:avLst/>
          </a:prstGeom>
          <a:noFill/>
        </p:spPr>
        <p:txBody>
          <a:bodyPr wrap="square">
            <a:spAutoFit/>
          </a:bodyPr>
          <a:lstStyle/>
          <a:p>
            <a:r>
              <a:rPr lang="en-US" b="1" noProof="1">
                <a:solidFill>
                  <a:schemeClr val="accent4">
                    <a:lumMod val="75000"/>
                  </a:schemeClr>
                </a:solidFill>
              </a:rPr>
              <a:t>RSI (Relative Strength Index)</a:t>
            </a:r>
            <a:endParaRPr lang="en-US" noProof="1"/>
          </a:p>
        </p:txBody>
      </p:sp>
      <p:sp>
        <p:nvSpPr>
          <p:cNvPr id="5" name="TextBox 4">
            <a:extLst>
              <a:ext uri="{FF2B5EF4-FFF2-40B4-BE49-F238E27FC236}">
                <a16:creationId xmlns:a16="http://schemas.microsoft.com/office/drawing/2014/main" id="{3B6BA772-CEFE-C7C7-375F-BCCBD6DE6828}"/>
              </a:ext>
            </a:extLst>
          </p:cNvPr>
          <p:cNvSpPr txBox="1"/>
          <p:nvPr/>
        </p:nvSpPr>
        <p:spPr>
          <a:xfrm>
            <a:off x="658368" y="2089452"/>
            <a:ext cx="10698480" cy="646331"/>
          </a:xfrm>
          <a:prstGeom prst="rect">
            <a:avLst/>
          </a:prstGeom>
          <a:noFill/>
        </p:spPr>
        <p:txBody>
          <a:bodyPr wrap="square" rtlCol="0">
            <a:spAutoFit/>
          </a:bodyPr>
          <a:lstStyle/>
          <a:p>
            <a:r>
              <a:rPr lang="en-US" noProof="1"/>
              <a:t>Le RSI mesure la vitesse et l’ampleur des variations de prix pour identifier les conditions de surachat ou de survente.</a:t>
            </a:r>
          </a:p>
        </p:txBody>
      </p:sp>
      <p:sp>
        <p:nvSpPr>
          <p:cNvPr id="20" name="TextBox 19">
            <a:extLst>
              <a:ext uri="{FF2B5EF4-FFF2-40B4-BE49-F238E27FC236}">
                <a16:creationId xmlns:a16="http://schemas.microsoft.com/office/drawing/2014/main" id="{E72231C3-0EA0-BAFE-8051-DC227108C9F7}"/>
              </a:ext>
            </a:extLst>
          </p:cNvPr>
          <p:cNvSpPr txBox="1"/>
          <p:nvPr/>
        </p:nvSpPr>
        <p:spPr>
          <a:xfrm>
            <a:off x="658368" y="2844225"/>
            <a:ext cx="2898648" cy="646331"/>
          </a:xfrm>
          <a:prstGeom prst="rect">
            <a:avLst/>
          </a:prstGeom>
          <a:noFill/>
        </p:spPr>
        <p:txBody>
          <a:bodyPr wrap="square" rtlCol="0">
            <a:spAutoFit/>
          </a:bodyPr>
          <a:lstStyle/>
          <a:p>
            <a:r>
              <a:rPr lang="en-US" noProof="1"/>
              <a:t>RSI &gt; 70 → surachat</a:t>
            </a:r>
          </a:p>
          <a:p>
            <a:r>
              <a:rPr lang="en-US" noProof="1"/>
              <a:t>RSI &lt; 30 → survente</a:t>
            </a:r>
          </a:p>
        </p:txBody>
      </p:sp>
      <p:pic>
        <p:nvPicPr>
          <p:cNvPr id="21" name="Espace réservé du contenu 7">
            <a:extLst>
              <a:ext uri="{FF2B5EF4-FFF2-40B4-BE49-F238E27FC236}">
                <a16:creationId xmlns:a16="http://schemas.microsoft.com/office/drawing/2014/main" id="{253894D8-1BB8-2DA6-4606-B5ED086604F2}"/>
              </a:ext>
            </a:extLst>
          </p:cNvPr>
          <p:cNvPicPr>
            <a:picLocks noChangeAspect="1"/>
          </p:cNvPicPr>
          <p:nvPr/>
        </p:nvPicPr>
        <p:blipFill>
          <a:blip r:embed="rId2"/>
          <a:stretch>
            <a:fillRect/>
          </a:stretch>
        </p:blipFill>
        <p:spPr>
          <a:xfrm>
            <a:off x="658368" y="3598998"/>
            <a:ext cx="5181600" cy="1986015"/>
          </a:xfrm>
          <a:prstGeom prst="rect">
            <a:avLst/>
          </a:prstGeom>
        </p:spPr>
      </p:pic>
      <p:pic>
        <p:nvPicPr>
          <p:cNvPr id="6" name="Picture 5">
            <a:extLst>
              <a:ext uri="{FF2B5EF4-FFF2-40B4-BE49-F238E27FC236}">
                <a16:creationId xmlns:a16="http://schemas.microsoft.com/office/drawing/2014/main" id="{DE50B0FA-7B1B-9DDE-36F2-F375CDCD762B}"/>
              </a:ext>
            </a:extLst>
          </p:cNvPr>
          <p:cNvPicPr>
            <a:picLocks noChangeAspect="1"/>
          </p:cNvPicPr>
          <p:nvPr/>
        </p:nvPicPr>
        <p:blipFill>
          <a:blip r:embed="rId3"/>
          <a:stretch>
            <a:fillRect/>
          </a:stretch>
        </p:blipFill>
        <p:spPr>
          <a:xfrm>
            <a:off x="6045248" y="2800315"/>
            <a:ext cx="5311600" cy="2834886"/>
          </a:xfrm>
          <a:prstGeom prst="rect">
            <a:avLst/>
          </a:prstGeom>
          <a:ln>
            <a:solidFill>
              <a:schemeClr val="accent2"/>
            </a:solidFill>
          </a:ln>
        </p:spPr>
      </p:pic>
    </p:spTree>
    <p:extLst>
      <p:ext uri="{BB962C8B-B14F-4D97-AF65-F5344CB8AC3E}">
        <p14:creationId xmlns:p14="http://schemas.microsoft.com/office/powerpoint/2010/main" val="1213518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060B4-281E-6DA5-5579-36F2A07CF75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2CEE0F7-F104-776D-0221-495A433B3AB9}"/>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AFE0D28-FEB6-46E1-C45D-9863FB150DA9}"/>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6555F4B1-A236-12AC-C47C-97F99522ACE6}"/>
              </a:ext>
            </a:extLst>
          </p:cNvPr>
          <p:cNvSpPr txBox="1"/>
          <p:nvPr/>
        </p:nvSpPr>
        <p:spPr>
          <a:xfrm>
            <a:off x="658368" y="1130808"/>
            <a:ext cx="10698480" cy="369332"/>
          </a:xfrm>
          <a:prstGeom prst="rect">
            <a:avLst/>
          </a:prstGeom>
          <a:noFill/>
        </p:spPr>
        <p:txBody>
          <a:bodyPr wrap="square" rtlCol="0">
            <a:spAutoFit/>
          </a:bodyPr>
          <a:lstStyle/>
          <a:p>
            <a:r>
              <a:rPr lang="en-US" b="1" noProof="1"/>
              <a:t>3. Création des Alpha Factors (Feature Engineering)</a:t>
            </a:r>
          </a:p>
        </p:txBody>
      </p:sp>
      <p:sp>
        <p:nvSpPr>
          <p:cNvPr id="22" name="TextBox 21">
            <a:extLst>
              <a:ext uri="{FF2B5EF4-FFF2-40B4-BE49-F238E27FC236}">
                <a16:creationId xmlns:a16="http://schemas.microsoft.com/office/drawing/2014/main" id="{0D011C48-C46E-CD99-D88C-C8B9880A3CC0}"/>
              </a:ext>
            </a:extLst>
          </p:cNvPr>
          <p:cNvSpPr txBox="1"/>
          <p:nvPr/>
        </p:nvSpPr>
        <p:spPr>
          <a:xfrm>
            <a:off x="591312" y="1682025"/>
            <a:ext cx="6094476" cy="369332"/>
          </a:xfrm>
          <a:prstGeom prst="rect">
            <a:avLst/>
          </a:prstGeom>
          <a:noFill/>
        </p:spPr>
        <p:txBody>
          <a:bodyPr wrap="square">
            <a:spAutoFit/>
          </a:bodyPr>
          <a:lstStyle/>
          <a:p>
            <a:r>
              <a:rPr lang="en-US" b="1" noProof="1">
                <a:solidFill>
                  <a:schemeClr val="accent4">
                    <a:lumMod val="75000"/>
                  </a:schemeClr>
                </a:solidFill>
              </a:rPr>
              <a:t>MACD (Moving Average Convergence  Divergence)</a:t>
            </a:r>
            <a:endParaRPr lang="en-US" noProof="1"/>
          </a:p>
        </p:txBody>
      </p:sp>
      <p:sp>
        <p:nvSpPr>
          <p:cNvPr id="23" name="TextBox 22">
            <a:extLst>
              <a:ext uri="{FF2B5EF4-FFF2-40B4-BE49-F238E27FC236}">
                <a16:creationId xmlns:a16="http://schemas.microsoft.com/office/drawing/2014/main" id="{26CC5E7E-8012-6434-0266-6820DFFCE897}"/>
              </a:ext>
            </a:extLst>
          </p:cNvPr>
          <p:cNvSpPr txBox="1"/>
          <p:nvPr/>
        </p:nvSpPr>
        <p:spPr>
          <a:xfrm>
            <a:off x="591312" y="2098363"/>
            <a:ext cx="10698480" cy="369332"/>
          </a:xfrm>
          <a:prstGeom prst="rect">
            <a:avLst/>
          </a:prstGeom>
          <a:noFill/>
        </p:spPr>
        <p:txBody>
          <a:bodyPr wrap="square" rtlCol="0">
            <a:spAutoFit/>
          </a:bodyPr>
          <a:lstStyle/>
          <a:p>
            <a:r>
              <a:rPr lang="en-US" noProof="1"/>
              <a:t>Le MACD compare deux moyennes mobiles pour détecter les changements de tendance.</a:t>
            </a:r>
          </a:p>
        </p:txBody>
      </p:sp>
      <p:pic>
        <p:nvPicPr>
          <p:cNvPr id="6" name="Picture 5">
            <a:extLst>
              <a:ext uri="{FF2B5EF4-FFF2-40B4-BE49-F238E27FC236}">
                <a16:creationId xmlns:a16="http://schemas.microsoft.com/office/drawing/2014/main" id="{EC0B9BAE-804A-8C4C-D66E-8263736C873E}"/>
              </a:ext>
            </a:extLst>
          </p:cNvPr>
          <p:cNvPicPr>
            <a:picLocks noChangeAspect="1"/>
          </p:cNvPicPr>
          <p:nvPr/>
        </p:nvPicPr>
        <p:blipFill>
          <a:blip r:embed="rId2"/>
          <a:stretch>
            <a:fillRect/>
          </a:stretch>
        </p:blipFill>
        <p:spPr>
          <a:xfrm>
            <a:off x="2862072" y="2530346"/>
            <a:ext cx="6467856" cy="4068830"/>
          </a:xfrm>
          <a:prstGeom prst="rect">
            <a:avLst/>
          </a:prstGeom>
          <a:ln>
            <a:solidFill>
              <a:schemeClr val="accent2"/>
            </a:solidFill>
          </a:ln>
        </p:spPr>
      </p:pic>
    </p:spTree>
    <p:extLst>
      <p:ext uri="{BB962C8B-B14F-4D97-AF65-F5344CB8AC3E}">
        <p14:creationId xmlns:p14="http://schemas.microsoft.com/office/powerpoint/2010/main" val="2694631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3AC6A-B586-62F2-069D-82197E7D55D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D6DB526-A6A3-2544-E33F-FCBE495A7987}"/>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E612D9E-45F4-35BE-8B69-06461ACF433F}"/>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6F041837-FC5C-5976-2FA7-7D409B54A0FF}"/>
              </a:ext>
            </a:extLst>
          </p:cNvPr>
          <p:cNvSpPr txBox="1"/>
          <p:nvPr/>
        </p:nvSpPr>
        <p:spPr>
          <a:xfrm>
            <a:off x="658368" y="1130808"/>
            <a:ext cx="10698480" cy="369332"/>
          </a:xfrm>
          <a:prstGeom prst="rect">
            <a:avLst/>
          </a:prstGeom>
          <a:noFill/>
        </p:spPr>
        <p:txBody>
          <a:bodyPr wrap="square" rtlCol="0">
            <a:spAutoFit/>
          </a:bodyPr>
          <a:lstStyle/>
          <a:p>
            <a:r>
              <a:rPr lang="en-US" b="1" noProof="1"/>
              <a:t>3. Création des Alpha Factors (Feature Engineering)</a:t>
            </a:r>
          </a:p>
        </p:txBody>
      </p:sp>
      <p:pic>
        <p:nvPicPr>
          <p:cNvPr id="8" name="Image 5">
            <a:extLst>
              <a:ext uri="{FF2B5EF4-FFF2-40B4-BE49-F238E27FC236}">
                <a16:creationId xmlns:a16="http://schemas.microsoft.com/office/drawing/2014/main" id="{C6AC1F9D-ED1B-7796-7FB5-23496DB4508B}"/>
              </a:ext>
            </a:extLst>
          </p:cNvPr>
          <p:cNvPicPr>
            <a:picLocks noChangeAspect="1"/>
          </p:cNvPicPr>
          <p:nvPr/>
        </p:nvPicPr>
        <p:blipFill>
          <a:blip r:embed="rId2"/>
          <a:stretch>
            <a:fillRect/>
          </a:stretch>
        </p:blipFill>
        <p:spPr>
          <a:xfrm>
            <a:off x="658368" y="2336924"/>
            <a:ext cx="3305175" cy="1000125"/>
          </a:xfrm>
          <a:prstGeom prst="rect">
            <a:avLst/>
          </a:prstGeom>
          <a:ln>
            <a:solidFill>
              <a:schemeClr val="accent2"/>
            </a:solidFill>
          </a:ln>
        </p:spPr>
      </p:pic>
      <p:sp>
        <p:nvSpPr>
          <p:cNvPr id="9" name="TextBox 8">
            <a:extLst>
              <a:ext uri="{FF2B5EF4-FFF2-40B4-BE49-F238E27FC236}">
                <a16:creationId xmlns:a16="http://schemas.microsoft.com/office/drawing/2014/main" id="{8B34E9F8-0F71-D9EC-DFD0-CEB005763E6F}"/>
              </a:ext>
            </a:extLst>
          </p:cNvPr>
          <p:cNvSpPr txBox="1"/>
          <p:nvPr/>
        </p:nvSpPr>
        <p:spPr>
          <a:xfrm>
            <a:off x="658368" y="3294186"/>
            <a:ext cx="4249674" cy="1714380"/>
          </a:xfrm>
          <a:prstGeom prst="rect">
            <a:avLst/>
          </a:prstGeom>
          <a:noFill/>
        </p:spPr>
        <p:txBody>
          <a:bodyPr wrap="square">
            <a:spAutoFit/>
          </a:bodyPr>
          <a:lstStyle/>
          <a:p>
            <a:pPr algn="just">
              <a:lnSpc>
                <a:spcPct val="150000"/>
              </a:lnSpc>
            </a:pPr>
            <a:r>
              <a:rPr lang="en-US" noProof="1"/>
              <a:t>Exprime la variation en pourcentage.</a:t>
            </a:r>
          </a:p>
          <a:p>
            <a:pPr lvl="1" algn="just">
              <a:lnSpc>
                <a:spcPct val="150000"/>
              </a:lnSpc>
              <a:buFont typeface="Wingdings" panose="05000000000000000000" pitchFamily="2" charset="2"/>
              <a:buChar char="§"/>
            </a:pPr>
            <a:r>
              <a:rPr lang="en-US" b="1" noProof="1"/>
              <a:t>Return &gt; 0 </a:t>
            </a:r>
            <a:r>
              <a:rPr lang="en-US" noProof="1"/>
              <a:t>→ Hausse du prix (gain)</a:t>
            </a:r>
          </a:p>
          <a:p>
            <a:pPr lvl="1" algn="just">
              <a:lnSpc>
                <a:spcPct val="150000"/>
              </a:lnSpc>
              <a:buFont typeface="Wingdings" panose="05000000000000000000" pitchFamily="2" charset="2"/>
              <a:buChar char="§"/>
            </a:pPr>
            <a:r>
              <a:rPr lang="en-US" b="1" noProof="1"/>
              <a:t>Return &lt; 0 </a:t>
            </a:r>
            <a:r>
              <a:rPr lang="en-US" noProof="1"/>
              <a:t>→ Baisse du prix (perte)</a:t>
            </a:r>
          </a:p>
          <a:p>
            <a:pPr lvl="1" algn="just">
              <a:lnSpc>
                <a:spcPct val="150000"/>
              </a:lnSpc>
              <a:buFont typeface="Wingdings" panose="05000000000000000000" pitchFamily="2" charset="2"/>
              <a:buChar char="§"/>
            </a:pPr>
            <a:r>
              <a:rPr lang="en-US" b="1" noProof="1"/>
              <a:t>Return = 0 </a:t>
            </a:r>
            <a:r>
              <a:rPr lang="en-US" noProof="1"/>
              <a:t>→ Prix stable</a:t>
            </a:r>
          </a:p>
        </p:txBody>
      </p:sp>
      <p:pic>
        <p:nvPicPr>
          <p:cNvPr id="10" name="Espace réservé du contenu 1">
            <a:extLst>
              <a:ext uri="{FF2B5EF4-FFF2-40B4-BE49-F238E27FC236}">
                <a16:creationId xmlns:a16="http://schemas.microsoft.com/office/drawing/2014/main" id="{A30AFE4B-1674-B8D0-1A88-AE55FE4B5F90}"/>
              </a:ext>
            </a:extLst>
          </p:cNvPr>
          <p:cNvPicPr>
            <a:picLocks noChangeAspect="1"/>
          </p:cNvPicPr>
          <p:nvPr/>
        </p:nvPicPr>
        <p:blipFill>
          <a:blip r:embed="rId3"/>
          <a:stretch>
            <a:fillRect/>
          </a:stretch>
        </p:blipFill>
        <p:spPr>
          <a:xfrm>
            <a:off x="4917823" y="2373500"/>
            <a:ext cx="6439025" cy="2620911"/>
          </a:xfrm>
          <a:prstGeom prst="rect">
            <a:avLst/>
          </a:prstGeom>
          <a:ln>
            <a:solidFill>
              <a:schemeClr val="accent2"/>
            </a:solidFill>
          </a:ln>
        </p:spPr>
      </p:pic>
      <p:sp>
        <p:nvSpPr>
          <p:cNvPr id="12" name="TextBox 11">
            <a:extLst>
              <a:ext uri="{FF2B5EF4-FFF2-40B4-BE49-F238E27FC236}">
                <a16:creationId xmlns:a16="http://schemas.microsoft.com/office/drawing/2014/main" id="{1BAFBA38-8C14-5624-B358-F2E7F71AE113}"/>
              </a:ext>
            </a:extLst>
          </p:cNvPr>
          <p:cNvSpPr txBox="1"/>
          <p:nvPr/>
        </p:nvSpPr>
        <p:spPr>
          <a:xfrm>
            <a:off x="658368" y="1655588"/>
            <a:ext cx="6094476" cy="369332"/>
          </a:xfrm>
          <a:prstGeom prst="rect">
            <a:avLst/>
          </a:prstGeom>
          <a:noFill/>
        </p:spPr>
        <p:txBody>
          <a:bodyPr wrap="square">
            <a:spAutoFit/>
          </a:bodyPr>
          <a:lstStyle/>
          <a:p>
            <a:r>
              <a:rPr lang="en-US" sz="1800" b="1" noProof="1">
                <a:solidFill>
                  <a:schemeClr val="accent4">
                    <a:lumMod val="75000"/>
                  </a:schemeClr>
                </a:solidFill>
              </a:rPr>
              <a:t>Return (Rendement journalier)</a:t>
            </a:r>
            <a:endParaRPr lang="en-US" noProof="1"/>
          </a:p>
        </p:txBody>
      </p:sp>
    </p:spTree>
    <p:extLst>
      <p:ext uri="{BB962C8B-B14F-4D97-AF65-F5344CB8AC3E}">
        <p14:creationId xmlns:p14="http://schemas.microsoft.com/office/powerpoint/2010/main" val="4170129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6F2C1-E7B4-3180-DB9E-989CFF05DD89}"/>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937D9E9-D594-DDFC-3214-1C4430336C49}"/>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FC2F45C-A773-EBD9-25EE-02EACE8F766A}"/>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D31F6434-793F-01ED-8091-AE24D01BAFA5}"/>
              </a:ext>
            </a:extLst>
          </p:cNvPr>
          <p:cNvSpPr txBox="1"/>
          <p:nvPr/>
        </p:nvSpPr>
        <p:spPr>
          <a:xfrm>
            <a:off x="658368" y="1130808"/>
            <a:ext cx="10698480" cy="369332"/>
          </a:xfrm>
          <a:prstGeom prst="rect">
            <a:avLst/>
          </a:prstGeom>
          <a:noFill/>
        </p:spPr>
        <p:txBody>
          <a:bodyPr wrap="square" rtlCol="0">
            <a:spAutoFit/>
          </a:bodyPr>
          <a:lstStyle/>
          <a:p>
            <a:r>
              <a:rPr lang="en-US" b="1" noProof="1"/>
              <a:t>3. Création des Alpha Factors (Feature Engineering)</a:t>
            </a:r>
          </a:p>
        </p:txBody>
      </p:sp>
      <p:sp>
        <p:nvSpPr>
          <p:cNvPr id="12" name="TextBox 11">
            <a:extLst>
              <a:ext uri="{FF2B5EF4-FFF2-40B4-BE49-F238E27FC236}">
                <a16:creationId xmlns:a16="http://schemas.microsoft.com/office/drawing/2014/main" id="{45806502-FA14-249F-91FA-2888777E7573}"/>
              </a:ext>
            </a:extLst>
          </p:cNvPr>
          <p:cNvSpPr txBox="1"/>
          <p:nvPr/>
        </p:nvSpPr>
        <p:spPr>
          <a:xfrm>
            <a:off x="658368" y="1655588"/>
            <a:ext cx="6094476" cy="369332"/>
          </a:xfrm>
          <a:prstGeom prst="rect">
            <a:avLst/>
          </a:prstGeom>
          <a:noFill/>
        </p:spPr>
        <p:txBody>
          <a:bodyPr wrap="square">
            <a:spAutoFit/>
          </a:bodyPr>
          <a:lstStyle/>
          <a:p>
            <a:r>
              <a:rPr lang="en-US" b="1" noProof="1">
                <a:solidFill>
                  <a:schemeClr val="accent4">
                    <a:lumMod val="75000"/>
                  </a:schemeClr>
                </a:solidFill>
              </a:rPr>
              <a:t>Bollinger Bands (BB)</a:t>
            </a:r>
            <a:endParaRPr lang="en-US" noProof="1"/>
          </a:p>
        </p:txBody>
      </p:sp>
      <p:sp>
        <p:nvSpPr>
          <p:cNvPr id="5" name="TextBox 4">
            <a:extLst>
              <a:ext uri="{FF2B5EF4-FFF2-40B4-BE49-F238E27FC236}">
                <a16:creationId xmlns:a16="http://schemas.microsoft.com/office/drawing/2014/main" id="{721E8734-4539-D256-3D64-2891598313E1}"/>
              </a:ext>
            </a:extLst>
          </p:cNvPr>
          <p:cNvSpPr txBox="1"/>
          <p:nvPr/>
        </p:nvSpPr>
        <p:spPr>
          <a:xfrm>
            <a:off x="658368" y="2089452"/>
            <a:ext cx="10698480" cy="369332"/>
          </a:xfrm>
          <a:prstGeom prst="rect">
            <a:avLst/>
          </a:prstGeom>
          <a:noFill/>
        </p:spPr>
        <p:txBody>
          <a:bodyPr wrap="square" rtlCol="0">
            <a:spAutoFit/>
          </a:bodyPr>
          <a:lstStyle/>
          <a:p>
            <a:r>
              <a:rPr lang="en-US" noProof="1"/>
              <a:t>Les bandes de Bollinger mesurent la volatilité et les niveaux de prix extrêmes.</a:t>
            </a:r>
          </a:p>
        </p:txBody>
      </p:sp>
      <p:sp>
        <p:nvSpPr>
          <p:cNvPr id="20" name="TextBox 19">
            <a:extLst>
              <a:ext uri="{FF2B5EF4-FFF2-40B4-BE49-F238E27FC236}">
                <a16:creationId xmlns:a16="http://schemas.microsoft.com/office/drawing/2014/main" id="{60AC57AF-A63B-1879-5C7D-DF77E384F308}"/>
              </a:ext>
            </a:extLst>
          </p:cNvPr>
          <p:cNvSpPr txBox="1"/>
          <p:nvPr/>
        </p:nvSpPr>
        <p:spPr>
          <a:xfrm>
            <a:off x="658368" y="2614232"/>
            <a:ext cx="7534656" cy="646331"/>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noProof="1"/>
              <a:t>Le prix qui touche la bande supérieure peut indiquer un sur achat.</a:t>
            </a:r>
          </a:p>
          <a:p>
            <a:pPr marL="285750" lvl="0" indent="-285750" eaLnBrk="0" fontAlgn="base" hangingPunct="0">
              <a:spcBef>
                <a:spcPct val="0"/>
              </a:spcBef>
              <a:spcAft>
                <a:spcPct val="0"/>
              </a:spcAft>
              <a:buFont typeface="Arial" panose="020B0604020202020204" pitchFamily="34" charset="0"/>
              <a:buChar char="•"/>
            </a:pPr>
            <a:r>
              <a:rPr lang="en-US" noProof="1"/>
              <a:t>Le prix qui touche la bande inférieure peut indiquer une sur vendue. </a:t>
            </a:r>
          </a:p>
        </p:txBody>
      </p:sp>
      <p:pic>
        <p:nvPicPr>
          <p:cNvPr id="2" name="Image 11">
            <a:extLst>
              <a:ext uri="{FF2B5EF4-FFF2-40B4-BE49-F238E27FC236}">
                <a16:creationId xmlns:a16="http://schemas.microsoft.com/office/drawing/2014/main" id="{4F45E8F1-6C68-CA03-FEE4-7700B483054D}"/>
              </a:ext>
            </a:extLst>
          </p:cNvPr>
          <p:cNvPicPr>
            <a:picLocks noChangeAspect="1"/>
          </p:cNvPicPr>
          <p:nvPr/>
        </p:nvPicPr>
        <p:blipFill>
          <a:blip r:embed="rId2"/>
          <a:srcRect r="1176"/>
          <a:stretch>
            <a:fillRect/>
          </a:stretch>
        </p:blipFill>
        <p:spPr>
          <a:xfrm>
            <a:off x="2876931" y="3260563"/>
            <a:ext cx="6261353" cy="3324761"/>
          </a:xfrm>
          <a:prstGeom prst="rect">
            <a:avLst/>
          </a:prstGeom>
          <a:ln>
            <a:solidFill>
              <a:schemeClr val="accent3">
                <a:lumMod val="20000"/>
                <a:lumOff val="80000"/>
              </a:schemeClr>
            </a:solidFill>
          </a:ln>
        </p:spPr>
      </p:pic>
    </p:spTree>
    <p:extLst>
      <p:ext uri="{BB962C8B-B14F-4D97-AF65-F5344CB8AC3E}">
        <p14:creationId xmlns:p14="http://schemas.microsoft.com/office/powerpoint/2010/main" val="3379737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720F-9577-B0BA-F6B9-5CBD6C5A9354}"/>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CEBACAA-6376-A1F9-C048-68864C5AFA1B}"/>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C594FED-2F8B-3834-4CD8-D47B2095FDB9}"/>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D492B2F-8029-6829-B85D-07611C39FA62}"/>
                  </a:ext>
                </a:extLst>
              </p:cNvPr>
              <p:cNvSpPr txBox="1"/>
              <p:nvPr/>
            </p:nvSpPr>
            <p:spPr>
              <a:xfrm>
                <a:off x="658368" y="1030224"/>
                <a:ext cx="10698480" cy="369332"/>
              </a:xfrm>
              <a:prstGeom prst="rect">
                <a:avLst/>
              </a:prstGeom>
              <a:noFill/>
            </p:spPr>
            <p:txBody>
              <a:bodyPr wrap="square" rtlCol="0">
                <a:spAutoFit/>
              </a:bodyPr>
              <a:lstStyle/>
              <a:p>
                <a:r>
                  <a:rPr lang="en-US" b="1" noProof="1"/>
                  <a:t>4. Définition de la Cible (Target - </a:t>
                </a:r>
                <a14:m>
                  <m:oMath xmlns:m="http://schemas.openxmlformats.org/officeDocument/2006/math">
                    <m:r>
                      <a:rPr lang="en-US" i="1" noProof="1" dirty="0" smtClean="0">
                        <a:latin typeface="Cambria Math" panose="02040503050406030204" pitchFamily="18" charset="0"/>
                      </a:rPr>
                      <m:t>𝑦</m:t>
                    </m:r>
                  </m:oMath>
                </a14:m>
                <a:r>
                  <a:rPr lang="en-US" b="1" noProof="1"/>
                  <a:t>)</a:t>
                </a:r>
              </a:p>
            </p:txBody>
          </p:sp>
        </mc:Choice>
        <mc:Fallback xmlns="">
          <p:sp>
            <p:nvSpPr>
              <p:cNvPr id="4" name="TextBox 3">
                <a:extLst>
                  <a:ext uri="{FF2B5EF4-FFF2-40B4-BE49-F238E27FC236}">
                    <a16:creationId xmlns:a16="http://schemas.microsoft.com/office/drawing/2014/main" id="{9D492B2F-8029-6829-B85D-07611C39FA62}"/>
                  </a:ext>
                </a:extLst>
              </p:cNvPr>
              <p:cNvSpPr txBox="1">
                <a:spLocks noRot="1" noChangeAspect="1" noMove="1" noResize="1" noEditPoints="1" noAdjustHandles="1" noChangeArrowheads="1" noChangeShapeType="1" noTextEdit="1"/>
              </p:cNvSpPr>
              <p:nvPr/>
            </p:nvSpPr>
            <p:spPr>
              <a:xfrm>
                <a:off x="658368" y="1030224"/>
                <a:ext cx="10698480" cy="369332"/>
              </a:xfrm>
              <a:prstGeom prst="rect">
                <a:avLst/>
              </a:prstGeom>
              <a:blipFill>
                <a:blip r:embed="rId2"/>
                <a:stretch>
                  <a:fillRect l="-456" t="-6557" b="-2623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3558A193-B6DA-B276-6D4E-143CC2D1088D}"/>
              </a:ext>
            </a:extLst>
          </p:cNvPr>
          <p:cNvSpPr txBox="1"/>
          <p:nvPr/>
        </p:nvSpPr>
        <p:spPr>
          <a:xfrm>
            <a:off x="658368" y="1472553"/>
            <a:ext cx="10698480" cy="369332"/>
          </a:xfrm>
          <a:prstGeom prst="rect">
            <a:avLst/>
          </a:prstGeom>
          <a:noFill/>
        </p:spPr>
        <p:txBody>
          <a:bodyPr wrap="square" rtlCol="0">
            <a:spAutoFit/>
          </a:bodyPr>
          <a:lstStyle/>
          <a:p>
            <a:r>
              <a:rPr lang="en-US" noProof="1"/>
              <a:t>Que voulons-nous prédire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D416EE8-84BB-3A1A-2C52-BA450ED2FDD3}"/>
                  </a:ext>
                </a:extLst>
              </p:cNvPr>
              <p:cNvSpPr txBox="1"/>
              <p:nvPr/>
            </p:nvSpPr>
            <p:spPr>
              <a:xfrm>
                <a:off x="658368" y="1914882"/>
                <a:ext cx="10698480" cy="923330"/>
              </a:xfrm>
              <a:prstGeom prst="rect">
                <a:avLst/>
              </a:prstGeom>
              <a:noFill/>
            </p:spPr>
            <p:txBody>
              <a:bodyPr wrap="square" rtlCol="0">
                <a:spAutoFit/>
              </a:bodyPr>
              <a:lstStyle/>
              <a:p>
                <a:pPr marL="285750" indent="-285750">
                  <a:buFont typeface="Arial" panose="020B0604020202020204" pitchFamily="34" charset="0"/>
                  <a:buChar char="•"/>
                </a:pPr>
                <a:r>
                  <a:rPr lang="en-US" noProof="1"/>
                  <a:t>Dans le workflow Jansen, la cible est généralement le </a:t>
                </a:r>
                <a:r>
                  <a:rPr lang="en-US" b="1" noProof="1"/>
                  <a:t>rendement futur à </a:t>
                </a:r>
                <a14:m>
                  <m:oMath xmlns:m="http://schemas.openxmlformats.org/officeDocument/2006/math">
                    <m:r>
                      <a:rPr lang="en-US" i="1" noProof="1" dirty="0" smtClean="0">
                        <a:latin typeface="Cambria Math" panose="02040503050406030204" pitchFamily="18" charset="0"/>
                      </a:rPr>
                      <m:t>𝑁</m:t>
                    </m:r>
                  </m:oMath>
                </a14:m>
                <a:r>
                  <a:rPr lang="en-US" b="1" noProof="1"/>
                  <a:t> jours</a:t>
                </a:r>
                <a:r>
                  <a:rPr lang="en-US" noProof="1"/>
                  <a:t> (Forward Returns).</a:t>
                </a:r>
              </a:p>
              <a:p>
                <a:pPr marL="285750" indent="-285750">
                  <a:buFont typeface="Arial" panose="020B0604020202020204" pitchFamily="34" charset="0"/>
                  <a:buChar char="•"/>
                </a:pPr>
                <a:r>
                  <a:rPr lang="en-US" i="1" noProof="1"/>
                  <a:t>Exemple :</a:t>
                </a:r>
                <a:r>
                  <a:rPr lang="en-US" noProof="1"/>
                  <a:t> Prédire si le rendement dans 5 jours sera positif ou négatif (Classification) ou prédire la valeur exacte du rendement (Régression).</a:t>
                </a:r>
              </a:p>
            </p:txBody>
          </p:sp>
        </mc:Choice>
        <mc:Fallback xmlns="">
          <p:sp>
            <p:nvSpPr>
              <p:cNvPr id="6" name="TextBox 5">
                <a:extLst>
                  <a:ext uri="{FF2B5EF4-FFF2-40B4-BE49-F238E27FC236}">
                    <a16:creationId xmlns:a16="http://schemas.microsoft.com/office/drawing/2014/main" id="{CD416EE8-84BB-3A1A-2C52-BA450ED2FDD3}"/>
                  </a:ext>
                </a:extLst>
              </p:cNvPr>
              <p:cNvSpPr txBox="1">
                <a:spLocks noRot="1" noChangeAspect="1" noMove="1" noResize="1" noEditPoints="1" noAdjustHandles="1" noChangeArrowheads="1" noChangeShapeType="1" noTextEdit="1"/>
              </p:cNvSpPr>
              <p:nvPr/>
            </p:nvSpPr>
            <p:spPr>
              <a:xfrm>
                <a:off x="658368" y="1914882"/>
                <a:ext cx="10698480" cy="923330"/>
              </a:xfrm>
              <a:prstGeom prst="rect">
                <a:avLst/>
              </a:prstGeom>
              <a:blipFill>
                <a:blip r:embed="rId3"/>
                <a:stretch>
                  <a:fillRect l="-342" t="-2632" b="-9868"/>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5D563427-FAAF-3784-A8C2-CBC8628502B6}"/>
              </a:ext>
            </a:extLst>
          </p:cNvPr>
          <p:cNvPicPr>
            <a:picLocks noChangeAspect="1"/>
          </p:cNvPicPr>
          <p:nvPr/>
        </p:nvPicPr>
        <p:blipFill>
          <a:blip r:embed="rId4"/>
          <a:stretch>
            <a:fillRect/>
          </a:stretch>
        </p:blipFill>
        <p:spPr>
          <a:xfrm>
            <a:off x="1481932" y="3429000"/>
            <a:ext cx="9228135" cy="2738672"/>
          </a:xfrm>
          <a:prstGeom prst="rect">
            <a:avLst/>
          </a:prstGeom>
          <a:ln>
            <a:solidFill>
              <a:schemeClr val="accent2"/>
            </a:solidFill>
          </a:ln>
        </p:spPr>
      </p:pic>
    </p:spTree>
    <p:extLst>
      <p:ext uri="{BB962C8B-B14F-4D97-AF65-F5344CB8AC3E}">
        <p14:creationId xmlns:p14="http://schemas.microsoft.com/office/powerpoint/2010/main" val="1311604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FB713-9775-46AC-57BC-6A372E28F35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8C29DB5-36FF-6AF2-D764-15CC25634BA2}"/>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4D011C0-DB4A-C83B-697D-0147526CD0B4}"/>
              </a:ext>
            </a:extLst>
          </p:cNvPr>
          <p:cNvSpPr txBox="1"/>
          <p:nvPr/>
        </p:nvSpPr>
        <p:spPr>
          <a:xfrm>
            <a:off x="658368" y="336542"/>
            <a:ext cx="10808208" cy="461665"/>
          </a:xfrm>
          <a:prstGeom prst="rect">
            <a:avLst/>
          </a:prstGeom>
          <a:noFill/>
        </p:spPr>
        <p:txBody>
          <a:bodyPr wrap="square">
            <a:spAutoFit/>
          </a:bodyPr>
          <a:lstStyle/>
          <a:p>
            <a:r>
              <a:rPr lang="en-US" sz="2400" b="1" noProof="1"/>
              <a:t>LE DATASET (SOURCING &amp; FEATURE ENGINEERING)</a:t>
            </a:r>
          </a:p>
        </p:txBody>
      </p:sp>
      <p:sp>
        <p:nvSpPr>
          <p:cNvPr id="4" name="TextBox 3">
            <a:extLst>
              <a:ext uri="{FF2B5EF4-FFF2-40B4-BE49-F238E27FC236}">
                <a16:creationId xmlns:a16="http://schemas.microsoft.com/office/drawing/2014/main" id="{14E384C8-0E1B-787C-240A-B5406D973B75}"/>
              </a:ext>
            </a:extLst>
          </p:cNvPr>
          <p:cNvSpPr txBox="1"/>
          <p:nvPr/>
        </p:nvSpPr>
        <p:spPr>
          <a:xfrm>
            <a:off x="658368" y="1002792"/>
            <a:ext cx="10698480" cy="369332"/>
          </a:xfrm>
          <a:prstGeom prst="rect">
            <a:avLst/>
          </a:prstGeom>
          <a:noFill/>
        </p:spPr>
        <p:txBody>
          <a:bodyPr wrap="square" rtlCol="0">
            <a:spAutoFit/>
          </a:bodyPr>
          <a:lstStyle/>
          <a:p>
            <a:r>
              <a:rPr lang="en-US" b="1" noProof="1"/>
              <a:t>5. Prévention des Biais</a:t>
            </a:r>
          </a:p>
        </p:txBody>
      </p:sp>
      <p:sp>
        <p:nvSpPr>
          <p:cNvPr id="5" name="TextBox 4">
            <a:extLst>
              <a:ext uri="{FF2B5EF4-FFF2-40B4-BE49-F238E27FC236}">
                <a16:creationId xmlns:a16="http://schemas.microsoft.com/office/drawing/2014/main" id="{F67C640D-617E-C862-F605-A0A2853FB42A}"/>
              </a:ext>
            </a:extLst>
          </p:cNvPr>
          <p:cNvSpPr txBox="1"/>
          <p:nvPr/>
        </p:nvSpPr>
        <p:spPr>
          <a:xfrm>
            <a:off x="658368" y="1445121"/>
            <a:ext cx="10698480" cy="369332"/>
          </a:xfrm>
          <a:prstGeom prst="rect">
            <a:avLst/>
          </a:prstGeom>
          <a:noFill/>
        </p:spPr>
        <p:txBody>
          <a:bodyPr wrap="square" rtlCol="0">
            <a:spAutoFit/>
          </a:bodyPr>
          <a:lstStyle/>
          <a:p>
            <a:r>
              <a:rPr lang="en-US" noProof="1"/>
              <a:t>Pour que notre dataset soit valide, nous devons éviter deux pièges mortels :</a:t>
            </a:r>
          </a:p>
        </p:txBody>
      </p:sp>
      <p:sp>
        <p:nvSpPr>
          <p:cNvPr id="6" name="TextBox 5">
            <a:extLst>
              <a:ext uri="{FF2B5EF4-FFF2-40B4-BE49-F238E27FC236}">
                <a16:creationId xmlns:a16="http://schemas.microsoft.com/office/drawing/2014/main" id="{B350B6FF-0418-0D1E-2029-4310D1A9EB96}"/>
              </a:ext>
            </a:extLst>
          </p:cNvPr>
          <p:cNvSpPr txBox="1"/>
          <p:nvPr/>
        </p:nvSpPr>
        <p:spPr>
          <a:xfrm>
            <a:off x="658368" y="1887450"/>
            <a:ext cx="10698480" cy="1200329"/>
          </a:xfrm>
          <a:prstGeom prst="rect">
            <a:avLst/>
          </a:prstGeom>
          <a:noFill/>
        </p:spPr>
        <p:txBody>
          <a:bodyPr wrap="square" rtlCol="0">
            <a:spAutoFit/>
          </a:bodyPr>
          <a:lstStyle/>
          <a:p>
            <a:pPr marL="285750" indent="-285750">
              <a:buFont typeface="Arial" panose="020B0604020202020204" pitchFamily="34" charset="0"/>
              <a:buChar char="•"/>
            </a:pPr>
            <a:r>
              <a:rPr lang="en-US" b="1" noProof="1"/>
              <a:t>Look-ahead Bias :</a:t>
            </a:r>
            <a:r>
              <a:rPr lang="en-US" noProof="1"/>
              <a:t> Utiliser des informations du futur pour prédire le passé (ex: utiliser le cours de clôture de demain pour prédire aujourd'hui).</a:t>
            </a:r>
          </a:p>
          <a:p>
            <a:pPr marL="285750" indent="-285750">
              <a:buFont typeface="Arial" panose="020B0604020202020204" pitchFamily="34" charset="0"/>
              <a:buChar char="•"/>
            </a:pPr>
            <a:r>
              <a:rPr lang="en-US" b="1" noProof="1"/>
              <a:t>Survivorship Bias :</a:t>
            </a:r>
            <a:r>
              <a:rPr lang="en-US" noProof="1"/>
              <a:t> N'utiliser que les entreprises qui existent encore aujourd'hui (en oubliant celles qui ont fait faillite), ce qui surestimerait les performances.</a:t>
            </a:r>
          </a:p>
        </p:txBody>
      </p:sp>
    </p:spTree>
    <p:extLst>
      <p:ext uri="{BB962C8B-B14F-4D97-AF65-F5344CB8AC3E}">
        <p14:creationId xmlns:p14="http://schemas.microsoft.com/office/powerpoint/2010/main" val="2093571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40FF-F68D-6268-DBEB-447CBFA7D23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BD5AE4C-6396-3A8C-57C3-A81869BD75C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E0ABED3-EB4F-90E7-216D-5D8F9AC936CF}"/>
              </a:ext>
            </a:extLst>
          </p:cNvPr>
          <p:cNvSpPr txBox="1"/>
          <p:nvPr/>
        </p:nvSpPr>
        <p:spPr>
          <a:xfrm>
            <a:off x="658368" y="336542"/>
            <a:ext cx="10808208" cy="461665"/>
          </a:xfrm>
          <a:prstGeom prst="rect">
            <a:avLst/>
          </a:prstGeom>
          <a:noFill/>
        </p:spPr>
        <p:txBody>
          <a:bodyPr wrap="square">
            <a:spAutoFit/>
          </a:bodyPr>
          <a:lstStyle/>
          <a:p>
            <a:r>
              <a:rPr lang="en-US" sz="2400" b="1" noProof="1"/>
              <a:t>WORKFLOW ARCHITECTURE : DU MARCHÉ À LA VALIDATION</a:t>
            </a:r>
          </a:p>
        </p:txBody>
      </p:sp>
      <p:sp>
        <p:nvSpPr>
          <p:cNvPr id="8" name="Rectangle 7">
            <a:extLst>
              <a:ext uri="{FF2B5EF4-FFF2-40B4-BE49-F238E27FC236}">
                <a16:creationId xmlns:a16="http://schemas.microsoft.com/office/drawing/2014/main" id="{AE06243F-71A2-1049-CA94-31A66FC55FD5}"/>
              </a:ext>
            </a:extLst>
          </p:cNvPr>
          <p:cNvSpPr/>
          <p:nvPr/>
        </p:nvSpPr>
        <p:spPr>
          <a:xfrm>
            <a:off x="658368" y="1362456"/>
            <a:ext cx="2880360" cy="457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YFinance</a:t>
            </a:r>
            <a:endParaRPr lang="en-US" b="1" noProof="1"/>
          </a:p>
        </p:txBody>
      </p:sp>
      <p:sp>
        <p:nvSpPr>
          <p:cNvPr id="9" name="Rectangle 8">
            <a:extLst>
              <a:ext uri="{FF2B5EF4-FFF2-40B4-BE49-F238E27FC236}">
                <a16:creationId xmlns:a16="http://schemas.microsoft.com/office/drawing/2014/main" id="{57905AC4-94EB-1088-A0E0-D6CAED9926A2}"/>
              </a:ext>
            </a:extLst>
          </p:cNvPr>
          <p:cNvSpPr/>
          <p:nvPr/>
        </p:nvSpPr>
        <p:spPr>
          <a:xfrm>
            <a:off x="8476488" y="1362456"/>
            <a:ext cx="2880360" cy="457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HDFStore</a:t>
            </a:r>
          </a:p>
        </p:txBody>
      </p:sp>
      <p:sp>
        <p:nvSpPr>
          <p:cNvPr id="10" name="Rectangle 9">
            <a:extLst>
              <a:ext uri="{FF2B5EF4-FFF2-40B4-BE49-F238E27FC236}">
                <a16:creationId xmlns:a16="http://schemas.microsoft.com/office/drawing/2014/main" id="{97A5DCCC-ED3D-74F6-F10D-89C82D1CF269}"/>
              </a:ext>
            </a:extLst>
          </p:cNvPr>
          <p:cNvSpPr/>
          <p:nvPr/>
        </p:nvSpPr>
        <p:spPr>
          <a:xfrm>
            <a:off x="658368" y="5212081"/>
            <a:ext cx="2880360" cy="457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Transformation &amp; Scaling</a:t>
            </a:r>
            <a:endParaRPr lang="en-US" noProof="1">
              <a:effectLst/>
            </a:endParaRPr>
          </a:p>
        </p:txBody>
      </p:sp>
      <p:sp>
        <p:nvSpPr>
          <p:cNvPr id="11" name="Rectangle 10">
            <a:extLst>
              <a:ext uri="{FF2B5EF4-FFF2-40B4-BE49-F238E27FC236}">
                <a16:creationId xmlns:a16="http://schemas.microsoft.com/office/drawing/2014/main" id="{CD1BE341-36ED-9A6F-20F7-16ED61DF77B3}"/>
              </a:ext>
            </a:extLst>
          </p:cNvPr>
          <p:cNvSpPr/>
          <p:nvPr/>
        </p:nvSpPr>
        <p:spPr>
          <a:xfrm>
            <a:off x="4655820" y="3200401"/>
            <a:ext cx="2880360" cy="457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Alpha Factory</a:t>
            </a:r>
            <a:endParaRPr lang="en-US" noProof="1">
              <a:effectLst/>
            </a:endParaRPr>
          </a:p>
        </p:txBody>
      </p:sp>
      <p:sp>
        <p:nvSpPr>
          <p:cNvPr id="12" name="Rectangle 11">
            <a:extLst>
              <a:ext uri="{FF2B5EF4-FFF2-40B4-BE49-F238E27FC236}">
                <a16:creationId xmlns:a16="http://schemas.microsoft.com/office/drawing/2014/main" id="{4BF56883-CB31-9404-A373-A6E4684B56EA}"/>
              </a:ext>
            </a:extLst>
          </p:cNvPr>
          <p:cNvSpPr/>
          <p:nvPr/>
        </p:nvSpPr>
        <p:spPr>
          <a:xfrm>
            <a:off x="8476488" y="5212081"/>
            <a:ext cx="2880360" cy="457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Validation Alpha</a:t>
            </a:r>
          </a:p>
        </p:txBody>
      </p:sp>
      <p:cxnSp>
        <p:nvCxnSpPr>
          <p:cNvPr id="14" name="Straight Arrow Connector 13">
            <a:extLst>
              <a:ext uri="{FF2B5EF4-FFF2-40B4-BE49-F238E27FC236}">
                <a16:creationId xmlns:a16="http://schemas.microsoft.com/office/drawing/2014/main" id="{7527762C-5230-40CE-1DF6-E0435B27DEF9}"/>
              </a:ext>
            </a:extLst>
          </p:cNvPr>
          <p:cNvCxnSpPr>
            <a:stCxn id="8" idx="3"/>
          </p:cNvCxnSpPr>
          <p:nvPr/>
        </p:nvCxnSpPr>
        <p:spPr>
          <a:xfrm>
            <a:off x="3538728" y="1591055"/>
            <a:ext cx="493776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E5DB833-0D55-7152-D064-30E29DFFD463}"/>
              </a:ext>
            </a:extLst>
          </p:cNvPr>
          <p:cNvCxnSpPr>
            <a:stCxn id="9" idx="2"/>
            <a:endCxn id="11" idx="0"/>
          </p:cNvCxnSpPr>
          <p:nvPr/>
        </p:nvCxnSpPr>
        <p:spPr>
          <a:xfrm flipH="1">
            <a:off x="6096000" y="1819654"/>
            <a:ext cx="3820668" cy="138074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103C602-EDCE-5D63-1704-9E402232B480}"/>
              </a:ext>
            </a:extLst>
          </p:cNvPr>
          <p:cNvCxnSpPr>
            <a:stCxn id="11" idx="1"/>
            <a:endCxn id="10" idx="0"/>
          </p:cNvCxnSpPr>
          <p:nvPr/>
        </p:nvCxnSpPr>
        <p:spPr>
          <a:xfrm flipH="1">
            <a:off x="2098548" y="3429000"/>
            <a:ext cx="2557272" cy="178308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432E0B2-D73E-5353-B1E5-66F6BB1412F8}"/>
              </a:ext>
            </a:extLst>
          </p:cNvPr>
          <p:cNvCxnSpPr>
            <a:stCxn id="10" idx="3"/>
            <a:endCxn id="12" idx="1"/>
          </p:cNvCxnSpPr>
          <p:nvPr/>
        </p:nvCxnSpPr>
        <p:spPr>
          <a:xfrm>
            <a:off x="3538728" y="5440680"/>
            <a:ext cx="4937760"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075C912-6C95-DD7C-2C28-F136D92D3053}"/>
              </a:ext>
            </a:extLst>
          </p:cNvPr>
          <p:cNvSpPr txBox="1"/>
          <p:nvPr/>
        </p:nvSpPr>
        <p:spPr>
          <a:xfrm>
            <a:off x="4868466" y="1193179"/>
            <a:ext cx="1611852" cy="338554"/>
          </a:xfrm>
          <a:prstGeom prst="rect">
            <a:avLst/>
          </a:prstGeom>
          <a:noFill/>
        </p:spPr>
        <p:txBody>
          <a:bodyPr wrap="none" rtlCol="0">
            <a:spAutoFit/>
          </a:bodyPr>
          <a:lstStyle/>
          <a:p>
            <a:r>
              <a:rPr lang="en-US" sz="1600" i="1" noProof="1"/>
              <a:t> JSON/CSV brut.</a:t>
            </a:r>
            <a:endParaRPr lang="en-US" sz="1600" b="1" i="1" noProof="1"/>
          </a:p>
        </p:txBody>
      </p:sp>
      <p:sp>
        <p:nvSpPr>
          <p:cNvPr id="22" name="TextBox 21">
            <a:extLst>
              <a:ext uri="{FF2B5EF4-FFF2-40B4-BE49-F238E27FC236}">
                <a16:creationId xmlns:a16="http://schemas.microsoft.com/office/drawing/2014/main" id="{D85A15EE-A6D9-6074-1715-0F575557C368}"/>
              </a:ext>
            </a:extLst>
          </p:cNvPr>
          <p:cNvSpPr txBox="1"/>
          <p:nvPr/>
        </p:nvSpPr>
        <p:spPr>
          <a:xfrm>
            <a:off x="575115" y="1880430"/>
            <a:ext cx="4955459" cy="830997"/>
          </a:xfrm>
          <a:prstGeom prst="rect">
            <a:avLst/>
          </a:prstGeom>
          <a:noFill/>
        </p:spPr>
        <p:txBody>
          <a:bodyPr wrap="none" rtlCol="0">
            <a:spAutoFit/>
          </a:bodyPr>
          <a:lstStyle/>
          <a:p>
            <a:r>
              <a:rPr lang="en-US" sz="1600" noProof="1"/>
              <a:t>Récupération via APIs des prix OHLCV</a:t>
            </a:r>
          </a:p>
          <a:p>
            <a:r>
              <a:rPr lang="en-US" sz="1600" noProof="1"/>
              <a:t>Extraction des bilans (P/E, EPS)</a:t>
            </a:r>
          </a:p>
          <a:p>
            <a:r>
              <a:rPr lang="en-US" sz="1600" noProof="1"/>
              <a:t>Scrapping de news ou flux Twitter/X pour le sentiment.</a:t>
            </a:r>
          </a:p>
        </p:txBody>
      </p:sp>
      <p:sp>
        <p:nvSpPr>
          <p:cNvPr id="23" name="TextBox 22">
            <a:extLst>
              <a:ext uri="{FF2B5EF4-FFF2-40B4-BE49-F238E27FC236}">
                <a16:creationId xmlns:a16="http://schemas.microsoft.com/office/drawing/2014/main" id="{B7BCB5A9-605C-FC90-3588-76199950F5DE}"/>
              </a:ext>
            </a:extLst>
          </p:cNvPr>
          <p:cNvSpPr txBox="1"/>
          <p:nvPr/>
        </p:nvSpPr>
        <p:spPr>
          <a:xfrm>
            <a:off x="9034054" y="980749"/>
            <a:ext cx="1765227" cy="338554"/>
          </a:xfrm>
          <a:prstGeom prst="rect">
            <a:avLst/>
          </a:prstGeom>
          <a:noFill/>
        </p:spPr>
        <p:txBody>
          <a:bodyPr wrap="none" rtlCol="0">
            <a:spAutoFit/>
          </a:bodyPr>
          <a:lstStyle/>
          <a:p>
            <a:r>
              <a:rPr lang="en-US" sz="1600" b="1" i="1" noProof="1"/>
              <a:t>Data Engineering</a:t>
            </a:r>
          </a:p>
        </p:txBody>
      </p:sp>
      <p:sp>
        <p:nvSpPr>
          <p:cNvPr id="24" name="TextBox 23">
            <a:extLst>
              <a:ext uri="{FF2B5EF4-FFF2-40B4-BE49-F238E27FC236}">
                <a16:creationId xmlns:a16="http://schemas.microsoft.com/office/drawing/2014/main" id="{1C7A347F-43DF-A9BC-73BB-F73585A85095}"/>
              </a:ext>
            </a:extLst>
          </p:cNvPr>
          <p:cNvSpPr txBox="1"/>
          <p:nvPr/>
        </p:nvSpPr>
        <p:spPr>
          <a:xfrm>
            <a:off x="7239000" y="1972763"/>
            <a:ext cx="4117848" cy="738664"/>
          </a:xfrm>
          <a:prstGeom prst="rect">
            <a:avLst/>
          </a:prstGeom>
          <a:solidFill>
            <a:schemeClr val="bg2"/>
          </a:solidFill>
          <a:ln>
            <a:solidFill>
              <a:schemeClr val="bg2"/>
            </a:solidFill>
          </a:ln>
        </p:spPr>
        <p:txBody>
          <a:bodyPr wrap="square" rtlCol="0">
            <a:spAutoFit/>
          </a:bodyPr>
          <a:lstStyle/>
          <a:p>
            <a:r>
              <a:rPr lang="en-US" sz="1400" i="1" noProof="1"/>
              <a:t>Transformation des formats bruts vers </a:t>
            </a:r>
            <a:r>
              <a:rPr lang="en-US" sz="1400" b="1" i="1" noProof="1"/>
              <a:t>HDF5</a:t>
            </a:r>
          </a:p>
          <a:p>
            <a:r>
              <a:rPr lang="en-US" sz="1400" i="1" noProof="1"/>
              <a:t>Recalcul des prix historiques pour corriger l'impact des </a:t>
            </a:r>
            <a:r>
              <a:rPr lang="en-US" sz="1400" b="1" i="1" noProof="1"/>
              <a:t>Splits</a:t>
            </a:r>
            <a:r>
              <a:rPr lang="en-US" sz="1400" i="1" noProof="1"/>
              <a:t> et des </a:t>
            </a:r>
            <a:r>
              <a:rPr lang="en-US" sz="1400" b="1" i="1" noProof="1"/>
              <a:t>Dividendes</a:t>
            </a:r>
            <a:r>
              <a:rPr lang="en-US" sz="1400" i="1" noProof="1"/>
              <a:t>.</a:t>
            </a:r>
            <a:endParaRPr lang="en-US" sz="1200" i="1" noProof="1"/>
          </a:p>
        </p:txBody>
      </p:sp>
      <p:sp>
        <p:nvSpPr>
          <p:cNvPr id="27" name="TextBox 26">
            <a:extLst>
              <a:ext uri="{FF2B5EF4-FFF2-40B4-BE49-F238E27FC236}">
                <a16:creationId xmlns:a16="http://schemas.microsoft.com/office/drawing/2014/main" id="{534ED6D4-C2A2-2EB2-B231-2E5E60E3BD51}"/>
              </a:ext>
            </a:extLst>
          </p:cNvPr>
          <p:cNvSpPr txBox="1"/>
          <p:nvPr/>
        </p:nvSpPr>
        <p:spPr>
          <a:xfrm>
            <a:off x="7627318" y="2711427"/>
            <a:ext cx="3432350" cy="307777"/>
          </a:xfrm>
          <a:prstGeom prst="rect">
            <a:avLst/>
          </a:prstGeom>
          <a:noFill/>
        </p:spPr>
        <p:txBody>
          <a:bodyPr wrap="none" rtlCol="0">
            <a:spAutoFit/>
          </a:bodyPr>
          <a:lstStyle/>
          <a:p>
            <a:r>
              <a:rPr lang="en-US" sz="1400" b="1" i="1" noProof="1"/>
              <a:t>Nettoyage (</a:t>
            </a:r>
            <a:r>
              <a:rPr lang="en-US" sz="1400" i="1" noProof="1"/>
              <a:t>Forward Filling, Winsorization)</a:t>
            </a:r>
            <a:endParaRPr lang="en-US" sz="1200" b="1" i="1" noProof="1"/>
          </a:p>
        </p:txBody>
      </p:sp>
      <p:sp>
        <p:nvSpPr>
          <p:cNvPr id="28" name="TextBox 27">
            <a:extLst>
              <a:ext uri="{FF2B5EF4-FFF2-40B4-BE49-F238E27FC236}">
                <a16:creationId xmlns:a16="http://schemas.microsoft.com/office/drawing/2014/main" id="{DF4D28A9-0905-C8A4-CDD3-AA4FEFB23444}"/>
              </a:ext>
            </a:extLst>
          </p:cNvPr>
          <p:cNvSpPr txBox="1"/>
          <p:nvPr/>
        </p:nvSpPr>
        <p:spPr>
          <a:xfrm>
            <a:off x="4646676" y="3621023"/>
            <a:ext cx="2269147" cy="369332"/>
          </a:xfrm>
          <a:prstGeom prst="rect">
            <a:avLst/>
          </a:prstGeom>
          <a:noFill/>
        </p:spPr>
        <p:txBody>
          <a:bodyPr wrap="none" rtlCol="0">
            <a:spAutoFit/>
          </a:bodyPr>
          <a:lstStyle/>
          <a:p>
            <a:r>
              <a:rPr lang="en-US" b="1" noProof="1"/>
              <a:t>Feature Engineering</a:t>
            </a:r>
          </a:p>
        </p:txBody>
      </p:sp>
      <p:sp>
        <p:nvSpPr>
          <p:cNvPr id="29" name="TextBox 28">
            <a:extLst>
              <a:ext uri="{FF2B5EF4-FFF2-40B4-BE49-F238E27FC236}">
                <a16:creationId xmlns:a16="http://schemas.microsoft.com/office/drawing/2014/main" id="{E1A9C4F0-F577-FAA7-A916-DC92990905FC}"/>
              </a:ext>
            </a:extLst>
          </p:cNvPr>
          <p:cNvSpPr txBox="1"/>
          <p:nvPr/>
        </p:nvSpPr>
        <p:spPr>
          <a:xfrm>
            <a:off x="1595397" y="996585"/>
            <a:ext cx="1006301" cy="338554"/>
          </a:xfrm>
          <a:prstGeom prst="rect">
            <a:avLst/>
          </a:prstGeom>
          <a:noFill/>
        </p:spPr>
        <p:txBody>
          <a:bodyPr wrap="none" rtlCol="0">
            <a:spAutoFit/>
          </a:bodyPr>
          <a:lstStyle/>
          <a:p>
            <a:r>
              <a:rPr lang="en-US" sz="1600" b="1" noProof="1"/>
              <a:t>Sourcing</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F4A56C2-906B-C053-85D3-5CC32CE31708}"/>
                  </a:ext>
                </a:extLst>
              </p:cNvPr>
              <p:cNvSpPr txBox="1"/>
              <p:nvPr/>
            </p:nvSpPr>
            <p:spPr>
              <a:xfrm>
                <a:off x="7781544" y="3275111"/>
                <a:ext cx="3539752" cy="307777"/>
              </a:xfrm>
              <a:prstGeom prst="rect">
                <a:avLst/>
              </a:prstGeom>
              <a:noFill/>
            </p:spPr>
            <p:txBody>
              <a:bodyPr wrap="none" rtlCol="0">
                <a:spAutoFit/>
              </a:bodyPr>
              <a:lstStyle/>
              <a:p>
                <a:r>
                  <a:rPr lang="en-US" sz="1400" i="1" noProof="1"/>
                  <a:t>crée les variables d'entrée (</a:t>
                </a:r>
                <a14:m>
                  <m:oMath xmlns:m="http://schemas.openxmlformats.org/officeDocument/2006/math">
                    <m:r>
                      <a:rPr lang="en-US" sz="1400" i="1" noProof="1" dirty="0" smtClean="0">
                        <a:latin typeface="Cambria Math" panose="02040503050406030204" pitchFamily="18" charset="0"/>
                      </a:rPr>
                      <m:t>𝑋</m:t>
                    </m:r>
                  </m:oMath>
                </a14:m>
                <a:r>
                  <a:rPr lang="en-US" sz="1400" i="1" noProof="1"/>
                  <a:t>) et la cible (</a:t>
                </a:r>
                <a14:m>
                  <m:oMath xmlns:m="http://schemas.openxmlformats.org/officeDocument/2006/math">
                    <m:r>
                      <a:rPr lang="en-US" sz="1400" i="1" noProof="1" dirty="0" smtClean="0">
                        <a:latin typeface="Cambria Math" panose="02040503050406030204" pitchFamily="18" charset="0"/>
                      </a:rPr>
                      <m:t>𝑦</m:t>
                    </m:r>
                  </m:oMath>
                </a14:m>
                <a:r>
                  <a:rPr lang="en-US" sz="1400" i="1" noProof="1"/>
                  <a:t>).</a:t>
                </a:r>
                <a:endParaRPr lang="en-US" sz="1050" b="1" i="1" noProof="1"/>
              </a:p>
            </p:txBody>
          </p:sp>
        </mc:Choice>
        <mc:Fallback xmlns="">
          <p:sp>
            <p:nvSpPr>
              <p:cNvPr id="30" name="TextBox 29">
                <a:extLst>
                  <a:ext uri="{FF2B5EF4-FFF2-40B4-BE49-F238E27FC236}">
                    <a16:creationId xmlns:a16="http://schemas.microsoft.com/office/drawing/2014/main" id="{4F4A56C2-906B-C053-85D3-5CC32CE31708}"/>
                  </a:ext>
                </a:extLst>
              </p:cNvPr>
              <p:cNvSpPr txBox="1">
                <a:spLocks noRot="1" noChangeAspect="1" noMove="1" noResize="1" noEditPoints="1" noAdjustHandles="1" noChangeArrowheads="1" noChangeShapeType="1" noTextEdit="1"/>
              </p:cNvSpPr>
              <p:nvPr/>
            </p:nvSpPr>
            <p:spPr>
              <a:xfrm>
                <a:off x="7781544" y="3275111"/>
                <a:ext cx="3539752" cy="307777"/>
              </a:xfrm>
              <a:prstGeom prst="rect">
                <a:avLst/>
              </a:prstGeom>
              <a:blipFill>
                <a:blip r:embed="rId3"/>
                <a:stretch>
                  <a:fillRect l="-517" t="-1961" b="-19608"/>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90836D52-74DC-508A-D466-4D206FC7FF7B}"/>
              </a:ext>
            </a:extLst>
          </p:cNvPr>
          <p:cNvCxnSpPr>
            <a:stCxn id="11" idx="3"/>
          </p:cNvCxnSpPr>
          <p:nvPr/>
        </p:nvCxnSpPr>
        <p:spPr>
          <a:xfrm flipV="1">
            <a:off x="7536180" y="3428998"/>
            <a:ext cx="245364"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1FAEB22-B2E7-2EB1-6F4E-0214D6450BC1}"/>
                  </a:ext>
                </a:extLst>
              </p:cNvPr>
              <p:cNvSpPr txBox="1"/>
              <p:nvPr/>
            </p:nvSpPr>
            <p:spPr>
              <a:xfrm>
                <a:off x="4655820" y="3946643"/>
                <a:ext cx="4100033" cy="954107"/>
              </a:xfrm>
              <a:prstGeom prst="rect">
                <a:avLst/>
              </a:prstGeom>
              <a:solidFill>
                <a:schemeClr val="bg2"/>
              </a:solidFill>
              <a:ln>
                <a:solidFill>
                  <a:schemeClr val="bg2"/>
                </a:solidFill>
              </a:ln>
            </p:spPr>
            <p:txBody>
              <a:bodyPr wrap="none" rtlCol="0">
                <a:spAutoFit/>
              </a:bodyPr>
              <a:lstStyle/>
              <a:p>
                <a:r>
                  <a:rPr lang="en-US" sz="1400" b="1" i="1" noProof="1"/>
                  <a:t>Features (</a:t>
                </a:r>
                <a14:m>
                  <m:oMath xmlns:m="http://schemas.openxmlformats.org/officeDocument/2006/math">
                    <m:r>
                      <a:rPr lang="en-US" sz="1400" i="1" noProof="1" dirty="0" smtClean="0">
                        <a:latin typeface="Cambria Math" panose="02040503050406030204" pitchFamily="18" charset="0"/>
                      </a:rPr>
                      <m:t>𝑋</m:t>
                    </m:r>
                  </m:oMath>
                </a14:m>
                <a:r>
                  <a:rPr lang="en-US" sz="1400" b="1" i="1" noProof="1"/>
                  <a:t>): </a:t>
                </a:r>
              </a:p>
              <a:p>
                <a:r>
                  <a:rPr lang="en-US" sz="1400" i="1" noProof="1"/>
                  <a:t>RSI, Moyennes Mobiles, Bandes de Bollinger.</a:t>
                </a:r>
              </a:p>
              <a:p>
                <a:r>
                  <a:rPr lang="en-US" sz="1400" b="1" i="1" noProof="1"/>
                  <a:t>Cible (</a:t>
                </a:r>
                <a14:m>
                  <m:oMath xmlns:m="http://schemas.openxmlformats.org/officeDocument/2006/math">
                    <m:r>
                      <a:rPr lang="en-US" sz="1400" b="1" i="1" noProof="1" dirty="0" smtClean="0">
                        <a:latin typeface="Cambria Math" panose="02040503050406030204" pitchFamily="18" charset="0"/>
                      </a:rPr>
                      <m:t>𝑦</m:t>
                    </m:r>
                  </m:oMath>
                </a14:m>
                <a:r>
                  <a:rPr lang="en-US" sz="1400" b="1" i="1" noProof="1"/>
                  <a:t>):</a:t>
                </a:r>
              </a:p>
              <a:p>
                <a:r>
                  <a:rPr lang="en-US" sz="1400" i="1" noProof="1"/>
                  <a:t>Forward Returns (Rendement prévu à </a:t>
                </a:r>
                <a14:m>
                  <m:oMath xmlns:m="http://schemas.openxmlformats.org/officeDocument/2006/math">
                    <m:r>
                      <a:rPr lang="en-US" sz="1400" i="1" noProof="1" dirty="0" smtClean="0">
                        <a:latin typeface="Cambria Math" panose="02040503050406030204" pitchFamily="18" charset="0"/>
                      </a:rPr>
                      <m:t>𝑇</m:t>
                    </m:r>
                    <m:r>
                      <a:rPr lang="en-US" sz="1400" i="1" noProof="1" dirty="0" smtClean="0">
                        <a:latin typeface="Cambria Math" panose="02040503050406030204" pitchFamily="18" charset="0"/>
                      </a:rPr>
                      <m:t>+</m:t>
                    </m:r>
                    <m:r>
                      <a:rPr lang="en-US" sz="1400" i="1" noProof="1" dirty="0" smtClean="0">
                        <a:latin typeface="Cambria Math" panose="02040503050406030204" pitchFamily="18" charset="0"/>
                      </a:rPr>
                      <m:t>𝑛</m:t>
                    </m:r>
                  </m:oMath>
                </a14:m>
                <a:r>
                  <a:rPr lang="en-US" sz="1400" i="1" noProof="1"/>
                  <a:t>jours) </a:t>
                </a:r>
              </a:p>
            </p:txBody>
          </p:sp>
        </mc:Choice>
        <mc:Fallback xmlns="">
          <p:sp>
            <p:nvSpPr>
              <p:cNvPr id="34" name="TextBox 33">
                <a:extLst>
                  <a:ext uri="{FF2B5EF4-FFF2-40B4-BE49-F238E27FC236}">
                    <a16:creationId xmlns:a16="http://schemas.microsoft.com/office/drawing/2014/main" id="{A1FAEB22-B2E7-2EB1-6F4E-0214D6450BC1}"/>
                  </a:ext>
                </a:extLst>
              </p:cNvPr>
              <p:cNvSpPr txBox="1">
                <a:spLocks noRot="1" noChangeAspect="1" noMove="1" noResize="1" noEditPoints="1" noAdjustHandles="1" noChangeArrowheads="1" noChangeShapeType="1" noTextEdit="1"/>
              </p:cNvSpPr>
              <p:nvPr/>
            </p:nvSpPr>
            <p:spPr>
              <a:xfrm>
                <a:off x="4655820" y="3946643"/>
                <a:ext cx="4100033" cy="954107"/>
              </a:xfrm>
              <a:prstGeom prst="rect">
                <a:avLst/>
              </a:prstGeom>
              <a:blipFill>
                <a:blip r:embed="rId4"/>
                <a:stretch>
                  <a:fillRect l="-297" b="-5031"/>
                </a:stretch>
              </a:blipFill>
              <a:ln>
                <a:solidFill>
                  <a:schemeClr val="bg2"/>
                </a:solidFill>
              </a:ln>
            </p:spPr>
            <p:txBody>
              <a:bodyPr/>
              <a:lstStyle/>
              <a:p>
                <a:r>
                  <a:rPr lang="en-US">
                    <a:noFill/>
                  </a:rPr>
                  <a:t> </a:t>
                </a:r>
              </a:p>
            </p:txBody>
          </p:sp>
        </mc:Fallback>
      </mc:AlternateContent>
      <p:sp>
        <p:nvSpPr>
          <p:cNvPr id="35" name="TextBox 34">
            <a:extLst>
              <a:ext uri="{FF2B5EF4-FFF2-40B4-BE49-F238E27FC236}">
                <a16:creationId xmlns:a16="http://schemas.microsoft.com/office/drawing/2014/main" id="{06E03EF5-0BC4-C6D4-112F-2A9DE460520A}"/>
              </a:ext>
            </a:extLst>
          </p:cNvPr>
          <p:cNvSpPr txBox="1"/>
          <p:nvPr/>
        </p:nvSpPr>
        <p:spPr>
          <a:xfrm>
            <a:off x="658368" y="4256300"/>
            <a:ext cx="2771588" cy="738664"/>
          </a:xfrm>
          <a:prstGeom prst="rect">
            <a:avLst/>
          </a:prstGeom>
          <a:solidFill>
            <a:schemeClr val="bg2"/>
          </a:solidFill>
          <a:ln>
            <a:solidFill>
              <a:schemeClr val="bg2"/>
            </a:solidFill>
          </a:ln>
        </p:spPr>
        <p:txBody>
          <a:bodyPr wrap="square" rtlCol="0">
            <a:spAutoFit/>
          </a:bodyPr>
          <a:lstStyle/>
          <a:p>
            <a:r>
              <a:rPr lang="en-US" sz="1400" i="1" noProof="1"/>
              <a:t>Stationnarité,</a:t>
            </a:r>
          </a:p>
          <a:p>
            <a:r>
              <a:rPr lang="en-US" sz="1400" i="1" noProof="1"/>
              <a:t>Normalisation (StandardScaler), Binarisation.</a:t>
            </a:r>
            <a:endParaRPr lang="en-US" sz="1100" i="1" noProof="1"/>
          </a:p>
        </p:txBody>
      </p:sp>
      <p:sp>
        <p:nvSpPr>
          <p:cNvPr id="36" name="TextBox 35">
            <a:extLst>
              <a:ext uri="{FF2B5EF4-FFF2-40B4-BE49-F238E27FC236}">
                <a16:creationId xmlns:a16="http://schemas.microsoft.com/office/drawing/2014/main" id="{4B22452A-C2FC-1323-8149-CB57007DB883}"/>
              </a:ext>
            </a:extLst>
          </p:cNvPr>
          <p:cNvSpPr txBox="1"/>
          <p:nvPr/>
        </p:nvSpPr>
        <p:spPr>
          <a:xfrm>
            <a:off x="3939583" y="5120205"/>
            <a:ext cx="4075090" cy="307777"/>
          </a:xfrm>
          <a:prstGeom prst="rect">
            <a:avLst/>
          </a:prstGeom>
          <a:noFill/>
        </p:spPr>
        <p:txBody>
          <a:bodyPr wrap="none" rtlCol="0">
            <a:spAutoFit/>
          </a:bodyPr>
          <a:lstStyle/>
          <a:p>
            <a:r>
              <a:rPr lang="en-US" sz="1400" i="1" noProof="1"/>
              <a:t> validation la qualité des données avec </a:t>
            </a:r>
            <a:r>
              <a:rPr lang="en-US" sz="1400" b="1" i="1" noProof="1"/>
              <a:t>Alphalens</a:t>
            </a:r>
            <a:r>
              <a:rPr lang="en-US" sz="1400" i="1" noProof="1"/>
              <a:t>.</a:t>
            </a:r>
            <a:endParaRPr lang="en-US" sz="900" b="1" i="1" noProof="1"/>
          </a:p>
        </p:txBody>
      </p:sp>
      <p:sp>
        <p:nvSpPr>
          <p:cNvPr id="37" name="TextBox 36">
            <a:extLst>
              <a:ext uri="{FF2B5EF4-FFF2-40B4-BE49-F238E27FC236}">
                <a16:creationId xmlns:a16="http://schemas.microsoft.com/office/drawing/2014/main" id="{D9E80DDF-2F9A-05DF-18AE-5B052FC964DC}"/>
              </a:ext>
            </a:extLst>
          </p:cNvPr>
          <p:cNvSpPr txBox="1"/>
          <p:nvPr/>
        </p:nvSpPr>
        <p:spPr>
          <a:xfrm>
            <a:off x="8997764" y="4423696"/>
            <a:ext cx="2323532" cy="738664"/>
          </a:xfrm>
          <a:prstGeom prst="rect">
            <a:avLst/>
          </a:prstGeom>
          <a:solidFill>
            <a:schemeClr val="bg2"/>
          </a:solidFill>
          <a:ln>
            <a:solidFill>
              <a:schemeClr val="bg2"/>
            </a:solidFill>
          </a:ln>
        </p:spPr>
        <p:txBody>
          <a:bodyPr wrap="square" rtlCol="0">
            <a:spAutoFit/>
          </a:bodyPr>
          <a:lstStyle/>
          <a:p>
            <a:r>
              <a:rPr lang="en-US" sz="1400" i="1" noProof="1"/>
              <a:t>Information Coefficient (IC),</a:t>
            </a:r>
          </a:p>
          <a:p>
            <a:r>
              <a:rPr lang="en-US" sz="1400" i="1" noProof="1"/>
              <a:t>Analyse par Quintile,</a:t>
            </a:r>
          </a:p>
          <a:p>
            <a:r>
              <a:rPr lang="en-US" sz="1400" i="1" noProof="1"/>
              <a:t>Turnover.</a:t>
            </a:r>
          </a:p>
        </p:txBody>
      </p:sp>
      <p:sp>
        <p:nvSpPr>
          <p:cNvPr id="39" name="TextBox 38">
            <a:extLst>
              <a:ext uri="{FF2B5EF4-FFF2-40B4-BE49-F238E27FC236}">
                <a16:creationId xmlns:a16="http://schemas.microsoft.com/office/drawing/2014/main" id="{005C6F6F-FF00-4F5B-731F-9084CB0A74AC}"/>
              </a:ext>
            </a:extLst>
          </p:cNvPr>
          <p:cNvSpPr txBox="1"/>
          <p:nvPr/>
        </p:nvSpPr>
        <p:spPr>
          <a:xfrm>
            <a:off x="658368" y="5826628"/>
            <a:ext cx="10662928" cy="1015663"/>
          </a:xfrm>
          <a:prstGeom prst="rect">
            <a:avLst/>
          </a:prstGeom>
          <a:noFill/>
        </p:spPr>
        <p:txBody>
          <a:bodyPr wrap="square" rtlCol="0">
            <a:spAutoFit/>
          </a:bodyPr>
          <a:lstStyle/>
          <a:p>
            <a:r>
              <a:rPr lang="en-US" sz="1200" i="1" noProof="1"/>
              <a:t>**</a:t>
            </a:r>
            <a:r>
              <a:rPr lang="en-US" sz="1200" b="1" i="1" noProof="1"/>
              <a:t>Forward Filling </a:t>
            </a:r>
            <a:r>
              <a:rPr lang="en-US" sz="1200" i="1" noProof="1"/>
              <a:t>pour les trous de cotation.</a:t>
            </a:r>
          </a:p>
          <a:p>
            <a:r>
              <a:rPr lang="en-US" sz="1200" i="1" noProof="1"/>
              <a:t>**</a:t>
            </a:r>
            <a:r>
              <a:rPr lang="en-US" sz="1200" b="1" i="1" noProof="1"/>
              <a:t>Winsorization</a:t>
            </a:r>
            <a:r>
              <a:rPr lang="en-US" sz="1200" i="1" noProof="1"/>
              <a:t> pour limiter l'impact des valeurs aberrantes (outliers).</a:t>
            </a:r>
          </a:p>
          <a:p>
            <a:r>
              <a:rPr lang="en-US" sz="1200" i="1" noProof="1"/>
              <a:t>**</a:t>
            </a:r>
            <a:r>
              <a:rPr lang="en-US" sz="1200" b="1" i="1" noProof="1"/>
              <a:t>Information Coefficient (IC) </a:t>
            </a:r>
            <a:r>
              <a:rPr lang="en-US" sz="1200" i="1" noProof="1"/>
              <a:t>: Calcul de la corrélation entre le facteur créé et le rendement futur.</a:t>
            </a:r>
          </a:p>
          <a:p>
            <a:r>
              <a:rPr lang="en-US" sz="1200" i="1" noProof="1"/>
              <a:t>**</a:t>
            </a:r>
            <a:r>
              <a:rPr lang="en-US" sz="1200" b="1" i="1" noProof="1"/>
              <a:t>Analyse par Quintile </a:t>
            </a:r>
            <a:r>
              <a:rPr lang="en-US" sz="1200" i="1" noProof="1"/>
              <a:t>: Vérifier si les actions ayant le meilleur score de facteur sont réellement celles qui performent le mieux.</a:t>
            </a:r>
          </a:p>
          <a:p>
            <a:r>
              <a:rPr lang="en-US" sz="1200" i="1" noProof="1"/>
              <a:t>**</a:t>
            </a:r>
            <a:r>
              <a:rPr lang="en-US" sz="1200" b="1" i="1" noProof="1"/>
              <a:t>Turnover</a:t>
            </a:r>
            <a:r>
              <a:rPr lang="en-US" sz="1200" i="1" noProof="1"/>
              <a:t> : Vérifier si le signal est stable ou s'il change trop souvent .</a:t>
            </a:r>
          </a:p>
        </p:txBody>
      </p:sp>
      <p:cxnSp>
        <p:nvCxnSpPr>
          <p:cNvPr id="41" name="Straight Connector 40">
            <a:extLst>
              <a:ext uri="{FF2B5EF4-FFF2-40B4-BE49-F238E27FC236}">
                <a16:creationId xmlns:a16="http://schemas.microsoft.com/office/drawing/2014/main" id="{208D5512-58FE-50FF-299B-7E66C365CEC6}"/>
              </a:ext>
            </a:extLst>
          </p:cNvPr>
          <p:cNvCxnSpPr>
            <a:cxnSpLocks/>
          </p:cNvCxnSpPr>
          <p:nvPr/>
        </p:nvCxnSpPr>
        <p:spPr>
          <a:xfrm>
            <a:off x="629912" y="5817484"/>
            <a:ext cx="10772656" cy="0"/>
          </a:xfrm>
          <a:prstGeom prst="line">
            <a:avLst/>
          </a:prstGeom>
          <a:ln w="12700">
            <a:prstDash val="sysDot"/>
          </a:ln>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2676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3A61F-C5A3-2CEA-964A-44458D2BE742}"/>
            </a:ext>
          </a:extLst>
        </p:cNvPr>
        <p:cNvGrpSpPr/>
        <p:nvPr/>
      </p:nvGrpSpPr>
      <p:grpSpPr>
        <a:xfrm>
          <a:off x="0" y="0"/>
          <a:ext cx="0" cy="0"/>
          <a:chOff x="0" y="0"/>
          <a:chExt cx="0" cy="0"/>
        </a:xfrm>
      </p:grpSpPr>
      <p:sp>
        <p:nvSpPr>
          <p:cNvPr id="3" name="Rectangle: Diagonal Corners Rounded 2">
            <a:extLst>
              <a:ext uri="{FF2B5EF4-FFF2-40B4-BE49-F238E27FC236}">
                <a16:creationId xmlns:a16="http://schemas.microsoft.com/office/drawing/2014/main" id="{C47B14FE-42F9-B294-EA51-3CD84BCB4CF0}"/>
              </a:ext>
            </a:extLst>
          </p:cNvPr>
          <p:cNvSpPr/>
          <p:nvPr/>
        </p:nvSpPr>
        <p:spPr>
          <a:xfrm>
            <a:off x="3194304" y="2025396"/>
            <a:ext cx="5803392" cy="3136392"/>
          </a:xfrm>
          <a:prstGeom prst="round2DiagRect">
            <a:avLst>
              <a:gd name="adj1" fmla="val 16667"/>
              <a:gd name="adj2" fmla="val 0"/>
            </a:avLst>
          </a:prstGeom>
          <a:solidFill>
            <a:srgbClr val="83A5AB"/>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84AFC3D9-62FC-7216-E1A0-6D1E0114E6DE}"/>
              </a:ext>
            </a:extLst>
          </p:cNvPr>
          <p:cNvSpPr txBox="1"/>
          <p:nvPr/>
        </p:nvSpPr>
        <p:spPr>
          <a:xfrm>
            <a:off x="3265930" y="3873264"/>
            <a:ext cx="5660139" cy="584775"/>
          </a:xfrm>
          <a:prstGeom prst="rect">
            <a:avLst/>
          </a:prstGeom>
          <a:noFill/>
        </p:spPr>
        <p:txBody>
          <a:bodyPr wrap="none" rtlCol="0">
            <a:spAutoFit/>
          </a:bodyPr>
          <a:lstStyle/>
          <a:p>
            <a:r>
              <a:rPr lang="en-US" sz="3200" b="1" noProof="1"/>
              <a:t>MODÉLISATION (ML MODELS)</a:t>
            </a:r>
          </a:p>
        </p:txBody>
      </p:sp>
      <p:sp>
        <p:nvSpPr>
          <p:cNvPr id="5" name="Rectangle: Diagonal Corners Snipped 4">
            <a:extLst>
              <a:ext uri="{FF2B5EF4-FFF2-40B4-BE49-F238E27FC236}">
                <a16:creationId xmlns:a16="http://schemas.microsoft.com/office/drawing/2014/main" id="{2C8E0046-68D5-E877-B25E-A9A6E3FE8F12}"/>
              </a:ext>
            </a:extLst>
          </p:cNvPr>
          <p:cNvSpPr/>
          <p:nvPr/>
        </p:nvSpPr>
        <p:spPr>
          <a:xfrm>
            <a:off x="5654500" y="2824830"/>
            <a:ext cx="883000" cy="768762"/>
          </a:xfrm>
          <a:prstGeom prst="snip2DiagRect">
            <a:avLst/>
          </a:prstGeom>
          <a:solidFill>
            <a:schemeClr val="tx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noProof="1"/>
              <a:t>4</a:t>
            </a:r>
          </a:p>
        </p:txBody>
      </p:sp>
    </p:spTree>
    <p:extLst>
      <p:ext uri="{BB962C8B-B14F-4D97-AF65-F5344CB8AC3E}">
        <p14:creationId xmlns:p14="http://schemas.microsoft.com/office/powerpoint/2010/main" val="827296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A35CD-431A-4656-B72B-4FF7EF04979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DF5BF8B-91C2-107B-3D97-4AEB96B6F1B7}"/>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8B7FE52-E597-09A9-FBD7-E5E22F979C3B}"/>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2" name="TextBox 1">
            <a:extLst>
              <a:ext uri="{FF2B5EF4-FFF2-40B4-BE49-F238E27FC236}">
                <a16:creationId xmlns:a16="http://schemas.microsoft.com/office/drawing/2014/main" id="{34BAF64A-9F28-2AE2-6BD1-B8A7CC05269C}"/>
              </a:ext>
            </a:extLst>
          </p:cNvPr>
          <p:cNvSpPr txBox="1"/>
          <p:nvPr/>
        </p:nvSpPr>
        <p:spPr>
          <a:xfrm>
            <a:off x="658368" y="1106424"/>
            <a:ext cx="10698480" cy="369332"/>
          </a:xfrm>
          <a:prstGeom prst="rect">
            <a:avLst/>
          </a:prstGeom>
          <a:noFill/>
        </p:spPr>
        <p:txBody>
          <a:bodyPr wrap="square" rtlCol="0">
            <a:spAutoFit/>
          </a:bodyPr>
          <a:lstStyle/>
          <a:p>
            <a:pPr algn="just"/>
            <a:r>
              <a:rPr lang="en-US" noProof="1"/>
              <a:t>Train machine learning model to predict stock movements</a:t>
            </a:r>
          </a:p>
        </p:txBody>
      </p:sp>
      <p:grpSp>
        <p:nvGrpSpPr>
          <p:cNvPr id="12" name="Group 11">
            <a:extLst>
              <a:ext uri="{FF2B5EF4-FFF2-40B4-BE49-F238E27FC236}">
                <a16:creationId xmlns:a16="http://schemas.microsoft.com/office/drawing/2014/main" id="{A92A5E33-BD3A-EEC9-1E48-0EEC162058FD}"/>
              </a:ext>
            </a:extLst>
          </p:cNvPr>
          <p:cNvGrpSpPr/>
          <p:nvPr/>
        </p:nvGrpSpPr>
        <p:grpSpPr>
          <a:xfrm>
            <a:off x="1932432" y="1695211"/>
            <a:ext cx="8327136" cy="1130963"/>
            <a:chOff x="2002536" y="1695211"/>
            <a:chExt cx="8327136" cy="1130963"/>
          </a:xfrm>
        </p:grpSpPr>
        <p:grpSp>
          <p:nvGrpSpPr>
            <p:cNvPr id="6" name="Group 5">
              <a:extLst>
                <a:ext uri="{FF2B5EF4-FFF2-40B4-BE49-F238E27FC236}">
                  <a16:creationId xmlns:a16="http://schemas.microsoft.com/office/drawing/2014/main" id="{10A4AA8A-2632-5C8C-0EF0-9D83A55CEDA1}"/>
                </a:ext>
              </a:extLst>
            </p:cNvPr>
            <p:cNvGrpSpPr/>
            <p:nvPr/>
          </p:nvGrpSpPr>
          <p:grpSpPr>
            <a:xfrm>
              <a:off x="2002536" y="1695211"/>
              <a:ext cx="2487168" cy="1130963"/>
              <a:chOff x="758952" y="1856232"/>
              <a:chExt cx="2487168" cy="1130963"/>
            </a:xfrm>
          </p:grpSpPr>
          <p:sp>
            <p:nvSpPr>
              <p:cNvPr id="4" name="Rectangle 3">
                <a:extLst>
                  <a:ext uri="{FF2B5EF4-FFF2-40B4-BE49-F238E27FC236}">
                    <a16:creationId xmlns:a16="http://schemas.microsoft.com/office/drawing/2014/main" id="{CE75F51D-B8F4-CF03-4EC7-32C3828FB33A}"/>
                  </a:ext>
                </a:extLst>
              </p:cNvPr>
              <p:cNvSpPr/>
              <p:nvPr/>
            </p:nvSpPr>
            <p:spPr>
              <a:xfrm>
                <a:off x="758952" y="1856232"/>
                <a:ext cx="2487168" cy="466344"/>
              </a:xfrm>
              <a:prstGeom prst="rect">
                <a:avLst/>
              </a:prstGeom>
              <a:solidFill>
                <a:schemeClr val="bg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tx1"/>
                    </a:solidFill>
                  </a:rPr>
                  <a:t>Input</a:t>
                </a:r>
              </a:p>
            </p:txBody>
          </p:sp>
          <p:sp>
            <p:nvSpPr>
              <p:cNvPr id="5" name="TextBox 4">
                <a:extLst>
                  <a:ext uri="{FF2B5EF4-FFF2-40B4-BE49-F238E27FC236}">
                    <a16:creationId xmlns:a16="http://schemas.microsoft.com/office/drawing/2014/main" id="{668B8F30-0E73-311E-CA17-372601948F14}"/>
                  </a:ext>
                </a:extLst>
              </p:cNvPr>
              <p:cNvSpPr txBox="1"/>
              <p:nvPr/>
            </p:nvSpPr>
            <p:spPr>
              <a:xfrm>
                <a:off x="758952" y="2340864"/>
                <a:ext cx="2487168" cy="646331"/>
              </a:xfrm>
              <a:prstGeom prst="rect">
                <a:avLst/>
              </a:prstGeom>
              <a:noFill/>
            </p:spPr>
            <p:txBody>
              <a:bodyPr wrap="square" rtlCol="0">
                <a:spAutoFit/>
              </a:bodyPr>
              <a:lstStyle/>
              <a:p>
                <a:pPr algn="ctr"/>
                <a:r>
                  <a:rPr lang="en-US" i="1" noProof="1"/>
                  <a:t>alpha_features.h5 </a:t>
                </a:r>
              </a:p>
              <a:p>
                <a:pPr algn="ctr"/>
                <a:r>
                  <a:rPr lang="en-US" i="1" noProof="1"/>
                  <a:t>from Notebook 2</a:t>
                </a:r>
              </a:p>
            </p:txBody>
          </p:sp>
        </p:grpSp>
        <p:grpSp>
          <p:nvGrpSpPr>
            <p:cNvPr id="8" name="Group 7">
              <a:extLst>
                <a:ext uri="{FF2B5EF4-FFF2-40B4-BE49-F238E27FC236}">
                  <a16:creationId xmlns:a16="http://schemas.microsoft.com/office/drawing/2014/main" id="{BB3E9C5D-E435-758C-F23F-0E3432FB7B2F}"/>
                </a:ext>
              </a:extLst>
            </p:cNvPr>
            <p:cNvGrpSpPr/>
            <p:nvPr/>
          </p:nvGrpSpPr>
          <p:grpSpPr>
            <a:xfrm>
              <a:off x="7842504" y="1695211"/>
              <a:ext cx="2487168" cy="1130963"/>
              <a:chOff x="758952" y="1856232"/>
              <a:chExt cx="2487168" cy="1130963"/>
            </a:xfrm>
          </p:grpSpPr>
          <p:sp>
            <p:nvSpPr>
              <p:cNvPr id="9" name="Rectangle 8">
                <a:extLst>
                  <a:ext uri="{FF2B5EF4-FFF2-40B4-BE49-F238E27FC236}">
                    <a16:creationId xmlns:a16="http://schemas.microsoft.com/office/drawing/2014/main" id="{5645ABA2-FC33-5F63-A09C-24EA004AB517}"/>
                  </a:ext>
                </a:extLst>
              </p:cNvPr>
              <p:cNvSpPr/>
              <p:nvPr/>
            </p:nvSpPr>
            <p:spPr>
              <a:xfrm>
                <a:off x="758952" y="1856232"/>
                <a:ext cx="2487168" cy="466344"/>
              </a:xfrm>
              <a:prstGeom prst="rect">
                <a:avLst/>
              </a:prstGeom>
              <a:solidFill>
                <a:schemeClr val="bg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tx1"/>
                    </a:solidFill>
                  </a:rPr>
                  <a:t>Output</a:t>
                </a:r>
              </a:p>
            </p:txBody>
          </p:sp>
          <p:sp>
            <p:nvSpPr>
              <p:cNvPr id="10" name="TextBox 9">
                <a:extLst>
                  <a:ext uri="{FF2B5EF4-FFF2-40B4-BE49-F238E27FC236}">
                    <a16:creationId xmlns:a16="http://schemas.microsoft.com/office/drawing/2014/main" id="{FDA318A9-0CFD-F674-D9A7-F0D8D39D1BA7}"/>
                  </a:ext>
                </a:extLst>
              </p:cNvPr>
              <p:cNvSpPr txBox="1"/>
              <p:nvPr/>
            </p:nvSpPr>
            <p:spPr>
              <a:xfrm>
                <a:off x="758952" y="2340864"/>
                <a:ext cx="2487168" cy="646331"/>
              </a:xfrm>
              <a:prstGeom prst="rect">
                <a:avLst/>
              </a:prstGeom>
              <a:noFill/>
            </p:spPr>
            <p:txBody>
              <a:bodyPr wrap="square" rtlCol="0">
                <a:spAutoFit/>
              </a:bodyPr>
              <a:lstStyle/>
              <a:p>
                <a:pPr algn="ctr"/>
                <a:r>
                  <a:rPr lang="en-US" noProof="1"/>
                  <a:t>trained_model.joblib </a:t>
                </a:r>
              </a:p>
              <a:p>
                <a:pPr algn="ctr"/>
                <a:r>
                  <a:rPr lang="en-US" noProof="1"/>
                  <a:t>+ predictions.csv</a:t>
                </a:r>
                <a:endParaRPr lang="en-US" i="1" noProof="1"/>
              </a:p>
            </p:txBody>
          </p:sp>
        </p:grpSp>
        <p:sp>
          <p:nvSpPr>
            <p:cNvPr id="11" name="Arrow: Right 10">
              <a:extLst>
                <a:ext uri="{FF2B5EF4-FFF2-40B4-BE49-F238E27FC236}">
                  <a16:creationId xmlns:a16="http://schemas.microsoft.com/office/drawing/2014/main" id="{FCC9676F-FF5C-6BC1-99FA-703C93935CDE}"/>
                </a:ext>
              </a:extLst>
            </p:cNvPr>
            <p:cNvSpPr/>
            <p:nvPr/>
          </p:nvSpPr>
          <p:spPr>
            <a:xfrm>
              <a:off x="5155692" y="1695211"/>
              <a:ext cx="2020824" cy="646331"/>
            </a:xfrm>
            <a:prstGeom prst="rightArrow">
              <a:avLst/>
            </a:prstGeom>
            <a:solidFill>
              <a:schemeClr val="bg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13" name="TextBox 12">
            <a:extLst>
              <a:ext uri="{FF2B5EF4-FFF2-40B4-BE49-F238E27FC236}">
                <a16:creationId xmlns:a16="http://schemas.microsoft.com/office/drawing/2014/main" id="{CCE05F98-0A6D-A2B6-9178-A634ACECF21A}"/>
              </a:ext>
            </a:extLst>
          </p:cNvPr>
          <p:cNvSpPr txBox="1"/>
          <p:nvPr/>
        </p:nvSpPr>
        <p:spPr>
          <a:xfrm>
            <a:off x="658368" y="2844462"/>
            <a:ext cx="10698480" cy="369332"/>
          </a:xfrm>
          <a:prstGeom prst="rect">
            <a:avLst/>
          </a:prstGeom>
          <a:noFill/>
        </p:spPr>
        <p:txBody>
          <a:bodyPr wrap="square" rtlCol="0">
            <a:spAutoFit/>
          </a:bodyPr>
          <a:lstStyle/>
          <a:p>
            <a:pPr algn="just"/>
            <a:r>
              <a:rPr lang="en-US" b="1" noProof="1"/>
              <a:t>What we do:</a:t>
            </a:r>
            <a:endParaRPr lang="en-US" noProof="1"/>
          </a:p>
        </p:txBody>
      </p:sp>
      <p:sp>
        <p:nvSpPr>
          <p:cNvPr id="14" name="TextBox 13">
            <a:extLst>
              <a:ext uri="{FF2B5EF4-FFF2-40B4-BE49-F238E27FC236}">
                <a16:creationId xmlns:a16="http://schemas.microsoft.com/office/drawing/2014/main" id="{CDC6B0E2-C716-58A9-48AA-A29E688766A9}"/>
              </a:ext>
            </a:extLst>
          </p:cNvPr>
          <p:cNvSpPr txBox="1"/>
          <p:nvPr/>
        </p:nvSpPr>
        <p:spPr>
          <a:xfrm>
            <a:off x="835152" y="3213794"/>
            <a:ext cx="10521696" cy="1754326"/>
          </a:xfrm>
          <a:prstGeom prst="rect">
            <a:avLst/>
          </a:prstGeom>
          <a:noFill/>
        </p:spPr>
        <p:txBody>
          <a:bodyPr wrap="square" rtlCol="0">
            <a:spAutoFit/>
          </a:bodyPr>
          <a:lstStyle/>
          <a:p>
            <a:pPr marL="342900" indent="-342900">
              <a:buFont typeface="+mj-lt"/>
              <a:buAutoNum type="arabicParenR"/>
            </a:pPr>
            <a:r>
              <a:rPr lang="en-US" noProof="1"/>
              <a:t>Load engineered features from Notebook 2 (</a:t>
            </a:r>
            <a:r>
              <a:rPr lang="en-US" i="1" noProof="1">
                <a:solidFill>
                  <a:schemeClr val="accent2"/>
                </a:solidFill>
              </a:rPr>
              <a:t>alpha_features.h5</a:t>
            </a:r>
            <a:r>
              <a:rPr lang="en-US" noProof="1"/>
              <a:t>)</a:t>
            </a:r>
          </a:p>
          <a:p>
            <a:pPr marL="342900" indent="-342900">
              <a:buFont typeface="+mj-lt"/>
              <a:buAutoNum type="arabicParenR"/>
            </a:pPr>
            <a:r>
              <a:rPr lang="en-US" noProof="1"/>
              <a:t>Split data using time-series methodology (no lookahead bias)</a:t>
            </a:r>
          </a:p>
          <a:p>
            <a:pPr marL="342900" indent="-342900">
              <a:buFont typeface="+mj-lt"/>
              <a:buAutoNum type="arabicParenR"/>
            </a:pPr>
            <a:r>
              <a:rPr lang="en-US" noProof="1"/>
              <a:t>Train a machine learning model</a:t>
            </a:r>
          </a:p>
          <a:p>
            <a:pPr marL="342900" indent="-342900">
              <a:buFont typeface="+mj-lt"/>
              <a:buAutoNum type="arabicParenR"/>
            </a:pPr>
            <a:r>
              <a:rPr lang="en-US" noProof="1"/>
              <a:t>Evaluate model performance with proper metrics</a:t>
            </a:r>
          </a:p>
          <a:p>
            <a:pPr marL="342900" indent="-342900">
              <a:buFont typeface="+mj-lt"/>
              <a:buAutoNum type="arabicParenR"/>
            </a:pPr>
            <a:r>
              <a:rPr lang="en-US" noProof="1"/>
              <a:t>Analyze feature importance</a:t>
            </a:r>
          </a:p>
          <a:p>
            <a:pPr marL="342900" indent="-342900">
              <a:buFont typeface="+mj-lt"/>
              <a:buAutoNum type="arabicParenR"/>
            </a:pPr>
            <a:r>
              <a:rPr lang="en-US" noProof="1"/>
              <a:t>Generate predictions for backtesting</a:t>
            </a:r>
          </a:p>
        </p:txBody>
      </p:sp>
    </p:spTree>
    <p:extLst>
      <p:ext uri="{BB962C8B-B14F-4D97-AF65-F5344CB8AC3E}">
        <p14:creationId xmlns:p14="http://schemas.microsoft.com/office/powerpoint/2010/main" val="2559019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8C634-91EF-6863-5584-0CDD4538FDB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093A011-0115-BB46-B589-21980A06AC3B}"/>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8478F8A-6007-F6E5-82BA-4D98C5D0E719}"/>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2" name="TextBox 1">
            <a:extLst>
              <a:ext uri="{FF2B5EF4-FFF2-40B4-BE49-F238E27FC236}">
                <a16:creationId xmlns:a16="http://schemas.microsoft.com/office/drawing/2014/main" id="{F0CC31DC-80A8-0C61-EE1B-47C64E1D9898}"/>
              </a:ext>
            </a:extLst>
          </p:cNvPr>
          <p:cNvSpPr txBox="1"/>
          <p:nvPr/>
        </p:nvSpPr>
        <p:spPr>
          <a:xfrm>
            <a:off x="658368" y="1106424"/>
            <a:ext cx="10698480" cy="369332"/>
          </a:xfrm>
          <a:prstGeom prst="rect">
            <a:avLst/>
          </a:prstGeom>
          <a:noFill/>
        </p:spPr>
        <p:txBody>
          <a:bodyPr wrap="square" rtlCol="0">
            <a:spAutoFit/>
          </a:bodyPr>
          <a:lstStyle/>
          <a:p>
            <a:pPr marL="342900" indent="-342900">
              <a:buFont typeface="+mj-lt"/>
              <a:buAutoNum type="arabicParenR"/>
            </a:pPr>
            <a:r>
              <a:rPr lang="en-US" noProof="1"/>
              <a:t>Load engineered features (</a:t>
            </a:r>
            <a:r>
              <a:rPr lang="en-US" i="1" noProof="1">
                <a:solidFill>
                  <a:schemeClr val="accent2"/>
                </a:solidFill>
              </a:rPr>
              <a:t>alpha_features.h5</a:t>
            </a:r>
            <a:r>
              <a:rPr lang="en-US" noProof="1"/>
              <a:t>)</a:t>
            </a:r>
          </a:p>
        </p:txBody>
      </p:sp>
      <p:pic>
        <p:nvPicPr>
          <p:cNvPr id="16" name="Picture 15">
            <a:extLst>
              <a:ext uri="{FF2B5EF4-FFF2-40B4-BE49-F238E27FC236}">
                <a16:creationId xmlns:a16="http://schemas.microsoft.com/office/drawing/2014/main" id="{C9D93116-9488-DB8C-0D7D-6CCDDBA15C60}"/>
              </a:ext>
            </a:extLst>
          </p:cNvPr>
          <p:cNvPicPr>
            <a:picLocks noChangeAspect="1"/>
          </p:cNvPicPr>
          <p:nvPr/>
        </p:nvPicPr>
        <p:blipFill>
          <a:blip r:embed="rId2"/>
          <a:stretch>
            <a:fillRect/>
          </a:stretch>
        </p:blipFill>
        <p:spPr>
          <a:xfrm>
            <a:off x="1088136" y="1564335"/>
            <a:ext cx="10268712" cy="1967736"/>
          </a:xfrm>
          <a:prstGeom prst="rect">
            <a:avLst/>
          </a:prstGeom>
          <a:ln>
            <a:solidFill>
              <a:schemeClr val="accent2"/>
            </a:solidFill>
          </a:ln>
        </p:spPr>
      </p:pic>
      <p:sp>
        <p:nvSpPr>
          <p:cNvPr id="20" name="TextBox 19">
            <a:extLst>
              <a:ext uri="{FF2B5EF4-FFF2-40B4-BE49-F238E27FC236}">
                <a16:creationId xmlns:a16="http://schemas.microsoft.com/office/drawing/2014/main" id="{1F2B0A9E-C05A-0725-1EA7-02FC43E14918}"/>
              </a:ext>
            </a:extLst>
          </p:cNvPr>
          <p:cNvSpPr txBox="1"/>
          <p:nvPr/>
        </p:nvSpPr>
        <p:spPr>
          <a:xfrm>
            <a:off x="1088136" y="3748666"/>
            <a:ext cx="10268712" cy="923330"/>
          </a:xfrm>
          <a:prstGeom prst="rect">
            <a:avLst/>
          </a:prstGeom>
          <a:noFill/>
        </p:spPr>
        <p:txBody>
          <a:bodyPr wrap="square" rtlCol="0">
            <a:spAutoFit/>
          </a:bodyPr>
          <a:lstStyle/>
          <a:p>
            <a:pPr marL="285750" indent="-285750">
              <a:buFont typeface="Wingdings" panose="05000000000000000000" pitchFamily="2" charset="2"/>
              <a:buChar char="ü"/>
            </a:pPr>
            <a:r>
              <a:rPr lang="en-US" b="1" noProof="1"/>
              <a:t>Volume :</a:t>
            </a:r>
            <a:r>
              <a:rPr lang="en-US" noProof="1"/>
              <a:t> ~24,000 points de données (12 Tickers sur 7 ans).</a:t>
            </a:r>
          </a:p>
          <a:p>
            <a:pPr marL="285750" indent="-285750">
              <a:buFont typeface="Wingdings" panose="05000000000000000000" pitchFamily="2" charset="2"/>
              <a:buChar char="ü"/>
            </a:pPr>
            <a:r>
              <a:rPr lang="en-US" b="1" noProof="1"/>
              <a:t>Format :</a:t>
            </a:r>
            <a:r>
              <a:rPr lang="en-US" noProof="1"/>
              <a:t> HDF5 pour une lecture rapide et structurée.</a:t>
            </a:r>
          </a:p>
          <a:p>
            <a:pPr marL="285750" indent="-285750">
              <a:buFont typeface="Wingdings" panose="05000000000000000000" pitchFamily="2" charset="2"/>
              <a:buChar char="ü"/>
            </a:pPr>
            <a:r>
              <a:rPr lang="en-US" b="1" noProof="1"/>
              <a:t>Input Matrix (X) :</a:t>
            </a:r>
            <a:r>
              <a:rPr lang="en-US" noProof="1"/>
              <a:t> 27 Features techniques par jour et par action.</a:t>
            </a:r>
          </a:p>
        </p:txBody>
      </p:sp>
    </p:spTree>
    <p:extLst>
      <p:ext uri="{BB962C8B-B14F-4D97-AF65-F5344CB8AC3E}">
        <p14:creationId xmlns:p14="http://schemas.microsoft.com/office/powerpoint/2010/main" val="1227901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D78E6-2973-82F4-34CC-AE658CEAB03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B29080C-E90F-C5E5-2117-5925E39ADE60}"/>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980FFB6-7452-90D4-338B-8D98B0E8BDB3}"/>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17" name="TextBox 16">
            <a:extLst>
              <a:ext uri="{FF2B5EF4-FFF2-40B4-BE49-F238E27FC236}">
                <a16:creationId xmlns:a16="http://schemas.microsoft.com/office/drawing/2014/main" id="{F25E62E5-6667-C1B4-3F18-FD54F260C6A1}"/>
              </a:ext>
            </a:extLst>
          </p:cNvPr>
          <p:cNvSpPr txBox="1"/>
          <p:nvPr/>
        </p:nvSpPr>
        <p:spPr>
          <a:xfrm>
            <a:off x="658368" y="1042042"/>
            <a:ext cx="10698480" cy="369332"/>
          </a:xfrm>
          <a:prstGeom prst="rect">
            <a:avLst/>
          </a:prstGeom>
          <a:noFill/>
        </p:spPr>
        <p:txBody>
          <a:bodyPr wrap="square" rtlCol="0">
            <a:spAutoFit/>
          </a:bodyPr>
          <a:lstStyle/>
          <a:p>
            <a:r>
              <a:rPr lang="en-US" noProof="1"/>
              <a:t>2)   Split data using time-series methodology (no lookahead bias)</a:t>
            </a:r>
          </a:p>
        </p:txBody>
      </p:sp>
      <p:pic>
        <p:nvPicPr>
          <p:cNvPr id="19" name="Picture 18">
            <a:extLst>
              <a:ext uri="{FF2B5EF4-FFF2-40B4-BE49-F238E27FC236}">
                <a16:creationId xmlns:a16="http://schemas.microsoft.com/office/drawing/2014/main" id="{515D0BD8-5D91-79D5-A5CD-127BD0E964F5}"/>
              </a:ext>
            </a:extLst>
          </p:cNvPr>
          <p:cNvPicPr>
            <a:picLocks noChangeAspect="1"/>
          </p:cNvPicPr>
          <p:nvPr/>
        </p:nvPicPr>
        <p:blipFill>
          <a:blip r:embed="rId2"/>
          <a:srcRect t="19606" b="41853"/>
          <a:stretch>
            <a:fillRect/>
          </a:stretch>
        </p:blipFill>
        <p:spPr>
          <a:xfrm>
            <a:off x="658368" y="1514735"/>
            <a:ext cx="5498591" cy="1594200"/>
          </a:xfrm>
          <a:prstGeom prst="rect">
            <a:avLst/>
          </a:prstGeom>
          <a:ln>
            <a:solidFill>
              <a:schemeClr val="accent2"/>
            </a:solidFill>
          </a:ln>
        </p:spPr>
      </p:pic>
      <p:pic>
        <p:nvPicPr>
          <p:cNvPr id="4" name="Picture 3">
            <a:extLst>
              <a:ext uri="{FF2B5EF4-FFF2-40B4-BE49-F238E27FC236}">
                <a16:creationId xmlns:a16="http://schemas.microsoft.com/office/drawing/2014/main" id="{D1229F29-520B-6FEF-E54B-9FCB031285BA}"/>
              </a:ext>
            </a:extLst>
          </p:cNvPr>
          <p:cNvPicPr>
            <a:picLocks noChangeAspect="1"/>
          </p:cNvPicPr>
          <p:nvPr/>
        </p:nvPicPr>
        <p:blipFill>
          <a:blip r:embed="rId2"/>
          <a:srcRect t="61460"/>
          <a:stretch>
            <a:fillRect/>
          </a:stretch>
        </p:blipFill>
        <p:spPr>
          <a:xfrm>
            <a:off x="5858257" y="1514735"/>
            <a:ext cx="5498591" cy="1594200"/>
          </a:xfrm>
          <a:prstGeom prst="rect">
            <a:avLst/>
          </a:prstGeom>
          <a:ln>
            <a:solidFill>
              <a:schemeClr val="accent2"/>
            </a:solidFill>
          </a:ln>
        </p:spPr>
      </p:pic>
      <p:sp>
        <p:nvSpPr>
          <p:cNvPr id="5" name="TextBox 4">
            <a:extLst>
              <a:ext uri="{FF2B5EF4-FFF2-40B4-BE49-F238E27FC236}">
                <a16:creationId xmlns:a16="http://schemas.microsoft.com/office/drawing/2014/main" id="{70972295-2F6E-221C-45EA-4005F0443CCD}"/>
              </a:ext>
            </a:extLst>
          </p:cNvPr>
          <p:cNvSpPr txBox="1"/>
          <p:nvPr/>
        </p:nvSpPr>
        <p:spPr>
          <a:xfrm>
            <a:off x="658368" y="3287401"/>
            <a:ext cx="10268712" cy="1200329"/>
          </a:xfrm>
          <a:prstGeom prst="rect">
            <a:avLst/>
          </a:prstGeom>
          <a:noFill/>
        </p:spPr>
        <p:txBody>
          <a:bodyPr wrap="square" rtlCol="0">
            <a:spAutoFit/>
          </a:bodyPr>
          <a:lstStyle/>
          <a:p>
            <a:pPr marL="285750" indent="-285750">
              <a:buFont typeface="Wingdings" panose="05000000000000000000" pitchFamily="2" charset="2"/>
              <a:buChar char="ü"/>
            </a:pPr>
            <a:r>
              <a:rPr lang="en-US" b="1" noProof="1"/>
              <a:t>Méthode :</a:t>
            </a:r>
            <a:r>
              <a:rPr lang="en-US" noProof="1"/>
              <a:t> </a:t>
            </a:r>
            <a:r>
              <a:rPr lang="en-US" i="1" noProof="1"/>
              <a:t>Walk-Forward Validation</a:t>
            </a:r>
            <a:r>
              <a:rPr lang="en-US" noProof="1"/>
              <a:t> (Pas de K-Fold aléatoire).</a:t>
            </a:r>
          </a:p>
          <a:p>
            <a:pPr marL="285750" indent="-285750">
              <a:buFont typeface="Wingdings" panose="05000000000000000000" pitchFamily="2" charset="2"/>
              <a:buChar char="ü"/>
            </a:pPr>
            <a:r>
              <a:rPr lang="en-US" b="1" noProof="1"/>
              <a:t>Train Set (Apprentissage) :</a:t>
            </a:r>
            <a:r>
              <a:rPr lang="en-US" noProof="1"/>
              <a:t> 2016 – 2021 (Marché majoritairement haussier).</a:t>
            </a:r>
          </a:p>
          <a:p>
            <a:pPr marL="285750" indent="-285750">
              <a:buFont typeface="Wingdings" panose="05000000000000000000" pitchFamily="2" charset="2"/>
              <a:buChar char="ü"/>
            </a:pPr>
            <a:r>
              <a:rPr lang="en-US" b="1" noProof="1"/>
              <a:t>Test Set (Validation) :</a:t>
            </a:r>
            <a:r>
              <a:rPr lang="en-US" noProof="1"/>
              <a:t> 2022 – 2023 (Marché baissier/choppy).</a:t>
            </a:r>
          </a:p>
          <a:p>
            <a:pPr marL="285750" indent="-285750">
              <a:buFont typeface="Wingdings" panose="05000000000000000000" pitchFamily="2" charset="2"/>
              <a:buChar char="ü"/>
            </a:pPr>
            <a:r>
              <a:rPr lang="en-US" b="1" noProof="1"/>
              <a:t>Objectif :</a:t>
            </a:r>
            <a:r>
              <a:rPr lang="en-US" noProof="1"/>
              <a:t> Tester la robustesse du modèle face à un régime de marché qu'il n'a jamais vu.</a:t>
            </a:r>
          </a:p>
        </p:txBody>
      </p:sp>
    </p:spTree>
    <p:extLst>
      <p:ext uri="{BB962C8B-B14F-4D97-AF65-F5344CB8AC3E}">
        <p14:creationId xmlns:p14="http://schemas.microsoft.com/office/powerpoint/2010/main" val="3478190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CDF05-98C2-E22B-52D0-3AF7BB68BC66}"/>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337E224-2F4C-371C-4DE9-EB6AB786389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F25CCEC-4D72-358D-D5CB-9E3DCEFD2A31}"/>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17" name="TextBox 16">
            <a:extLst>
              <a:ext uri="{FF2B5EF4-FFF2-40B4-BE49-F238E27FC236}">
                <a16:creationId xmlns:a16="http://schemas.microsoft.com/office/drawing/2014/main" id="{4C96C45D-652D-3AF4-6925-213986A83AC7}"/>
              </a:ext>
            </a:extLst>
          </p:cNvPr>
          <p:cNvSpPr txBox="1"/>
          <p:nvPr/>
        </p:nvSpPr>
        <p:spPr>
          <a:xfrm>
            <a:off x="658368" y="1042042"/>
            <a:ext cx="10698480" cy="369332"/>
          </a:xfrm>
          <a:prstGeom prst="rect">
            <a:avLst/>
          </a:prstGeom>
          <a:noFill/>
        </p:spPr>
        <p:txBody>
          <a:bodyPr wrap="square" rtlCol="0">
            <a:spAutoFit/>
          </a:bodyPr>
          <a:lstStyle/>
          <a:p>
            <a:r>
              <a:rPr lang="en-US" noProof="1"/>
              <a:t>3)   Train a machine learning model</a:t>
            </a:r>
          </a:p>
        </p:txBody>
      </p:sp>
      <p:pic>
        <p:nvPicPr>
          <p:cNvPr id="4" name="Picture 3">
            <a:extLst>
              <a:ext uri="{FF2B5EF4-FFF2-40B4-BE49-F238E27FC236}">
                <a16:creationId xmlns:a16="http://schemas.microsoft.com/office/drawing/2014/main" id="{38FD036A-DE96-0FD4-D966-26001CADA7E2}"/>
              </a:ext>
            </a:extLst>
          </p:cNvPr>
          <p:cNvPicPr>
            <a:picLocks noChangeAspect="1"/>
          </p:cNvPicPr>
          <p:nvPr/>
        </p:nvPicPr>
        <p:blipFill>
          <a:blip r:embed="rId2"/>
          <a:stretch>
            <a:fillRect/>
          </a:stretch>
        </p:blipFill>
        <p:spPr>
          <a:xfrm>
            <a:off x="6052396" y="1484151"/>
            <a:ext cx="5304452" cy="4575989"/>
          </a:xfrm>
          <a:prstGeom prst="rect">
            <a:avLst/>
          </a:prstGeom>
          <a:ln>
            <a:solidFill>
              <a:schemeClr val="accent2"/>
            </a:solidFill>
          </a:ln>
        </p:spPr>
      </p:pic>
      <p:sp>
        <p:nvSpPr>
          <p:cNvPr id="5" name="TextBox 4">
            <a:extLst>
              <a:ext uri="{FF2B5EF4-FFF2-40B4-BE49-F238E27FC236}">
                <a16:creationId xmlns:a16="http://schemas.microsoft.com/office/drawing/2014/main" id="{9D31F079-A817-915C-C0E9-6F585410F903}"/>
              </a:ext>
            </a:extLst>
          </p:cNvPr>
          <p:cNvSpPr txBox="1"/>
          <p:nvPr/>
        </p:nvSpPr>
        <p:spPr>
          <a:xfrm>
            <a:off x="658368" y="1533064"/>
            <a:ext cx="5056632" cy="3791872"/>
          </a:xfrm>
          <a:prstGeom prst="rect">
            <a:avLst/>
          </a:prstGeom>
          <a:noFill/>
        </p:spPr>
        <p:txBody>
          <a:bodyPr wrap="square" rtlCol="0">
            <a:spAutoFit/>
          </a:bodyPr>
          <a:lstStyle/>
          <a:p>
            <a:pPr>
              <a:lnSpc>
                <a:spcPct val="150000"/>
              </a:lnSpc>
            </a:pPr>
            <a:r>
              <a:rPr lang="en-US" b="1" noProof="1"/>
              <a:t>Baseline Linéaire :</a:t>
            </a:r>
            <a:r>
              <a:rPr lang="en-US" noProof="1"/>
              <a:t> </a:t>
            </a:r>
          </a:p>
          <a:p>
            <a:pPr>
              <a:lnSpc>
                <a:spcPct val="150000"/>
              </a:lnSpc>
            </a:pPr>
            <a:r>
              <a:rPr lang="en-US" noProof="1"/>
              <a:t>Logistic Regression, Ridge, Lasso (pour vérifier si le signal est simple).</a:t>
            </a:r>
          </a:p>
          <a:p>
            <a:pPr>
              <a:lnSpc>
                <a:spcPct val="150000"/>
              </a:lnSpc>
            </a:pPr>
            <a:r>
              <a:rPr lang="en-US" b="1" noProof="1"/>
              <a:t>Modèles Complexes :</a:t>
            </a:r>
            <a:r>
              <a:rPr lang="en-US" noProof="1"/>
              <a:t> </a:t>
            </a:r>
          </a:p>
          <a:p>
            <a:pPr>
              <a:lnSpc>
                <a:spcPct val="150000"/>
              </a:lnSpc>
            </a:pPr>
            <a:r>
              <a:rPr lang="en-US" noProof="1"/>
              <a:t>Random Forest (Bagging), XGBoost/LightGBM/CatBoost (Boosting).</a:t>
            </a:r>
          </a:p>
          <a:p>
            <a:pPr>
              <a:lnSpc>
                <a:spcPct val="150000"/>
              </a:lnSpc>
            </a:pPr>
            <a:r>
              <a:rPr lang="en-US" b="1" noProof="1"/>
              <a:t>Objectif :</a:t>
            </a:r>
            <a:r>
              <a:rPr lang="en-US" noProof="1"/>
              <a:t> </a:t>
            </a:r>
          </a:p>
          <a:p>
            <a:pPr>
              <a:lnSpc>
                <a:spcPct val="150000"/>
              </a:lnSpc>
            </a:pPr>
            <a:r>
              <a:rPr lang="en-US" noProof="1"/>
              <a:t>Identifier quel algorithme capture le mieux la non-linéarité des marchés.</a:t>
            </a:r>
          </a:p>
        </p:txBody>
      </p:sp>
    </p:spTree>
    <p:extLst>
      <p:ext uri="{BB962C8B-B14F-4D97-AF65-F5344CB8AC3E}">
        <p14:creationId xmlns:p14="http://schemas.microsoft.com/office/powerpoint/2010/main" val="1155504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96762-645F-D922-5166-25345A5F8EE8}"/>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88859A3-AD5C-D320-F4AB-2C565DEF3E8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F15383A-3222-A3A3-0C6C-95B393FB56D5}"/>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17" name="TextBox 16">
            <a:extLst>
              <a:ext uri="{FF2B5EF4-FFF2-40B4-BE49-F238E27FC236}">
                <a16:creationId xmlns:a16="http://schemas.microsoft.com/office/drawing/2014/main" id="{FD0B548A-BC08-1739-A8F2-8226C9E5B5B6}"/>
              </a:ext>
            </a:extLst>
          </p:cNvPr>
          <p:cNvSpPr txBox="1"/>
          <p:nvPr/>
        </p:nvSpPr>
        <p:spPr>
          <a:xfrm>
            <a:off x="658368" y="1042042"/>
            <a:ext cx="10698480" cy="369332"/>
          </a:xfrm>
          <a:prstGeom prst="rect">
            <a:avLst/>
          </a:prstGeom>
          <a:noFill/>
        </p:spPr>
        <p:txBody>
          <a:bodyPr wrap="square" rtlCol="0">
            <a:spAutoFit/>
          </a:bodyPr>
          <a:lstStyle/>
          <a:p>
            <a:r>
              <a:rPr lang="en-US" noProof="1"/>
              <a:t>4) Evaluate model performance with proper metrics</a:t>
            </a:r>
          </a:p>
        </p:txBody>
      </p:sp>
      <p:pic>
        <p:nvPicPr>
          <p:cNvPr id="5" name="Picture 4">
            <a:extLst>
              <a:ext uri="{FF2B5EF4-FFF2-40B4-BE49-F238E27FC236}">
                <a16:creationId xmlns:a16="http://schemas.microsoft.com/office/drawing/2014/main" id="{0A0406B4-773B-E7D8-8840-80B206A5976F}"/>
              </a:ext>
            </a:extLst>
          </p:cNvPr>
          <p:cNvPicPr>
            <a:picLocks noChangeAspect="1"/>
          </p:cNvPicPr>
          <p:nvPr/>
        </p:nvPicPr>
        <p:blipFill>
          <a:blip r:embed="rId2"/>
          <a:srcRect t="42956" b="20716"/>
          <a:stretch>
            <a:fillRect/>
          </a:stretch>
        </p:blipFill>
        <p:spPr>
          <a:xfrm>
            <a:off x="1026949" y="3312055"/>
            <a:ext cx="7657743" cy="1800058"/>
          </a:xfrm>
          <a:prstGeom prst="rect">
            <a:avLst/>
          </a:prstGeom>
          <a:ln>
            <a:solidFill>
              <a:schemeClr val="accent2"/>
            </a:solidFill>
          </a:ln>
        </p:spPr>
      </p:pic>
      <p:pic>
        <p:nvPicPr>
          <p:cNvPr id="6" name="Picture 5">
            <a:extLst>
              <a:ext uri="{FF2B5EF4-FFF2-40B4-BE49-F238E27FC236}">
                <a16:creationId xmlns:a16="http://schemas.microsoft.com/office/drawing/2014/main" id="{2A8F8A36-3899-8AFD-92EB-C423355C32DD}"/>
              </a:ext>
            </a:extLst>
          </p:cNvPr>
          <p:cNvPicPr>
            <a:picLocks noChangeAspect="1"/>
          </p:cNvPicPr>
          <p:nvPr/>
        </p:nvPicPr>
        <p:blipFill>
          <a:blip r:embed="rId2"/>
          <a:srcRect t="4065" b="59607"/>
          <a:stretch>
            <a:fillRect/>
          </a:stretch>
        </p:blipFill>
        <p:spPr>
          <a:xfrm>
            <a:off x="1026950" y="1451723"/>
            <a:ext cx="7657743" cy="1800059"/>
          </a:xfrm>
          <a:prstGeom prst="rect">
            <a:avLst/>
          </a:prstGeom>
          <a:ln>
            <a:solidFill>
              <a:schemeClr val="accent2"/>
            </a:solidFill>
          </a:ln>
        </p:spPr>
      </p:pic>
      <p:pic>
        <p:nvPicPr>
          <p:cNvPr id="8" name="Picture 7">
            <a:extLst>
              <a:ext uri="{FF2B5EF4-FFF2-40B4-BE49-F238E27FC236}">
                <a16:creationId xmlns:a16="http://schemas.microsoft.com/office/drawing/2014/main" id="{B02969E1-8541-3D5B-94B8-A4DC37C9BE95}"/>
              </a:ext>
            </a:extLst>
          </p:cNvPr>
          <p:cNvPicPr>
            <a:picLocks noChangeAspect="1"/>
          </p:cNvPicPr>
          <p:nvPr/>
        </p:nvPicPr>
        <p:blipFill>
          <a:blip r:embed="rId2"/>
          <a:srcRect l="1738" t="83182" r="61830"/>
          <a:stretch>
            <a:fillRect/>
          </a:stretch>
        </p:blipFill>
        <p:spPr>
          <a:xfrm>
            <a:off x="8780106" y="1451723"/>
            <a:ext cx="2576742" cy="833332"/>
          </a:xfrm>
          <a:prstGeom prst="rect">
            <a:avLst/>
          </a:prstGeom>
          <a:ln>
            <a:solidFill>
              <a:schemeClr val="accent2"/>
            </a:solidFill>
          </a:ln>
        </p:spPr>
      </p:pic>
      <p:sp>
        <p:nvSpPr>
          <p:cNvPr id="9" name="TextBox 8">
            <a:extLst>
              <a:ext uri="{FF2B5EF4-FFF2-40B4-BE49-F238E27FC236}">
                <a16:creationId xmlns:a16="http://schemas.microsoft.com/office/drawing/2014/main" id="{F11BD797-A35D-C846-7D48-B06642192ABA}"/>
              </a:ext>
            </a:extLst>
          </p:cNvPr>
          <p:cNvSpPr txBox="1"/>
          <p:nvPr/>
        </p:nvSpPr>
        <p:spPr>
          <a:xfrm>
            <a:off x="779666" y="5215793"/>
            <a:ext cx="10577182" cy="1200329"/>
          </a:xfrm>
          <a:prstGeom prst="rect">
            <a:avLst/>
          </a:prstGeom>
          <a:noFill/>
        </p:spPr>
        <p:txBody>
          <a:bodyPr wrap="square" rtlCol="0">
            <a:spAutoFit/>
          </a:bodyPr>
          <a:lstStyle/>
          <a:p>
            <a:pPr marL="285750" indent="-285750">
              <a:buFont typeface="Wingdings" panose="05000000000000000000" pitchFamily="2" charset="2"/>
              <a:buChar char="ü"/>
            </a:pPr>
            <a:r>
              <a:rPr lang="en-US" b="1" noProof="1"/>
              <a:t>Le Vainqueur :</a:t>
            </a:r>
            <a:r>
              <a:rPr lang="en-US" noProof="1"/>
              <a:t> </a:t>
            </a:r>
            <a:r>
              <a:rPr lang="en-US" b="1" noProof="1"/>
              <a:t>CatBoost</a:t>
            </a:r>
            <a:r>
              <a:rPr lang="en-US" noProof="1"/>
              <a:t> (Test AUC: 0.5323).</a:t>
            </a:r>
          </a:p>
          <a:p>
            <a:pPr marL="285750" indent="-285750">
              <a:buFont typeface="Wingdings" panose="05000000000000000000" pitchFamily="2" charset="2"/>
              <a:buChar char="ü"/>
            </a:pPr>
            <a:r>
              <a:rPr lang="en-US" b="1" noProof="1"/>
              <a:t>L'Overfitting :</a:t>
            </a:r>
            <a:r>
              <a:rPr lang="en-US" noProof="1"/>
              <a:t> Notez que le Random Forest a 61% de précision en Train mais chute à 51% en Test. Il a appris le bruit "par cœur".</a:t>
            </a:r>
          </a:p>
          <a:p>
            <a:pPr marL="285750" indent="-285750">
              <a:buFont typeface="Wingdings" panose="05000000000000000000" pitchFamily="2" charset="2"/>
              <a:buChar char="ü"/>
            </a:pPr>
            <a:r>
              <a:rPr lang="en-US" b="1" noProof="1"/>
              <a:t>Stabilité :</a:t>
            </a:r>
            <a:r>
              <a:rPr lang="en-US" noProof="1"/>
              <a:t> Les modèles linéaires et CatBoost sont les plus stables entre Train et Test.</a:t>
            </a:r>
          </a:p>
        </p:txBody>
      </p:sp>
    </p:spTree>
    <p:extLst>
      <p:ext uri="{BB962C8B-B14F-4D97-AF65-F5344CB8AC3E}">
        <p14:creationId xmlns:p14="http://schemas.microsoft.com/office/powerpoint/2010/main" val="683129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7AB80-72D6-B8D2-E0EF-C5D17779C8E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A3FB7E2-FE03-4F97-2CCB-9E30B562B87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806ABE1-066F-2618-A96B-40FB83FDB9B2}"/>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17" name="TextBox 16">
            <a:extLst>
              <a:ext uri="{FF2B5EF4-FFF2-40B4-BE49-F238E27FC236}">
                <a16:creationId xmlns:a16="http://schemas.microsoft.com/office/drawing/2014/main" id="{AC333368-7C96-EC5A-9C44-5D02ABA70D3F}"/>
              </a:ext>
            </a:extLst>
          </p:cNvPr>
          <p:cNvSpPr txBox="1"/>
          <p:nvPr/>
        </p:nvSpPr>
        <p:spPr>
          <a:xfrm>
            <a:off x="658368" y="1042042"/>
            <a:ext cx="10698480" cy="369332"/>
          </a:xfrm>
          <a:prstGeom prst="rect">
            <a:avLst/>
          </a:prstGeom>
          <a:noFill/>
        </p:spPr>
        <p:txBody>
          <a:bodyPr wrap="square" rtlCol="0">
            <a:spAutoFit/>
          </a:bodyPr>
          <a:lstStyle/>
          <a:p>
            <a:r>
              <a:rPr lang="en-US" noProof="1"/>
              <a:t>5)  Analyze feature importance</a:t>
            </a:r>
          </a:p>
        </p:txBody>
      </p:sp>
      <p:pic>
        <p:nvPicPr>
          <p:cNvPr id="4" name="Picture 3">
            <a:extLst>
              <a:ext uri="{FF2B5EF4-FFF2-40B4-BE49-F238E27FC236}">
                <a16:creationId xmlns:a16="http://schemas.microsoft.com/office/drawing/2014/main" id="{4EE6F4FA-E097-FC11-F294-99004449E8A5}"/>
              </a:ext>
            </a:extLst>
          </p:cNvPr>
          <p:cNvPicPr>
            <a:picLocks noChangeAspect="1"/>
          </p:cNvPicPr>
          <p:nvPr/>
        </p:nvPicPr>
        <p:blipFill>
          <a:blip r:embed="rId2"/>
          <a:srcRect b="28773"/>
          <a:stretch>
            <a:fillRect/>
          </a:stretch>
        </p:blipFill>
        <p:spPr>
          <a:xfrm>
            <a:off x="746760" y="1566447"/>
            <a:ext cx="10698480" cy="3182837"/>
          </a:xfrm>
          <a:prstGeom prst="rect">
            <a:avLst/>
          </a:prstGeom>
        </p:spPr>
      </p:pic>
      <p:sp>
        <p:nvSpPr>
          <p:cNvPr id="6" name="TextBox 5">
            <a:extLst>
              <a:ext uri="{FF2B5EF4-FFF2-40B4-BE49-F238E27FC236}">
                <a16:creationId xmlns:a16="http://schemas.microsoft.com/office/drawing/2014/main" id="{BD0EA76A-BC28-8C37-1103-660612BA5185}"/>
              </a:ext>
            </a:extLst>
          </p:cNvPr>
          <p:cNvSpPr txBox="1"/>
          <p:nvPr/>
        </p:nvSpPr>
        <p:spPr>
          <a:xfrm>
            <a:off x="746760" y="5066500"/>
            <a:ext cx="10610088" cy="1200329"/>
          </a:xfrm>
          <a:prstGeom prst="rect">
            <a:avLst/>
          </a:prstGeom>
          <a:noFill/>
        </p:spPr>
        <p:txBody>
          <a:bodyPr wrap="square" rtlCol="0">
            <a:spAutoFit/>
          </a:bodyPr>
          <a:lstStyle/>
          <a:p>
            <a:r>
              <a:rPr lang="en-US" b="1" noProof="1"/>
              <a:t>Facteur #1 :</a:t>
            </a:r>
            <a:r>
              <a:rPr lang="en-US" noProof="1"/>
              <a:t> volatility_21 (La peur domine le marché).</a:t>
            </a:r>
          </a:p>
          <a:p>
            <a:r>
              <a:rPr lang="en-US" b="1" noProof="1"/>
              <a:t>Facteur #2 :</a:t>
            </a:r>
            <a:r>
              <a:rPr lang="en-US" noProof="1"/>
              <a:t> return_5d (Le momentum à court terme).</a:t>
            </a:r>
          </a:p>
          <a:p>
            <a:r>
              <a:rPr lang="en-US" b="1" noProof="1"/>
              <a:t>Observation :</a:t>
            </a:r>
            <a:r>
              <a:rPr lang="en-US" noProof="1"/>
              <a:t> Le modèle prend ses décisions principalement basées sur la volatilité et la tendance récente.</a:t>
            </a:r>
          </a:p>
        </p:txBody>
      </p:sp>
    </p:spTree>
    <p:extLst>
      <p:ext uri="{BB962C8B-B14F-4D97-AF65-F5344CB8AC3E}">
        <p14:creationId xmlns:p14="http://schemas.microsoft.com/office/powerpoint/2010/main" val="3060109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9A4F-B515-55CD-CC02-D219419911C6}"/>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8A16E8C-79B3-1BE0-03FE-17D5FF0D6A2C}"/>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E6FD76-41F7-BEBC-835E-84953719B9DA}"/>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17" name="TextBox 16">
            <a:extLst>
              <a:ext uri="{FF2B5EF4-FFF2-40B4-BE49-F238E27FC236}">
                <a16:creationId xmlns:a16="http://schemas.microsoft.com/office/drawing/2014/main" id="{B58C7CE0-9B7A-1E5D-EE4C-B69CA52221DD}"/>
              </a:ext>
            </a:extLst>
          </p:cNvPr>
          <p:cNvSpPr txBox="1"/>
          <p:nvPr/>
        </p:nvSpPr>
        <p:spPr>
          <a:xfrm>
            <a:off x="658368" y="1042042"/>
            <a:ext cx="10698480" cy="369332"/>
          </a:xfrm>
          <a:prstGeom prst="rect">
            <a:avLst/>
          </a:prstGeom>
          <a:noFill/>
        </p:spPr>
        <p:txBody>
          <a:bodyPr wrap="square" rtlCol="0">
            <a:spAutoFit/>
          </a:bodyPr>
          <a:lstStyle/>
          <a:p>
            <a:r>
              <a:rPr lang="en-US" noProof="1"/>
              <a:t>6)  Generate predictions for backtesting</a:t>
            </a:r>
          </a:p>
        </p:txBody>
      </p:sp>
      <p:pic>
        <p:nvPicPr>
          <p:cNvPr id="5" name="Picture 4">
            <a:extLst>
              <a:ext uri="{FF2B5EF4-FFF2-40B4-BE49-F238E27FC236}">
                <a16:creationId xmlns:a16="http://schemas.microsoft.com/office/drawing/2014/main" id="{1D1A36E6-9365-0424-93B3-708C1AA36530}"/>
              </a:ext>
            </a:extLst>
          </p:cNvPr>
          <p:cNvPicPr>
            <a:picLocks noChangeAspect="1"/>
          </p:cNvPicPr>
          <p:nvPr/>
        </p:nvPicPr>
        <p:blipFill>
          <a:blip r:embed="rId2"/>
          <a:stretch>
            <a:fillRect/>
          </a:stretch>
        </p:blipFill>
        <p:spPr>
          <a:xfrm>
            <a:off x="6149081" y="1411374"/>
            <a:ext cx="5207767" cy="4559658"/>
          </a:xfrm>
          <a:prstGeom prst="rect">
            <a:avLst/>
          </a:prstGeom>
        </p:spPr>
      </p:pic>
      <p:sp>
        <p:nvSpPr>
          <p:cNvPr id="6" name="TextBox 5">
            <a:extLst>
              <a:ext uri="{FF2B5EF4-FFF2-40B4-BE49-F238E27FC236}">
                <a16:creationId xmlns:a16="http://schemas.microsoft.com/office/drawing/2014/main" id="{4882D79B-1849-DDCF-01F1-1466E90B2686}"/>
              </a:ext>
            </a:extLst>
          </p:cNvPr>
          <p:cNvSpPr txBox="1"/>
          <p:nvPr/>
        </p:nvSpPr>
        <p:spPr>
          <a:xfrm>
            <a:off x="658368" y="1478611"/>
            <a:ext cx="5312664" cy="3376374"/>
          </a:xfrm>
          <a:prstGeom prst="rect">
            <a:avLst/>
          </a:prstGeom>
          <a:noFill/>
        </p:spPr>
        <p:txBody>
          <a:bodyPr wrap="square" rtlCol="0">
            <a:spAutoFit/>
          </a:bodyPr>
          <a:lstStyle/>
          <a:p>
            <a:pPr>
              <a:lnSpc>
                <a:spcPct val="150000"/>
              </a:lnSpc>
            </a:pPr>
            <a:r>
              <a:rPr lang="en-US" b="1" noProof="1"/>
              <a:t>Biais "Permabull" :</a:t>
            </a:r>
            <a:r>
              <a:rPr lang="en-US" noProof="1"/>
              <a:t> </a:t>
            </a:r>
          </a:p>
          <a:p>
            <a:pPr>
              <a:lnSpc>
                <a:spcPct val="150000"/>
              </a:lnSpc>
            </a:pPr>
            <a:r>
              <a:rPr lang="en-US" noProof="1"/>
              <a:t>96.1% de signaux d'Achat (Buy Signals).</a:t>
            </a:r>
          </a:p>
          <a:p>
            <a:pPr>
              <a:lnSpc>
                <a:spcPct val="150000"/>
              </a:lnSpc>
            </a:pPr>
            <a:r>
              <a:rPr lang="en-US" b="1" noProof="1"/>
              <a:t>Cause :</a:t>
            </a:r>
            <a:r>
              <a:rPr lang="en-US" noProof="1"/>
              <a:t> </a:t>
            </a:r>
          </a:p>
          <a:p>
            <a:pPr>
              <a:lnSpc>
                <a:spcPct val="150000"/>
              </a:lnSpc>
            </a:pPr>
            <a:r>
              <a:rPr lang="en-US" noProof="1"/>
              <a:t>Le modèle a été entraîné sur 2016-2021 (Bull Market) et pense que "ça ne fait que monter".</a:t>
            </a:r>
          </a:p>
          <a:p>
            <a:pPr>
              <a:lnSpc>
                <a:spcPct val="150000"/>
              </a:lnSpc>
            </a:pPr>
            <a:r>
              <a:rPr lang="en-US" b="1" noProof="1"/>
              <a:t>Risque :</a:t>
            </a:r>
            <a:r>
              <a:rPr lang="en-US" noProof="1"/>
              <a:t> </a:t>
            </a:r>
          </a:p>
          <a:p>
            <a:pPr>
              <a:lnSpc>
                <a:spcPct val="150000"/>
              </a:lnSpc>
            </a:pPr>
            <a:r>
              <a:rPr lang="en-US" noProof="1"/>
              <a:t>Une telle distribution est dangereuse en marché baissier (comme 2022).</a:t>
            </a:r>
          </a:p>
        </p:txBody>
      </p:sp>
    </p:spTree>
    <p:extLst>
      <p:ext uri="{BB962C8B-B14F-4D97-AF65-F5344CB8AC3E}">
        <p14:creationId xmlns:p14="http://schemas.microsoft.com/office/powerpoint/2010/main" val="689060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C3656-D26B-668D-697D-058E320C1A0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1B2E59-206A-70B0-2F62-0C72B1414483}"/>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F6F746D-857E-E67E-2B3D-F136C0A5C7AF}"/>
              </a:ext>
            </a:extLst>
          </p:cNvPr>
          <p:cNvSpPr txBox="1"/>
          <p:nvPr/>
        </p:nvSpPr>
        <p:spPr>
          <a:xfrm>
            <a:off x="658368" y="336542"/>
            <a:ext cx="6094476" cy="461665"/>
          </a:xfrm>
          <a:prstGeom prst="rect">
            <a:avLst/>
          </a:prstGeom>
          <a:noFill/>
        </p:spPr>
        <p:txBody>
          <a:bodyPr wrap="square">
            <a:spAutoFit/>
          </a:bodyPr>
          <a:lstStyle/>
          <a:p>
            <a:r>
              <a:rPr lang="en-US" sz="2400" b="1" noProof="1"/>
              <a:t>LES MODÈLES DE MACHINE LEARNING</a:t>
            </a:r>
          </a:p>
        </p:txBody>
      </p:sp>
      <p:sp>
        <p:nvSpPr>
          <p:cNvPr id="17" name="TextBox 16">
            <a:extLst>
              <a:ext uri="{FF2B5EF4-FFF2-40B4-BE49-F238E27FC236}">
                <a16:creationId xmlns:a16="http://schemas.microsoft.com/office/drawing/2014/main" id="{3DD11805-2D70-FFA4-C88A-B7C72E4386B8}"/>
              </a:ext>
            </a:extLst>
          </p:cNvPr>
          <p:cNvSpPr txBox="1"/>
          <p:nvPr/>
        </p:nvSpPr>
        <p:spPr>
          <a:xfrm>
            <a:off x="658368" y="1042042"/>
            <a:ext cx="10698480" cy="369332"/>
          </a:xfrm>
          <a:prstGeom prst="rect">
            <a:avLst/>
          </a:prstGeom>
          <a:noFill/>
        </p:spPr>
        <p:txBody>
          <a:bodyPr wrap="square" rtlCol="0">
            <a:spAutoFit/>
          </a:bodyPr>
          <a:lstStyle/>
          <a:p>
            <a:r>
              <a:rPr lang="en-US" b="1" noProof="1"/>
              <a:t>ROC Curve</a:t>
            </a:r>
          </a:p>
        </p:txBody>
      </p:sp>
      <p:pic>
        <p:nvPicPr>
          <p:cNvPr id="4" name="Picture 3">
            <a:extLst>
              <a:ext uri="{FF2B5EF4-FFF2-40B4-BE49-F238E27FC236}">
                <a16:creationId xmlns:a16="http://schemas.microsoft.com/office/drawing/2014/main" id="{D46A3261-3E76-6201-CE0F-7D492784F9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4317" y="1491885"/>
            <a:ext cx="5782531" cy="4324073"/>
          </a:xfrm>
          <a:prstGeom prst="rect">
            <a:avLst/>
          </a:prstGeom>
        </p:spPr>
      </p:pic>
      <p:sp>
        <p:nvSpPr>
          <p:cNvPr id="6" name="TextBox 5">
            <a:extLst>
              <a:ext uri="{FF2B5EF4-FFF2-40B4-BE49-F238E27FC236}">
                <a16:creationId xmlns:a16="http://schemas.microsoft.com/office/drawing/2014/main" id="{ED18F79E-2EA7-5C4F-C7E9-B9593EF540D7}"/>
              </a:ext>
            </a:extLst>
          </p:cNvPr>
          <p:cNvSpPr txBox="1"/>
          <p:nvPr/>
        </p:nvSpPr>
        <p:spPr>
          <a:xfrm>
            <a:off x="658368" y="1757985"/>
            <a:ext cx="4846320" cy="3791872"/>
          </a:xfrm>
          <a:prstGeom prst="rect">
            <a:avLst/>
          </a:prstGeom>
          <a:noFill/>
        </p:spPr>
        <p:txBody>
          <a:bodyPr wrap="square" rtlCol="0">
            <a:spAutoFit/>
          </a:bodyPr>
          <a:lstStyle/>
          <a:p>
            <a:pPr>
              <a:lnSpc>
                <a:spcPct val="150000"/>
              </a:lnSpc>
            </a:pPr>
            <a:r>
              <a:rPr lang="en-US" b="1" noProof="1"/>
              <a:t>Score AUC : 0.5323</a:t>
            </a:r>
            <a:r>
              <a:rPr lang="en-US" noProof="1"/>
              <a:t>.</a:t>
            </a:r>
          </a:p>
          <a:p>
            <a:pPr>
              <a:lnSpc>
                <a:spcPct val="150000"/>
              </a:lnSpc>
            </a:pPr>
            <a:r>
              <a:rPr lang="en-US" b="1" noProof="1"/>
              <a:t>Interprétation :</a:t>
            </a:r>
            <a:r>
              <a:rPr lang="en-US" noProof="1"/>
              <a:t> </a:t>
            </a:r>
          </a:p>
          <a:p>
            <a:pPr>
              <a:lnSpc>
                <a:spcPct val="150000"/>
              </a:lnSpc>
            </a:pPr>
            <a:r>
              <a:rPr lang="en-US" noProof="1"/>
              <a:t>Le modèle est meilleur que le hasard (0.50), ce qui prouve l'existence d'un "Edge" (Avantage statistique).</a:t>
            </a:r>
          </a:p>
          <a:p>
            <a:pPr>
              <a:lnSpc>
                <a:spcPct val="150000"/>
              </a:lnSpc>
            </a:pPr>
            <a:r>
              <a:rPr lang="en-US" b="1" noProof="1"/>
              <a:t>Conclusion :</a:t>
            </a:r>
            <a:r>
              <a:rPr lang="en-US" noProof="1"/>
              <a:t> </a:t>
            </a:r>
          </a:p>
          <a:p>
            <a:pPr>
              <a:lnSpc>
                <a:spcPct val="150000"/>
              </a:lnSpc>
            </a:pPr>
            <a:r>
              <a:rPr lang="en-US" noProof="1"/>
              <a:t>Le signal est faible mais réel. Il nécessite une stratégie de gestion de risque pour être profitable.</a:t>
            </a:r>
          </a:p>
        </p:txBody>
      </p:sp>
    </p:spTree>
    <p:extLst>
      <p:ext uri="{BB962C8B-B14F-4D97-AF65-F5344CB8AC3E}">
        <p14:creationId xmlns:p14="http://schemas.microsoft.com/office/powerpoint/2010/main" val="38992438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7FA32-C9EA-5B4F-098F-C9BA29954954}"/>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B8B69EE-6E49-A243-1C82-AB672CEFB5DB}"/>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B4B5E1A-9B00-7404-DA19-06BB6906F10D}"/>
              </a:ext>
            </a:extLst>
          </p:cNvPr>
          <p:cNvSpPr txBox="1"/>
          <p:nvPr/>
        </p:nvSpPr>
        <p:spPr>
          <a:xfrm>
            <a:off x="658368" y="336542"/>
            <a:ext cx="6094476" cy="461665"/>
          </a:xfrm>
          <a:prstGeom prst="rect">
            <a:avLst/>
          </a:prstGeom>
          <a:noFill/>
        </p:spPr>
        <p:txBody>
          <a:bodyPr wrap="square">
            <a:spAutoFit/>
          </a:bodyPr>
          <a:lstStyle/>
          <a:p>
            <a:r>
              <a:rPr lang="en-US" sz="2400" b="1" noProof="1"/>
              <a:t>ANALYSE DES ÉCARTS</a:t>
            </a:r>
          </a:p>
        </p:txBody>
      </p:sp>
      <p:sp>
        <p:nvSpPr>
          <p:cNvPr id="17" name="TextBox 16">
            <a:extLst>
              <a:ext uri="{FF2B5EF4-FFF2-40B4-BE49-F238E27FC236}">
                <a16:creationId xmlns:a16="http://schemas.microsoft.com/office/drawing/2014/main" id="{7E7C3C81-9948-35C1-BB2D-922DC413108D}"/>
              </a:ext>
            </a:extLst>
          </p:cNvPr>
          <p:cNvSpPr txBox="1"/>
          <p:nvPr/>
        </p:nvSpPr>
        <p:spPr>
          <a:xfrm>
            <a:off x="658368" y="1042042"/>
            <a:ext cx="10698480" cy="369332"/>
          </a:xfrm>
          <a:prstGeom prst="rect">
            <a:avLst/>
          </a:prstGeom>
          <a:noFill/>
        </p:spPr>
        <p:txBody>
          <a:bodyPr wrap="square" rtlCol="0">
            <a:spAutoFit/>
          </a:bodyPr>
          <a:lstStyle/>
          <a:p>
            <a:r>
              <a:rPr lang="en-US" b="1" i="1" noProof="1"/>
              <a:t>Limites de la Première Expérimentation vs Méthodologie Jansen</a:t>
            </a:r>
          </a:p>
        </p:txBody>
      </p:sp>
      <p:sp>
        <p:nvSpPr>
          <p:cNvPr id="2" name="TextBox 1">
            <a:extLst>
              <a:ext uri="{FF2B5EF4-FFF2-40B4-BE49-F238E27FC236}">
                <a16:creationId xmlns:a16="http://schemas.microsoft.com/office/drawing/2014/main" id="{30A2F5EC-35EC-D4BC-EAE9-6ACBB3EE5852}"/>
              </a:ext>
            </a:extLst>
          </p:cNvPr>
          <p:cNvSpPr txBox="1"/>
          <p:nvPr/>
        </p:nvSpPr>
        <p:spPr>
          <a:xfrm>
            <a:off x="658368" y="1411374"/>
            <a:ext cx="10698480" cy="646331"/>
          </a:xfrm>
          <a:prstGeom prst="rect">
            <a:avLst/>
          </a:prstGeom>
          <a:noFill/>
        </p:spPr>
        <p:txBody>
          <a:bodyPr wrap="square" rtlCol="0">
            <a:spAutoFit/>
          </a:bodyPr>
          <a:lstStyle/>
          <a:p>
            <a:r>
              <a:rPr lang="en-US" noProof="1"/>
              <a:t>Bien que notre premier modèle fonctionne (AUC &gt; 0.50), il reste incomplet par rapport à l'approche exhaustive de Stefan Jansen. Nous avons identifié trois manques critiques :</a:t>
            </a:r>
            <a:endParaRPr lang="en-US" b="1" noProof="1"/>
          </a:p>
        </p:txBody>
      </p:sp>
      <p:sp>
        <p:nvSpPr>
          <p:cNvPr id="5" name="TextBox 4">
            <a:extLst>
              <a:ext uri="{FF2B5EF4-FFF2-40B4-BE49-F238E27FC236}">
                <a16:creationId xmlns:a16="http://schemas.microsoft.com/office/drawing/2014/main" id="{680A9B56-3293-AF7C-605F-6966BF589A2D}"/>
              </a:ext>
            </a:extLst>
          </p:cNvPr>
          <p:cNvSpPr txBox="1"/>
          <p:nvPr/>
        </p:nvSpPr>
        <p:spPr>
          <a:xfrm>
            <a:off x="658368" y="2057705"/>
            <a:ext cx="10698480" cy="369332"/>
          </a:xfrm>
          <a:prstGeom prst="rect">
            <a:avLst/>
          </a:prstGeom>
          <a:noFill/>
        </p:spPr>
        <p:txBody>
          <a:bodyPr wrap="square" rtlCol="0">
            <a:spAutoFit/>
          </a:bodyPr>
          <a:lstStyle/>
          <a:p>
            <a:r>
              <a:rPr lang="en-US" b="1" noProof="1"/>
              <a:t>1. Cécité Fondamentale :</a:t>
            </a:r>
          </a:p>
        </p:txBody>
      </p:sp>
      <p:sp>
        <p:nvSpPr>
          <p:cNvPr id="8" name="TextBox 7">
            <a:extLst>
              <a:ext uri="{FF2B5EF4-FFF2-40B4-BE49-F238E27FC236}">
                <a16:creationId xmlns:a16="http://schemas.microsoft.com/office/drawing/2014/main" id="{F5BF0ECC-C685-F5DD-FB1A-6D294F786BE7}"/>
              </a:ext>
            </a:extLst>
          </p:cNvPr>
          <p:cNvSpPr txBox="1"/>
          <p:nvPr/>
        </p:nvSpPr>
        <p:spPr>
          <a:xfrm>
            <a:off x="658368" y="2427037"/>
            <a:ext cx="10698480" cy="923330"/>
          </a:xfrm>
          <a:prstGeom prst="rect">
            <a:avLst/>
          </a:prstGeom>
          <a:noFill/>
        </p:spPr>
        <p:txBody>
          <a:bodyPr wrap="square" rtlCol="0">
            <a:spAutoFit/>
          </a:bodyPr>
          <a:lstStyle/>
          <a:p>
            <a:r>
              <a:rPr lang="en-US" noProof="1"/>
              <a:t>Le modèle "Naïf" ne regarde que le prix (Technique). Il ne sait pas si une action est "chère" ou "bon marché", ni à quel secteur elle appartient.</a:t>
            </a:r>
          </a:p>
          <a:p>
            <a:pPr marL="285750" indent="-285750">
              <a:buFont typeface="Aptos" panose="020B0004020202020204" pitchFamily="34" charset="0"/>
              <a:buChar char="→"/>
            </a:pPr>
            <a:r>
              <a:rPr lang="en-US" noProof="1"/>
              <a:t>Il traite Apple (Tech) exactement comme Exxon (Pétrole), ignorant les corrélations sectorielles.</a:t>
            </a:r>
          </a:p>
        </p:txBody>
      </p:sp>
      <p:sp>
        <p:nvSpPr>
          <p:cNvPr id="9" name="TextBox 8">
            <a:extLst>
              <a:ext uri="{FF2B5EF4-FFF2-40B4-BE49-F238E27FC236}">
                <a16:creationId xmlns:a16="http://schemas.microsoft.com/office/drawing/2014/main" id="{C8E128D7-B824-AECD-E055-CF5ADDA0CF89}"/>
              </a:ext>
            </a:extLst>
          </p:cNvPr>
          <p:cNvSpPr txBox="1"/>
          <p:nvPr/>
        </p:nvSpPr>
        <p:spPr>
          <a:xfrm>
            <a:off x="658368" y="3350367"/>
            <a:ext cx="10698480" cy="369332"/>
          </a:xfrm>
          <a:prstGeom prst="rect">
            <a:avLst/>
          </a:prstGeom>
          <a:noFill/>
        </p:spPr>
        <p:txBody>
          <a:bodyPr wrap="square" rtlCol="0">
            <a:spAutoFit/>
          </a:bodyPr>
          <a:lstStyle/>
          <a:p>
            <a:r>
              <a:rPr lang="en-US" b="1" noProof="1"/>
              <a:t>2. Fragilité du Modèle Unique :</a:t>
            </a:r>
          </a:p>
        </p:txBody>
      </p:sp>
      <p:sp>
        <p:nvSpPr>
          <p:cNvPr id="10" name="TextBox 9">
            <a:extLst>
              <a:ext uri="{FF2B5EF4-FFF2-40B4-BE49-F238E27FC236}">
                <a16:creationId xmlns:a16="http://schemas.microsoft.com/office/drawing/2014/main" id="{F613EC32-DF0C-6E94-4AAA-9FC61114BF18}"/>
              </a:ext>
            </a:extLst>
          </p:cNvPr>
          <p:cNvSpPr txBox="1"/>
          <p:nvPr/>
        </p:nvSpPr>
        <p:spPr>
          <a:xfrm>
            <a:off x="658368" y="3719699"/>
            <a:ext cx="10698480" cy="646331"/>
          </a:xfrm>
          <a:prstGeom prst="rect">
            <a:avLst/>
          </a:prstGeom>
          <a:noFill/>
        </p:spPr>
        <p:txBody>
          <a:bodyPr wrap="square" rtlCol="0">
            <a:spAutoFit/>
          </a:bodyPr>
          <a:lstStyle/>
          <a:p>
            <a:r>
              <a:rPr lang="en-US" noProof="1"/>
              <a:t>Jansen préconise l'</a:t>
            </a:r>
            <a:r>
              <a:rPr lang="en-US" b="1" noProof="1"/>
              <a:t>Ensemble Learning</a:t>
            </a:r>
            <a:r>
              <a:rPr lang="en-US" noProof="1"/>
              <a:t> (combiner plusieurs modèles) pour réduire la variance et éviter les faux signaux.</a:t>
            </a:r>
          </a:p>
        </p:txBody>
      </p:sp>
      <p:sp>
        <p:nvSpPr>
          <p:cNvPr id="11" name="TextBox 10">
            <a:extLst>
              <a:ext uri="{FF2B5EF4-FFF2-40B4-BE49-F238E27FC236}">
                <a16:creationId xmlns:a16="http://schemas.microsoft.com/office/drawing/2014/main" id="{FBF206A0-C188-7995-D69F-88051A69058E}"/>
              </a:ext>
            </a:extLst>
          </p:cNvPr>
          <p:cNvSpPr txBox="1"/>
          <p:nvPr/>
        </p:nvSpPr>
        <p:spPr>
          <a:xfrm>
            <a:off x="658368" y="4366030"/>
            <a:ext cx="10698480" cy="369332"/>
          </a:xfrm>
          <a:prstGeom prst="rect">
            <a:avLst/>
          </a:prstGeom>
          <a:noFill/>
        </p:spPr>
        <p:txBody>
          <a:bodyPr wrap="square" rtlCol="0">
            <a:spAutoFit/>
          </a:bodyPr>
          <a:lstStyle/>
          <a:p>
            <a:r>
              <a:rPr lang="en-US" b="1" noProof="1"/>
              <a:t>3. Gestion du Risque Simpliste :</a:t>
            </a:r>
          </a:p>
        </p:txBody>
      </p:sp>
      <p:sp>
        <p:nvSpPr>
          <p:cNvPr id="12" name="TextBox 11">
            <a:extLst>
              <a:ext uri="{FF2B5EF4-FFF2-40B4-BE49-F238E27FC236}">
                <a16:creationId xmlns:a16="http://schemas.microsoft.com/office/drawing/2014/main" id="{5B2E4DDC-6D09-BDDB-8B9B-F297055CEF4B}"/>
              </a:ext>
            </a:extLst>
          </p:cNvPr>
          <p:cNvSpPr txBox="1"/>
          <p:nvPr/>
        </p:nvSpPr>
        <p:spPr>
          <a:xfrm>
            <a:off x="658368" y="4765136"/>
            <a:ext cx="10698480" cy="369332"/>
          </a:xfrm>
          <a:prstGeom prst="rect">
            <a:avLst/>
          </a:prstGeom>
          <a:noFill/>
        </p:spPr>
        <p:txBody>
          <a:bodyPr wrap="square" rtlCol="0">
            <a:spAutoFit/>
          </a:bodyPr>
          <a:lstStyle/>
          <a:p>
            <a:r>
              <a:rPr lang="en-US" noProof="1"/>
              <a:t>La stratégie "Naïve" mise la même somme sur chaque trade, que la confiance soit de 51% ou de 90%.</a:t>
            </a:r>
          </a:p>
        </p:txBody>
      </p:sp>
      <p:sp>
        <p:nvSpPr>
          <p:cNvPr id="13" name="TextBox 12">
            <a:extLst>
              <a:ext uri="{FF2B5EF4-FFF2-40B4-BE49-F238E27FC236}">
                <a16:creationId xmlns:a16="http://schemas.microsoft.com/office/drawing/2014/main" id="{41A53CE2-575E-BF82-5849-A4F57B87D23D}"/>
              </a:ext>
            </a:extLst>
          </p:cNvPr>
          <p:cNvSpPr txBox="1"/>
          <p:nvPr/>
        </p:nvSpPr>
        <p:spPr>
          <a:xfrm>
            <a:off x="658368" y="5104694"/>
            <a:ext cx="10698480" cy="369332"/>
          </a:xfrm>
          <a:prstGeom prst="rect">
            <a:avLst/>
          </a:prstGeom>
          <a:noFill/>
        </p:spPr>
        <p:txBody>
          <a:bodyPr wrap="square" rtlCol="0">
            <a:spAutoFit/>
          </a:bodyPr>
          <a:lstStyle/>
          <a:p>
            <a:pPr marL="285750" indent="-285750">
              <a:buFont typeface="Aptos" panose="020B0004020202020204" pitchFamily="34" charset="0"/>
              <a:buChar char="→"/>
            </a:pPr>
            <a:r>
              <a:rPr lang="en-US" i="1" noProof="1"/>
              <a:t>Conséquence :</a:t>
            </a:r>
            <a:r>
              <a:rPr lang="en-US" noProof="1"/>
              <a:t> Une surexposition aux signaux faibles (bruit).</a:t>
            </a:r>
          </a:p>
        </p:txBody>
      </p:sp>
      <p:sp>
        <p:nvSpPr>
          <p:cNvPr id="14" name="TextBox 13">
            <a:extLst>
              <a:ext uri="{FF2B5EF4-FFF2-40B4-BE49-F238E27FC236}">
                <a16:creationId xmlns:a16="http://schemas.microsoft.com/office/drawing/2014/main" id="{86756810-C9D3-68C9-5C5E-0D2D315F5646}"/>
              </a:ext>
            </a:extLst>
          </p:cNvPr>
          <p:cNvSpPr txBox="1"/>
          <p:nvPr/>
        </p:nvSpPr>
        <p:spPr>
          <a:xfrm>
            <a:off x="658368" y="5474026"/>
            <a:ext cx="10698480" cy="1077218"/>
          </a:xfrm>
          <a:prstGeom prst="rect">
            <a:avLst/>
          </a:prstGeom>
          <a:noFill/>
        </p:spPr>
        <p:txBody>
          <a:bodyPr wrap="square" rtlCol="0">
            <a:spAutoFit/>
          </a:bodyPr>
          <a:lstStyle/>
          <a:p>
            <a:pPr algn="just"/>
            <a:r>
              <a:rPr lang="en-US" sz="1600" i="1" noProof="1"/>
              <a:t>Notre première expérience a prouvé qu'on pouvait extraire un signal. Mais pour Stefan Jansen, ce n'est que la moitié du travail. Il nous manque le contexte 'Quantamental' (Mélange de Quant et Fondamental) et une gestion du risque sophistiquée. Nous avons traité le marché comme un casino purement technique, ce qui explique nos pertes dues aux frais.</a:t>
            </a:r>
          </a:p>
        </p:txBody>
      </p:sp>
    </p:spTree>
    <p:extLst>
      <p:ext uri="{BB962C8B-B14F-4D97-AF65-F5344CB8AC3E}">
        <p14:creationId xmlns:p14="http://schemas.microsoft.com/office/powerpoint/2010/main" val="478213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B78C7-1577-788C-2D9E-6D1B4B6C0BE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98113C-2DFC-1910-704F-8A4275E80097}"/>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8A84224-D59A-2C03-4642-5C3E70521A10}"/>
              </a:ext>
            </a:extLst>
          </p:cNvPr>
          <p:cNvSpPr txBox="1"/>
          <p:nvPr/>
        </p:nvSpPr>
        <p:spPr>
          <a:xfrm>
            <a:off x="658368" y="336542"/>
            <a:ext cx="6094476" cy="461665"/>
          </a:xfrm>
          <a:prstGeom prst="rect">
            <a:avLst/>
          </a:prstGeom>
          <a:noFill/>
        </p:spPr>
        <p:txBody>
          <a:bodyPr wrap="square">
            <a:spAutoFit/>
          </a:bodyPr>
          <a:lstStyle/>
          <a:p>
            <a:r>
              <a:rPr lang="en-US" sz="2400" b="1" noProof="1"/>
              <a:t>LES MISES À NIVEAU</a:t>
            </a:r>
          </a:p>
        </p:txBody>
      </p:sp>
      <p:sp>
        <p:nvSpPr>
          <p:cNvPr id="2" name="TextBox 1">
            <a:extLst>
              <a:ext uri="{FF2B5EF4-FFF2-40B4-BE49-F238E27FC236}">
                <a16:creationId xmlns:a16="http://schemas.microsoft.com/office/drawing/2014/main" id="{E96EC91C-DE4C-5423-41A2-41DA83905B5B}"/>
              </a:ext>
            </a:extLst>
          </p:cNvPr>
          <p:cNvSpPr txBox="1"/>
          <p:nvPr/>
        </p:nvSpPr>
        <p:spPr>
          <a:xfrm>
            <a:off x="658368" y="1023308"/>
            <a:ext cx="10698480" cy="646331"/>
          </a:xfrm>
          <a:prstGeom prst="rect">
            <a:avLst/>
          </a:prstGeom>
          <a:noFill/>
        </p:spPr>
        <p:txBody>
          <a:bodyPr wrap="square" rtlCol="0">
            <a:spAutoFit/>
          </a:bodyPr>
          <a:lstStyle/>
          <a:p>
            <a:r>
              <a:rPr lang="en-US" noProof="1"/>
              <a:t>Pour corriger ces défauts, nous avons implémenté une nouvelle architecture avec trois mises à jour majeures :</a:t>
            </a:r>
            <a:endParaRPr lang="en-US" b="1" noProof="1"/>
          </a:p>
        </p:txBody>
      </p:sp>
      <p:sp>
        <p:nvSpPr>
          <p:cNvPr id="5" name="TextBox 4">
            <a:extLst>
              <a:ext uri="{FF2B5EF4-FFF2-40B4-BE49-F238E27FC236}">
                <a16:creationId xmlns:a16="http://schemas.microsoft.com/office/drawing/2014/main" id="{20BA20E2-E359-9E34-50E4-A0CBF8A62732}"/>
              </a:ext>
            </a:extLst>
          </p:cNvPr>
          <p:cNvSpPr txBox="1"/>
          <p:nvPr/>
        </p:nvSpPr>
        <p:spPr>
          <a:xfrm>
            <a:off x="658368" y="1682128"/>
            <a:ext cx="10698480" cy="369332"/>
          </a:xfrm>
          <a:prstGeom prst="rect">
            <a:avLst/>
          </a:prstGeom>
          <a:noFill/>
        </p:spPr>
        <p:txBody>
          <a:bodyPr wrap="square" rtlCol="0">
            <a:spAutoFit/>
          </a:bodyPr>
          <a:lstStyle/>
          <a:p>
            <a:r>
              <a:rPr lang="en-US" b="1" noProof="1"/>
              <a:t>1. Données "Quantamentales"</a:t>
            </a:r>
          </a:p>
        </p:txBody>
      </p:sp>
      <p:sp>
        <p:nvSpPr>
          <p:cNvPr id="8" name="TextBox 7">
            <a:extLst>
              <a:ext uri="{FF2B5EF4-FFF2-40B4-BE49-F238E27FC236}">
                <a16:creationId xmlns:a16="http://schemas.microsoft.com/office/drawing/2014/main" id="{845CBEF8-4894-F633-8922-B6F330DDD710}"/>
              </a:ext>
            </a:extLst>
          </p:cNvPr>
          <p:cNvSpPr txBox="1"/>
          <p:nvPr/>
        </p:nvSpPr>
        <p:spPr>
          <a:xfrm>
            <a:off x="658368" y="2063949"/>
            <a:ext cx="10698480" cy="1200329"/>
          </a:xfrm>
          <a:prstGeom prst="rect">
            <a:avLst/>
          </a:prstGeom>
          <a:noFill/>
        </p:spPr>
        <p:txBody>
          <a:bodyPr wrap="square" rtlCol="0">
            <a:spAutoFit/>
          </a:bodyPr>
          <a:lstStyle/>
          <a:p>
            <a:pPr marL="285750" indent="-285750">
              <a:buFont typeface="Arial" panose="020B0604020202020204" pitchFamily="34" charset="0"/>
              <a:buChar char="•"/>
            </a:pPr>
            <a:r>
              <a:rPr lang="en-US" b="1" noProof="1"/>
              <a:t>Mapping Sectoriel :</a:t>
            </a:r>
            <a:r>
              <a:rPr lang="en-US" noProof="1"/>
              <a:t> Ajout d'une variable catégorielle (Tech, Finance, Energy). Le modèle apprend désormais les rotations sectorielles.</a:t>
            </a:r>
          </a:p>
          <a:p>
            <a:pPr marL="285750" indent="-285750">
              <a:buFont typeface="Arial" panose="020B0604020202020204" pitchFamily="34" charset="0"/>
              <a:buChar char="•"/>
            </a:pPr>
            <a:r>
              <a:rPr lang="en-US" b="1" noProof="1"/>
              <a:t>Proxy de Valeur :</a:t>
            </a:r>
            <a:r>
              <a:rPr lang="en-US" noProof="1"/>
              <a:t> Création de la feature </a:t>
            </a:r>
            <a:r>
              <a:rPr lang="en-US" i="1" noProof="1"/>
              <a:t>dist_from_ma200</a:t>
            </a:r>
            <a:r>
              <a:rPr lang="en-US" noProof="1"/>
              <a:t>. Si le prix s'éloigne trop de sa moyenne, le modèle apprend le concept de "retour à la moyenne" (Mean Reversion).</a:t>
            </a:r>
          </a:p>
        </p:txBody>
      </p:sp>
      <p:sp>
        <p:nvSpPr>
          <p:cNvPr id="9" name="TextBox 8">
            <a:extLst>
              <a:ext uri="{FF2B5EF4-FFF2-40B4-BE49-F238E27FC236}">
                <a16:creationId xmlns:a16="http://schemas.microsoft.com/office/drawing/2014/main" id="{71A3F13D-EA36-B87A-3B65-F91B9B3B747A}"/>
              </a:ext>
            </a:extLst>
          </p:cNvPr>
          <p:cNvSpPr txBox="1"/>
          <p:nvPr/>
        </p:nvSpPr>
        <p:spPr>
          <a:xfrm>
            <a:off x="658368" y="3276767"/>
            <a:ext cx="10698480" cy="369332"/>
          </a:xfrm>
          <a:prstGeom prst="rect">
            <a:avLst/>
          </a:prstGeom>
          <a:noFill/>
        </p:spPr>
        <p:txBody>
          <a:bodyPr wrap="square" rtlCol="0">
            <a:spAutoFit/>
          </a:bodyPr>
          <a:lstStyle/>
          <a:p>
            <a:r>
              <a:rPr lang="en-US" b="1" noProof="1"/>
              <a:t>2. Meta-Ensemble (Stacking)</a:t>
            </a:r>
          </a:p>
        </p:txBody>
      </p:sp>
      <p:sp>
        <p:nvSpPr>
          <p:cNvPr id="10" name="TextBox 9">
            <a:extLst>
              <a:ext uri="{FF2B5EF4-FFF2-40B4-BE49-F238E27FC236}">
                <a16:creationId xmlns:a16="http://schemas.microsoft.com/office/drawing/2014/main" id="{AD585125-B817-D757-B03D-9715495FAF3E}"/>
              </a:ext>
            </a:extLst>
          </p:cNvPr>
          <p:cNvSpPr txBox="1"/>
          <p:nvPr/>
        </p:nvSpPr>
        <p:spPr>
          <a:xfrm>
            <a:off x="658368" y="3658588"/>
            <a:ext cx="10698480" cy="923330"/>
          </a:xfrm>
          <a:prstGeom prst="rect">
            <a:avLst/>
          </a:prstGeom>
          <a:noFill/>
        </p:spPr>
        <p:txBody>
          <a:bodyPr wrap="square" rtlCol="0">
            <a:spAutoFit/>
          </a:bodyPr>
          <a:lstStyle/>
          <a:p>
            <a:pPr marL="285750" indent="-285750">
              <a:buFont typeface="Arial" panose="020B0604020202020204" pitchFamily="34" charset="0"/>
              <a:buChar char="•"/>
            </a:pPr>
            <a:r>
              <a:rPr lang="en-US" noProof="1"/>
              <a:t>Combinaison de </a:t>
            </a:r>
            <a:r>
              <a:rPr lang="en-US" b="1" noProof="1"/>
              <a:t>LightGBM</a:t>
            </a:r>
            <a:r>
              <a:rPr lang="en-US" noProof="1"/>
              <a:t> (Rapidité) et </a:t>
            </a:r>
            <a:r>
              <a:rPr lang="en-US" b="1" noProof="1"/>
              <a:t>CatBoost</a:t>
            </a:r>
            <a:r>
              <a:rPr lang="en-US" noProof="1"/>
              <a:t> (Gestion des catégories).</a:t>
            </a:r>
          </a:p>
          <a:p>
            <a:pPr marL="285750" indent="-285750">
              <a:buFont typeface="Arial" panose="020B0604020202020204" pitchFamily="34" charset="0"/>
              <a:buChar char="•"/>
            </a:pPr>
            <a:r>
              <a:rPr lang="en-US" b="1" noProof="1"/>
              <a:t>Meta-Voting :</a:t>
            </a:r>
            <a:r>
              <a:rPr lang="en-US" noProof="1"/>
              <a:t> La décision finale est la moyenne des probabilités des deux modèles. Cela lisse les erreurs individuelles.</a:t>
            </a:r>
          </a:p>
        </p:txBody>
      </p:sp>
      <p:sp>
        <p:nvSpPr>
          <p:cNvPr id="11" name="TextBox 10">
            <a:extLst>
              <a:ext uri="{FF2B5EF4-FFF2-40B4-BE49-F238E27FC236}">
                <a16:creationId xmlns:a16="http://schemas.microsoft.com/office/drawing/2014/main" id="{ECF76D8F-3CAA-F9D2-32ED-D517D1C1E611}"/>
              </a:ext>
            </a:extLst>
          </p:cNvPr>
          <p:cNvSpPr txBox="1"/>
          <p:nvPr/>
        </p:nvSpPr>
        <p:spPr>
          <a:xfrm>
            <a:off x="658368" y="4594407"/>
            <a:ext cx="10698480" cy="369332"/>
          </a:xfrm>
          <a:prstGeom prst="rect">
            <a:avLst/>
          </a:prstGeom>
          <a:noFill/>
        </p:spPr>
        <p:txBody>
          <a:bodyPr wrap="square" rtlCol="0">
            <a:spAutoFit/>
          </a:bodyPr>
          <a:lstStyle/>
          <a:p>
            <a:r>
              <a:rPr lang="en-US" b="1" noProof="1"/>
              <a:t>3. Position Sizing Dynamique (Kelly Criterion)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FE21D2-B4F4-CDDD-D11D-4983896DBF8D}"/>
                  </a:ext>
                </a:extLst>
              </p:cNvPr>
              <p:cNvSpPr txBox="1"/>
              <p:nvPr/>
            </p:nvSpPr>
            <p:spPr>
              <a:xfrm>
                <a:off x="658368" y="4976231"/>
                <a:ext cx="10698480" cy="1200329"/>
              </a:xfrm>
              <a:prstGeom prst="rect">
                <a:avLst/>
              </a:prstGeom>
              <a:noFill/>
            </p:spPr>
            <p:txBody>
              <a:bodyPr wrap="square" rtlCol="0">
                <a:spAutoFit/>
              </a:bodyPr>
              <a:lstStyle/>
              <a:p>
                <a:pPr marL="285750" indent="-285750">
                  <a:buFont typeface="Arial" panose="020B0604020202020204" pitchFamily="34" charset="0"/>
                  <a:buChar char="•"/>
                </a:pPr>
                <a:r>
                  <a:rPr lang="en-US" noProof="1"/>
                  <a:t>Abandon du "All-in".</a:t>
                </a:r>
              </a:p>
              <a:p>
                <a:pPr marL="285750" indent="-285750">
                  <a:buFont typeface="Arial" panose="020B0604020202020204" pitchFamily="34" charset="0"/>
                  <a:buChar char="•"/>
                </a:pPr>
                <a:r>
                  <a:rPr lang="en-US" b="1" noProof="1"/>
                  <a:t>Formule :</a:t>
                </a:r>
                <a:r>
                  <a:rPr lang="en-US" noProof="1"/>
                  <a:t> </a:t>
                </a:r>
                <a14:m>
                  <m:oMath xmlns:m="http://schemas.openxmlformats.org/officeDocument/2006/math">
                    <m:r>
                      <m:rPr>
                        <m:nor/>
                      </m:rPr>
                      <a:rPr lang="en-US" b="0" noProof="1" dirty="0" smtClean="0"/>
                      <m:t>Taille</m:t>
                    </m:r>
                    <m:r>
                      <a:rPr lang="en-US" noProof="1" dirty="0" smtClean="0">
                        <a:latin typeface="Cambria Math" panose="02040503050406030204" pitchFamily="18" charset="0"/>
                      </a:rPr>
                      <m:t>=</m:t>
                    </m:r>
                    <m:r>
                      <a:rPr lang="en-US" i="1" noProof="1" dirty="0" smtClean="0">
                        <a:latin typeface="Cambria Math" panose="02040503050406030204" pitchFamily="18" charset="0"/>
                      </a:rPr>
                      <m:t>𝑓</m:t>
                    </m:r>
                    <m:d>
                      <m:dPr>
                        <m:ctrlPr>
                          <a:rPr lang="en-US" i="1" noProof="1" dirty="0" smtClean="0">
                            <a:latin typeface="Cambria Math" panose="02040503050406030204" pitchFamily="18" charset="0"/>
                          </a:rPr>
                        </m:ctrlPr>
                      </m:dPr>
                      <m:e>
                        <m:r>
                          <m:rPr>
                            <m:nor/>
                          </m:rPr>
                          <a:rPr lang="en-US" i="1" noProof="1" dirty="0" smtClean="0"/>
                          <m:t>Confiance</m:t>
                        </m:r>
                      </m:e>
                    </m:d>
                  </m:oMath>
                </a14:m>
                <a:endParaRPr lang="en-US" noProof="1"/>
              </a:p>
              <a:p>
                <a:pPr marL="285750" indent="-285750">
                  <a:buFont typeface="Arial" panose="020B0604020202020204" pitchFamily="34" charset="0"/>
                  <a:buChar char="•"/>
                </a:pPr>
                <a:r>
                  <a:rPr lang="en-US" noProof="1"/>
                  <a:t>Si le modèle est incertain (51%), on ne trade pas ou très peu. Si la confiance est haute (&gt;55%), on augmente la taille de la position.</a:t>
                </a:r>
              </a:p>
            </p:txBody>
          </p:sp>
        </mc:Choice>
        <mc:Fallback xmlns="">
          <p:sp>
            <p:nvSpPr>
              <p:cNvPr id="12" name="TextBox 11">
                <a:extLst>
                  <a:ext uri="{FF2B5EF4-FFF2-40B4-BE49-F238E27FC236}">
                    <a16:creationId xmlns:a16="http://schemas.microsoft.com/office/drawing/2014/main" id="{10FE21D2-B4F4-CDDD-D11D-4983896DBF8D}"/>
                  </a:ext>
                </a:extLst>
              </p:cNvPr>
              <p:cNvSpPr txBox="1">
                <a:spLocks noRot="1" noChangeAspect="1" noMove="1" noResize="1" noEditPoints="1" noAdjustHandles="1" noChangeArrowheads="1" noChangeShapeType="1" noTextEdit="1"/>
              </p:cNvSpPr>
              <p:nvPr/>
            </p:nvSpPr>
            <p:spPr>
              <a:xfrm>
                <a:off x="658368" y="4976231"/>
                <a:ext cx="10698480" cy="1200329"/>
              </a:xfrm>
              <a:prstGeom prst="rect">
                <a:avLst/>
              </a:prstGeom>
              <a:blipFill>
                <a:blip r:embed="rId2"/>
                <a:stretch>
                  <a:fillRect l="-342" t="-2030" b="-7614"/>
                </a:stretch>
              </a:blipFill>
            </p:spPr>
            <p:txBody>
              <a:bodyPr/>
              <a:lstStyle/>
              <a:p>
                <a:r>
                  <a:rPr lang="en-US">
                    <a:noFill/>
                  </a:rPr>
                  <a:t> </a:t>
                </a:r>
              </a:p>
            </p:txBody>
          </p:sp>
        </mc:Fallback>
      </mc:AlternateContent>
    </p:spTree>
    <p:extLst>
      <p:ext uri="{BB962C8B-B14F-4D97-AF65-F5344CB8AC3E}">
        <p14:creationId xmlns:p14="http://schemas.microsoft.com/office/powerpoint/2010/main" val="81934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6B3AE-9348-C281-2968-DDE8373997D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563F4CE-A0F4-21CA-CCD5-F3F8C32E282D}"/>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D385B6D-9A3D-1EC5-8E3D-81E3702B1F69}"/>
              </a:ext>
            </a:extLst>
          </p:cNvPr>
          <p:cNvSpPr txBox="1"/>
          <p:nvPr/>
        </p:nvSpPr>
        <p:spPr>
          <a:xfrm>
            <a:off x="658368" y="336542"/>
            <a:ext cx="10698480" cy="461665"/>
          </a:xfrm>
          <a:prstGeom prst="rect">
            <a:avLst/>
          </a:prstGeom>
          <a:noFill/>
        </p:spPr>
        <p:txBody>
          <a:bodyPr wrap="square">
            <a:spAutoFit/>
          </a:bodyPr>
          <a:lstStyle/>
          <a:p>
            <a:r>
              <a:rPr lang="en-US" sz="2400" b="1" noProof="1"/>
              <a:t>LE NOUVEAU PROTOCOLE (REGIME CONTROL)</a:t>
            </a:r>
          </a:p>
        </p:txBody>
      </p:sp>
      <p:sp>
        <p:nvSpPr>
          <p:cNvPr id="2" name="TextBox 1">
            <a:extLst>
              <a:ext uri="{FF2B5EF4-FFF2-40B4-BE49-F238E27FC236}">
                <a16:creationId xmlns:a16="http://schemas.microsoft.com/office/drawing/2014/main" id="{BDAA5008-60F9-EDBB-5798-B1D36AF9A31D}"/>
              </a:ext>
            </a:extLst>
          </p:cNvPr>
          <p:cNvSpPr txBox="1"/>
          <p:nvPr/>
        </p:nvSpPr>
        <p:spPr>
          <a:xfrm>
            <a:off x="658368" y="1023308"/>
            <a:ext cx="10698480" cy="646331"/>
          </a:xfrm>
          <a:prstGeom prst="rect">
            <a:avLst/>
          </a:prstGeom>
          <a:noFill/>
        </p:spPr>
        <p:txBody>
          <a:bodyPr wrap="square" rtlCol="0">
            <a:spAutoFit/>
          </a:bodyPr>
          <a:lstStyle/>
          <a:p>
            <a:r>
              <a:rPr lang="en-US" noProof="1"/>
              <a:t>Pour valider ces améliorations, nous devons isoler l'impact du crash COVID (qui est un événement exogène). Nous lançons une nouvelle expérimentation contrôlée.</a:t>
            </a:r>
            <a:endParaRPr lang="en-US" b="1" noProof="1"/>
          </a:p>
        </p:txBody>
      </p:sp>
      <p:sp>
        <p:nvSpPr>
          <p:cNvPr id="12" name="TextBox 11">
            <a:extLst>
              <a:ext uri="{FF2B5EF4-FFF2-40B4-BE49-F238E27FC236}">
                <a16:creationId xmlns:a16="http://schemas.microsoft.com/office/drawing/2014/main" id="{73E9FDDF-7070-D4C1-96B1-0D57191A056D}"/>
              </a:ext>
            </a:extLst>
          </p:cNvPr>
          <p:cNvSpPr txBox="1"/>
          <p:nvPr/>
        </p:nvSpPr>
        <p:spPr>
          <a:xfrm>
            <a:off x="658368" y="1805978"/>
            <a:ext cx="10698480" cy="1200329"/>
          </a:xfrm>
          <a:prstGeom prst="rect">
            <a:avLst/>
          </a:prstGeom>
          <a:noFill/>
        </p:spPr>
        <p:txBody>
          <a:bodyPr wrap="square" rtlCol="0">
            <a:spAutoFit/>
          </a:bodyPr>
          <a:lstStyle/>
          <a:p>
            <a:r>
              <a:rPr lang="en-US" b="1" noProof="1"/>
              <a:t>Période d'Étude :</a:t>
            </a:r>
            <a:r>
              <a:rPr lang="en-US" noProof="1"/>
              <a:t> 2010 – 2018 (Cycle économique cohérent).</a:t>
            </a:r>
          </a:p>
          <a:p>
            <a:r>
              <a:rPr lang="en-US" b="1" noProof="1"/>
              <a:t>Split :</a:t>
            </a:r>
            <a:endParaRPr lang="en-US" noProof="1"/>
          </a:p>
          <a:p>
            <a:pPr marL="742950" lvl="1" indent="-285750">
              <a:buFont typeface="Wingdings" panose="05000000000000000000" pitchFamily="2" charset="2"/>
              <a:buChar char="§"/>
            </a:pPr>
            <a:r>
              <a:rPr lang="en-US" b="1" noProof="1"/>
              <a:t>Train :</a:t>
            </a:r>
            <a:r>
              <a:rPr lang="en-US" noProof="1"/>
              <a:t> 2010 – 2016.</a:t>
            </a:r>
          </a:p>
          <a:p>
            <a:pPr marL="742950" lvl="1" indent="-285750">
              <a:buFont typeface="Wingdings" panose="05000000000000000000" pitchFamily="2" charset="2"/>
              <a:buChar char="§"/>
            </a:pPr>
            <a:r>
              <a:rPr lang="en-US" b="1" noProof="1"/>
              <a:t>Test :</a:t>
            </a:r>
            <a:r>
              <a:rPr lang="en-US" noProof="1"/>
              <a:t> 2016 – 2018 (Bull Market avec volatilité).</a:t>
            </a:r>
          </a:p>
        </p:txBody>
      </p:sp>
      <p:sp>
        <p:nvSpPr>
          <p:cNvPr id="4" name="TextBox 3">
            <a:extLst>
              <a:ext uri="{FF2B5EF4-FFF2-40B4-BE49-F238E27FC236}">
                <a16:creationId xmlns:a16="http://schemas.microsoft.com/office/drawing/2014/main" id="{4A2E5B9E-BF29-7AB7-FEE3-A7005350DA4A}"/>
              </a:ext>
            </a:extLst>
          </p:cNvPr>
          <p:cNvSpPr txBox="1"/>
          <p:nvPr/>
        </p:nvSpPr>
        <p:spPr>
          <a:xfrm>
            <a:off x="658368" y="3006307"/>
            <a:ext cx="10698480" cy="923330"/>
          </a:xfrm>
          <a:prstGeom prst="rect">
            <a:avLst/>
          </a:prstGeom>
          <a:noFill/>
        </p:spPr>
        <p:txBody>
          <a:bodyPr wrap="square" rtlCol="0">
            <a:spAutoFit/>
          </a:bodyPr>
          <a:lstStyle/>
          <a:p>
            <a:r>
              <a:rPr lang="en-US" b="1" noProof="1"/>
              <a:t>Hypothèse :</a:t>
            </a:r>
          </a:p>
          <a:p>
            <a:r>
              <a:rPr lang="en-US" noProof="1"/>
              <a:t>Dans un régime de marché stable, l'architecture "Smart" (Upgraded) doit battre l'architecture "Naïve" et générer un profit net après frais.</a:t>
            </a:r>
          </a:p>
        </p:txBody>
      </p:sp>
      <p:sp>
        <p:nvSpPr>
          <p:cNvPr id="6" name="TextBox 5">
            <a:extLst>
              <a:ext uri="{FF2B5EF4-FFF2-40B4-BE49-F238E27FC236}">
                <a16:creationId xmlns:a16="http://schemas.microsoft.com/office/drawing/2014/main" id="{8A85C059-7FD1-7FDF-7A3A-F5409B056A2F}"/>
              </a:ext>
            </a:extLst>
          </p:cNvPr>
          <p:cNvSpPr txBox="1"/>
          <p:nvPr/>
        </p:nvSpPr>
        <p:spPr>
          <a:xfrm>
            <a:off x="658368" y="3929637"/>
            <a:ext cx="10698480" cy="1200329"/>
          </a:xfrm>
          <a:prstGeom prst="rect">
            <a:avLst/>
          </a:prstGeom>
          <a:noFill/>
        </p:spPr>
        <p:txBody>
          <a:bodyPr wrap="square" rtlCol="0">
            <a:spAutoFit/>
          </a:bodyPr>
          <a:lstStyle/>
          <a:p>
            <a:pPr algn="just"/>
            <a:r>
              <a:rPr lang="en-US" noProof="1"/>
              <a:t>Avant de confronter notre modèle amélioré au chaos de 2022, nous devons prouver qu'il fonctionne dans un environnement 'normal'. Nous revenons donc sur la période pré-COVID pour valider la théorie. Si l'architecture améliorée fonctionne ici, alors les pertes de 2022 ne sont pas dues au code, mais au changement de régime (ce que nous verrons en conclusion).</a:t>
            </a:r>
          </a:p>
        </p:txBody>
      </p:sp>
    </p:spTree>
    <p:extLst>
      <p:ext uri="{BB962C8B-B14F-4D97-AF65-F5344CB8AC3E}">
        <p14:creationId xmlns:p14="http://schemas.microsoft.com/office/powerpoint/2010/main" val="2192157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6CDB2-34C5-1E7A-FB84-66CC44C4B0C8}"/>
            </a:ext>
          </a:extLst>
        </p:cNvPr>
        <p:cNvGrpSpPr/>
        <p:nvPr/>
      </p:nvGrpSpPr>
      <p:grpSpPr>
        <a:xfrm>
          <a:off x="0" y="0"/>
          <a:ext cx="0" cy="0"/>
          <a:chOff x="0" y="0"/>
          <a:chExt cx="0" cy="0"/>
        </a:xfrm>
      </p:grpSpPr>
      <p:sp>
        <p:nvSpPr>
          <p:cNvPr id="3" name="Rectangle: Diagonal Corners Rounded 2">
            <a:extLst>
              <a:ext uri="{FF2B5EF4-FFF2-40B4-BE49-F238E27FC236}">
                <a16:creationId xmlns:a16="http://schemas.microsoft.com/office/drawing/2014/main" id="{3EF43027-D4CD-ECE9-95F5-CB829EB2BB1A}"/>
              </a:ext>
            </a:extLst>
          </p:cNvPr>
          <p:cNvSpPr/>
          <p:nvPr/>
        </p:nvSpPr>
        <p:spPr>
          <a:xfrm>
            <a:off x="3194304" y="2025396"/>
            <a:ext cx="5803392" cy="3136392"/>
          </a:xfrm>
          <a:prstGeom prst="round2DiagRect">
            <a:avLst>
              <a:gd name="adj1" fmla="val 16667"/>
              <a:gd name="adj2" fmla="val 0"/>
            </a:avLst>
          </a:prstGeom>
          <a:solidFill>
            <a:srgbClr val="83A5AB"/>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AEC7E03B-1EE9-CF82-9892-BDFAC17C8D44}"/>
              </a:ext>
            </a:extLst>
          </p:cNvPr>
          <p:cNvSpPr txBox="1"/>
          <p:nvPr/>
        </p:nvSpPr>
        <p:spPr>
          <a:xfrm>
            <a:off x="4063039" y="3792914"/>
            <a:ext cx="4686283" cy="584775"/>
          </a:xfrm>
          <a:prstGeom prst="rect">
            <a:avLst/>
          </a:prstGeom>
          <a:noFill/>
        </p:spPr>
        <p:txBody>
          <a:bodyPr wrap="none" rtlCol="0">
            <a:spAutoFit/>
          </a:bodyPr>
          <a:lstStyle/>
          <a:p>
            <a:r>
              <a:rPr lang="en-US" sz="3200" b="1" noProof="1"/>
              <a:t>STEP – 2 : Crypto Trading</a:t>
            </a:r>
          </a:p>
        </p:txBody>
      </p:sp>
      <p:sp>
        <p:nvSpPr>
          <p:cNvPr id="5" name="Rectangle: Diagonal Corners Snipped 4">
            <a:extLst>
              <a:ext uri="{FF2B5EF4-FFF2-40B4-BE49-F238E27FC236}">
                <a16:creationId xmlns:a16="http://schemas.microsoft.com/office/drawing/2014/main" id="{20939806-CEFF-7BCF-F3F7-EF25932A03E7}"/>
              </a:ext>
            </a:extLst>
          </p:cNvPr>
          <p:cNvSpPr/>
          <p:nvPr/>
        </p:nvSpPr>
        <p:spPr>
          <a:xfrm>
            <a:off x="5654500" y="2824830"/>
            <a:ext cx="883000" cy="768762"/>
          </a:xfrm>
          <a:prstGeom prst="snip2DiagRect">
            <a:avLst/>
          </a:prstGeom>
          <a:solidFill>
            <a:schemeClr val="tx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noProof="1"/>
              <a:t>8</a:t>
            </a:r>
          </a:p>
        </p:txBody>
      </p:sp>
      <p:sp>
        <p:nvSpPr>
          <p:cNvPr id="2" name="TextBox 1">
            <a:extLst>
              <a:ext uri="{FF2B5EF4-FFF2-40B4-BE49-F238E27FC236}">
                <a16:creationId xmlns:a16="http://schemas.microsoft.com/office/drawing/2014/main" id="{7E637F82-0E46-2432-3EA2-B4D3FC16A92F}"/>
              </a:ext>
            </a:extLst>
          </p:cNvPr>
          <p:cNvSpPr txBox="1"/>
          <p:nvPr/>
        </p:nvSpPr>
        <p:spPr>
          <a:xfrm>
            <a:off x="153899" y="6326398"/>
            <a:ext cx="891654" cy="369332"/>
          </a:xfrm>
          <a:prstGeom prst="rect">
            <a:avLst/>
          </a:prstGeom>
          <a:noFill/>
        </p:spPr>
        <p:txBody>
          <a:bodyPr wrap="none" rtlCol="0">
            <a:spAutoFit/>
          </a:bodyPr>
          <a:lstStyle/>
          <a:p>
            <a:r>
              <a:rPr lang="en-US" b="1" i="1" noProof="1">
                <a:solidFill>
                  <a:srgbClr val="FF0000"/>
                </a:solidFill>
              </a:rPr>
              <a:t>PART 2</a:t>
            </a:r>
          </a:p>
        </p:txBody>
      </p:sp>
    </p:spTree>
    <p:extLst>
      <p:ext uri="{BB962C8B-B14F-4D97-AF65-F5344CB8AC3E}">
        <p14:creationId xmlns:p14="http://schemas.microsoft.com/office/powerpoint/2010/main" val="3891446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310B8-94D4-97F9-1EE5-05CD196C2EDD}"/>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19CE48C-4A45-57AA-537F-F10B4E5D6D62}"/>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6C6E5AD-C4F0-43F5-4549-2C472C6D70A8}"/>
              </a:ext>
            </a:extLst>
          </p:cNvPr>
          <p:cNvSpPr txBox="1"/>
          <p:nvPr/>
        </p:nvSpPr>
        <p:spPr>
          <a:xfrm>
            <a:off x="658368" y="336542"/>
            <a:ext cx="10140696" cy="461665"/>
          </a:xfrm>
          <a:prstGeom prst="rect">
            <a:avLst/>
          </a:prstGeom>
          <a:noFill/>
        </p:spPr>
        <p:txBody>
          <a:bodyPr wrap="square">
            <a:spAutoFit/>
          </a:bodyPr>
          <a:lstStyle/>
          <a:p>
            <a:r>
              <a:rPr lang="en-US" sz="2400" b="1" noProof="1"/>
              <a:t>DATA ACQUISITION AND EXPLORATORY ANALYSIS (EDA)</a:t>
            </a:r>
          </a:p>
        </p:txBody>
      </p:sp>
      <p:sp>
        <p:nvSpPr>
          <p:cNvPr id="5" name="TextBox 4">
            <a:extLst>
              <a:ext uri="{FF2B5EF4-FFF2-40B4-BE49-F238E27FC236}">
                <a16:creationId xmlns:a16="http://schemas.microsoft.com/office/drawing/2014/main" id="{223E02A4-F866-D6B1-6E85-BDD050581A6D}"/>
              </a:ext>
            </a:extLst>
          </p:cNvPr>
          <p:cNvSpPr txBox="1"/>
          <p:nvPr/>
        </p:nvSpPr>
        <p:spPr>
          <a:xfrm>
            <a:off x="658368" y="975730"/>
            <a:ext cx="10698480" cy="646331"/>
          </a:xfrm>
          <a:prstGeom prst="rect">
            <a:avLst/>
          </a:prstGeom>
          <a:noFill/>
        </p:spPr>
        <p:txBody>
          <a:bodyPr wrap="square" rtlCol="0">
            <a:spAutoFit/>
          </a:bodyPr>
          <a:lstStyle/>
          <a:p>
            <a:pPr algn="just"/>
            <a:r>
              <a:rPr lang="en-US" noProof="1"/>
              <a:t>We use the Kraken exchange via the </a:t>
            </a:r>
            <a:r>
              <a:rPr lang="en-US" b="1" i="1" noProof="1"/>
              <a:t>CCXT library</a:t>
            </a:r>
            <a:r>
              <a:rPr lang="en-US" noProof="1"/>
              <a:t>. Kraken is used because Binance blocks Google Colab's US-based IP addresses. We target BTC/USD on a 1-Hour (1h) timeframe.</a:t>
            </a:r>
          </a:p>
        </p:txBody>
      </p:sp>
      <p:sp>
        <p:nvSpPr>
          <p:cNvPr id="2" name="TextBox 1">
            <a:extLst>
              <a:ext uri="{FF2B5EF4-FFF2-40B4-BE49-F238E27FC236}">
                <a16:creationId xmlns:a16="http://schemas.microsoft.com/office/drawing/2014/main" id="{369DE6CE-3E1A-372D-E488-C5C113319F7D}"/>
              </a:ext>
            </a:extLst>
          </p:cNvPr>
          <p:cNvSpPr txBox="1"/>
          <p:nvPr/>
        </p:nvSpPr>
        <p:spPr>
          <a:xfrm>
            <a:off x="658368" y="2968465"/>
            <a:ext cx="10698480" cy="369332"/>
          </a:xfrm>
          <a:prstGeom prst="rect">
            <a:avLst/>
          </a:prstGeom>
          <a:noFill/>
        </p:spPr>
        <p:txBody>
          <a:bodyPr wrap="square" rtlCol="0">
            <a:spAutoFit/>
          </a:bodyPr>
          <a:lstStyle/>
          <a:p>
            <a:r>
              <a:rPr lang="en-US" b="1" noProof="1"/>
              <a:t>Exploratory Data Analysis</a:t>
            </a:r>
          </a:p>
        </p:txBody>
      </p:sp>
      <p:pic>
        <p:nvPicPr>
          <p:cNvPr id="6" name="Picture 5">
            <a:extLst>
              <a:ext uri="{FF2B5EF4-FFF2-40B4-BE49-F238E27FC236}">
                <a16:creationId xmlns:a16="http://schemas.microsoft.com/office/drawing/2014/main" id="{1DD01920-7A08-EB4E-14D9-99F0C1935DDF}"/>
              </a:ext>
            </a:extLst>
          </p:cNvPr>
          <p:cNvPicPr>
            <a:picLocks noChangeAspect="1"/>
          </p:cNvPicPr>
          <p:nvPr/>
        </p:nvPicPr>
        <p:blipFill>
          <a:blip r:embed="rId2"/>
          <a:stretch>
            <a:fillRect/>
          </a:stretch>
        </p:blipFill>
        <p:spPr>
          <a:xfrm>
            <a:off x="746760" y="1679988"/>
            <a:ext cx="10610088" cy="1166033"/>
          </a:xfrm>
          <a:prstGeom prst="rect">
            <a:avLst/>
          </a:prstGeom>
        </p:spPr>
      </p:pic>
      <p:sp>
        <p:nvSpPr>
          <p:cNvPr id="8" name="TextBox 7">
            <a:extLst>
              <a:ext uri="{FF2B5EF4-FFF2-40B4-BE49-F238E27FC236}">
                <a16:creationId xmlns:a16="http://schemas.microsoft.com/office/drawing/2014/main" id="{F0C78E3D-6CE7-28D3-5FBE-6382002E2F3C}"/>
              </a:ext>
            </a:extLst>
          </p:cNvPr>
          <p:cNvSpPr txBox="1"/>
          <p:nvPr/>
        </p:nvSpPr>
        <p:spPr>
          <a:xfrm>
            <a:off x="746760" y="3337797"/>
            <a:ext cx="10698480" cy="369332"/>
          </a:xfrm>
          <a:prstGeom prst="rect">
            <a:avLst/>
          </a:prstGeom>
          <a:noFill/>
        </p:spPr>
        <p:txBody>
          <a:bodyPr wrap="square" rtlCol="0">
            <a:spAutoFit/>
          </a:bodyPr>
          <a:lstStyle/>
          <a:p>
            <a:r>
              <a:rPr lang="en-US" noProof="1"/>
              <a:t>We now visualize the data to understand price trends, volume spikes, and volatility regimes.</a:t>
            </a:r>
            <a:endParaRPr lang="en-US" b="1" noProof="1"/>
          </a:p>
        </p:txBody>
      </p:sp>
      <p:pic>
        <p:nvPicPr>
          <p:cNvPr id="10" name="Picture 9">
            <a:extLst>
              <a:ext uri="{FF2B5EF4-FFF2-40B4-BE49-F238E27FC236}">
                <a16:creationId xmlns:a16="http://schemas.microsoft.com/office/drawing/2014/main" id="{CAD68970-61D0-6BFB-F749-091081BE6473}"/>
              </a:ext>
            </a:extLst>
          </p:cNvPr>
          <p:cNvPicPr>
            <a:picLocks noChangeAspect="1"/>
          </p:cNvPicPr>
          <p:nvPr/>
        </p:nvPicPr>
        <p:blipFill>
          <a:blip r:embed="rId3"/>
          <a:stretch>
            <a:fillRect/>
          </a:stretch>
        </p:blipFill>
        <p:spPr>
          <a:xfrm>
            <a:off x="2178295" y="3707129"/>
            <a:ext cx="7100842" cy="3081497"/>
          </a:xfrm>
          <a:prstGeom prst="rect">
            <a:avLst/>
          </a:prstGeom>
          <a:ln>
            <a:solidFill>
              <a:schemeClr val="accent1"/>
            </a:solidFill>
          </a:ln>
        </p:spPr>
      </p:pic>
    </p:spTree>
    <p:extLst>
      <p:ext uri="{BB962C8B-B14F-4D97-AF65-F5344CB8AC3E}">
        <p14:creationId xmlns:p14="http://schemas.microsoft.com/office/powerpoint/2010/main" val="933997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7EC3-0051-2E3D-9795-EB22E607F7F7}"/>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D1C8E6C-233A-DC4B-0783-045E9BC49257}"/>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552051A-053C-7A66-36DA-C0F40D1E7A2B}"/>
              </a:ext>
            </a:extLst>
          </p:cNvPr>
          <p:cNvSpPr txBox="1"/>
          <p:nvPr/>
        </p:nvSpPr>
        <p:spPr>
          <a:xfrm>
            <a:off x="658368" y="336542"/>
            <a:ext cx="10140696" cy="461665"/>
          </a:xfrm>
          <a:prstGeom prst="rect">
            <a:avLst/>
          </a:prstGeom>
          <a:noFill/>
        </p:spPr>
        <p:txBody>
          <a:bodyPr wrap="square">
            <a:spAutoFit/>
          </a:bodyPr>
          <a:lstStyle/>
          <a:p>
            <a:r>
              <a:rPr lang="en-US" sz="2400" b="1" noProof="1"/>
              <a:t>DATA ACQUISITION AND EXPLORATORY ANALYSIS (EDA)</a:t>
            </a:r>
          </a:p>
        </p:txBody>
      </p:sp>
      <p:sp>
        <p:nvSpPr>
          <p:cNvPr id="2" name="TextBox 1">
            <a:extLst>
              <a:ext uri="{FF2B5EF4-FFF2-40B4-BE49-F238E27FC236}">
                <a16:creationId xmlns:a16="http://schemas.microsoft.com/office/drawing/2014/main" id="{35D24F23-4295-0BA2-F96B-D0251499D7F3}"/>
              </a:ext>
            </a:extLst>
          </p:cNvPr>
          <p:cNvSpPr txBox="1"/>
          <p:nvPr/>
        </p:nvSpPr>
        <p:spPr>
          <a:xfrm>
            <a:off x="658368" y="975073"/>
            <a:ext cx="10698480" cy="369332"/>
          </a:xfrm>
          <a:prstGeom prst="rect">
            <a:avLst/>
          </a:prstGeom>
          <a:noFill/>
        </p:spPr>
        <p:txBody>
          <a:bodyPr wrap="square" rtlCol="0">
            <a:spAutoFit/>
          </a:bodyPr>
          <a:lstStyle/>
          <a:p>
            <a:r>
              <a:rPr lang="en-US" b="1" noProof="1"/>
              <a:t>Analysis of Returns &amp; Volatility</a:t>
            </a:r>
          </a:p>
        </p:txBody>
      </p:sp>
      <p:sp>
        <p:nvSpPr>
          <p:cNvPr id="8" name="TextBox 7">
            <a:extLst>
              <a:ext uri="{FF2B5EF4-FFF2-40B4-BE49-F238E27FC236}">
                <a16:creationId xmlns:a16="http://schemas.microsoft.com/office/drawing/2014/main" id="{02B459F0-7148-FC0B-F858-DEA6BE59F464}"/>
              </a:ext>
            </a:extLst>
          </p:cNvPr>
          <p:cNvSpPr txBox="1"/>
          <p:nvPr/>
        </p:nvSpPr>
        <p:spPr>
          <a:xfrm>
            <a:off x="656555" y="1349527"/>
            <a:ext cx="10698480" cy="369332"/>
          </a:xfrm>
          <a:prstGeom prst="rect">
            <a:avLst/>
          </a:prstGeom>
          <a:noFill/>
        </p:spPr>
        <p:txBody>
          <a:bodyPr wrap="square" rtlCol="0">
            <a:spAutoFit/>
          </a:bodyPr>
          <a:lstStyle/>
          <a:p>
            <a:r>
              <a:rPr lang="en-US" noProof="1"/>
              <a:t>ML models perform better on Returns than absolute prices. We examine the distribution of these returns.</a:t>
            </a:r>
            <a:endParaRPr lang="en-US" b="1" noProof="1"/>
          </a:p>
        </p:txBody>
      </p:sp>
      <p:pic>
        <p:nvPicPr>
          <p:cNvPr id="9" name="Picture 8">
            <a:extLst>
              <a:ext uri="{FF2B5EF4-FFF2-40B4-BE49-F238E27FC236}">
                <a16:creationId xmlns:a16="http://schemas.microsoft.com/office/drawing/2014/main" id="{E9D828F1-5466-A1F8-3465-2152F453CBAF}"/>
              </a:ext>
            </a:extLst>
          </p:cNvPr>
          <p:cNvPicPr>
            <a:picLocks noChangeAspect="1"/>
          </p:cNvPicPr>
          <p:nvPr/>
        </p:nvPicPr>
        <p:blipFill>
          <a:blip r:embed="rId2"/>
          <a:stretch>
            <a:fillRect/>
          </a:stretch>
        </p:blipFill>
        <p:spPr>
          <a:xfrm>
            <a:off x="658368" y="1804686"/>
            <a:ext cx="10696667" cy="3520907"/>
          </a:xfrm>
          <a:prstGeom prst="rect">
            <a:avLst/>
          </a:prstGeom>
          <a:ln>
            <a:solidFill>
              <a:schemeClr val="accent1"/>
            </a:solidFill>
          </a:ln>
        </p:spPr>
      </p:pic>
      <p:sp>
        <p:nvSpPr>
          <p:cNvPr id="11" name="TextBox 10">
            <a:extLst>
              <a:ext uri="{FF2B5EF4-FFF2-40B4-BE49-F238E27FC236}">
                <a16:creationId xmlns:a16="http://schemas.microsoft.com/office/drawing/2014/main" id="{6BCBCA3B-1E5C-4CDF-8873-820900E3CADD}"/>
              </a:ext>
            </a:extLst>
          </p:cNvPr>
          <p:cNvSpPr txBox="1"/>
          <p:nvPr/>
        </p:nvSpPr>
        <p:spPr>
          <a:xfrm>
            <a:off x="656555" y="5411420"/>
            <a:ext cx="10698480" cy="1169551"/>
          </a:xfrm>
          <a:prstGeom prst="rect">
            <a:avLst/>
          </a:prstGeom>
          <a:noFill/>
        </p:spPr>
        <p:txBody>
          <a:bodyPr wrap="square" rtlCol="0">
            <a:spAutoFit/>
          </a:bodyPr>
          <a:lstStyle/>
          <a:p>
            <a:pPr algn="just"/>
            <a:r>
              <a:rPr lang="en-US" sz="1400" b="1" noProof="1"/>
              <a:t>Stationarity:</a:t>
            </a:r>
            <a:r>
              <a:rPr lang="en-US" sz="1400" noProof="1"/>
              <a:t> The Price chart shows a clear "trend," meaning the mean changes over time (Non-Stationary). Our ML models will struggle with this. We must use the Log Returns (visualized above) which are centered around zero.</a:t>
            </a:r>
          </a:p>
          <a:p>
            <a:pPr algn="just"/>
            <a:r>
              <a:rPr lang="en-US" sz="1400" b="1" noProof="1"/>
              <a:t>Volatility Clustering:</a:t>
            </a:r>
            <a:r>
              <a:rPr lang="en-US" sz="1400" noProof="1"/>
              <a:t> High spikes in volatility tend to cluster together. This suggests that the market has "regimes" (Quiet vs. Chaotic).</a:t>
            </a:r>
          </a:p>
          <a:p>
            <a:pPr algn="just"/>
            <a:r>
              <a:rPr lang="en-US" sz="1400" b="1" noProof="1"/>
              <a:t>Fat Tails:</a:t>
            </a:r>
            <a:r>
              <a:rPr lang="en-US" sz="1400" noProof="1"/>
              <a:t> The histogram shows that extreme moves (3%+) happen more often than a normal distribution would predict. This is a classic "Black Swan" characteristic of crypto.</a:t>
            </a:r>
          </a:p>
        </p:txBody>
      </p:sp>
    </p:spTree>
    <p:extLst>
      <p:ext uri="{BB962C8B-B14F-4D97-AF65-F5344CB8AC3E}">
        <p14:creationId xmlns:p14="http://schemas.microsoft.com/office/powerpoint/2010/main" val="1628517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A3896-C642-FAAD-E8DB-F3C8961D676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F05D544-0C2D-AF57-DC7D-DF4E4222758A}"/>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21D6CD4-77DC-A028-2389-07E716A69BB8}"/>
              </a:ext>
            </a:extLst>
          </p:cNvPr>
          <p:cNvSpPr txBox="1"/>
          <p:nvPr/>
        </p:nvSpPr>
        <p:spPr>
          <a:xfrm>
            <a:off x="658368" y="336542"/>
            <a:ext cx="10140696" cy="461665"/>
          </a:xfrm>
          <a:prstGeom prst="rect">
            <a:avLst/>
          </a:prstGeom>
          <a:noFill/>
        </p:spPr>
        <p:txBody>
          <a:bodyPr wrap="square">
            <a:spAutoFit/>
          </a:bodyPr>
          <a:lstStyle/>
          <a:p>
            <a:r>
              <a:rPr lang="en-US" sz="2400" b="1" noProof="1"/>
              <a:t>DATA PROCESSING &amp; FEATURE ENGINEERING</a:t>
            </a:r>
          </a:p>
        </p:txBody>
      </p:sp>
      <p:sp>
        <p:nvSpPr>
          <p:cNvPr id="2" name="TextBox 1">
            <a:extLst>
              <a:ext uri="{FF2B5EF4-FFF2-40B4-BE49-F238E27FC236}">
                <a16:creationId xmlns:a16="http://schemas.microsoft.com/office/drawing/2014/main" id="{9E78E014-FD08-77AC-B1AA-AB0E4A43A3D3}"/>
              </a:ext>
            </a:extLst>
          </p:cNvPr>
          <p:cNvSpPr txBox="1"/>
          <p:nvPr/>
        </p:nvSpPr>
        <p:spPr>
          <a:xfrm>
            <a:off x="658368" y="975073"/>
            <a:ext cx="10698480" cy="369332"/>
          </a:xfrm>
          <a:prstGeom prst="rect">
            <a:avLst/>
          </a:prstGeom>
          <a:noFill/>
        </p:spPr>
        <p:txBody>
          <a:bodyPr wrap="square" rtlCol="0">
            <a:spAutoFit/>
          </a:bodyPr>
          <a:lstStyle/>
          <a:p>
            <a:r>
              <a:rPr lang="en-US" b="1" noProof="1"/>
              <a:t>Data Cleaning &amp; Continuity</a:t>
            </a:r>
          </a:p>
        </p:txBody>
      </p:sp>
      <p:sp>
        <p:nvSpPr>
          <p:cNvPr id="8" name="TextBox 7">
            <a:extLst>
              <a:ext uri="{FF2B5EF4-FFF2-40B4-BE49-F238E27FC236}">
                <a16:creationId xmlns:a16="http://schemas.microsoft.com/office/drawing/2014/main" id="{4E031670-142B-87B6-9AD0-3358448D00DA}"/>
              </a:ext>
            </a:extLst>
          </p:cNvPr>
          <p:cNvSpPr txBox="1"/>
          <p:nvPr/>
        </p:nvSpPr>
        <p:spPr>
          <a:xfrm>
            <a:off x="656555" y="1349527"/>
            <a:ext cx="10698480" cy="646331"/>
          </a:xfrm>
          <a:prstGeom prst="rect">
            <a:avLst/>
          </a:prstGeom>
          <a:noFill/>
        </p:spPr>
        <p:txBody>
          <a:bodyPr wrap="square" rtlCol="0">
            <a:spAutoFit/>
          </a:bodyPr>
          <a:lstStyle/>
          <a:p>
            <a:r>
              <a:rPr lang="en-US" noProof="1"/>
              <a:t>Even small gaps in time-series data can break a model's logic. We ensure the timeline is perfectly continuous by re-indexing.</a:t>
            </a:r>
            <a:endParaRPr lang="en-US" b="1" noProof="1"/>
          </a:p>
        </p:txBody>
      </p:sp>
      <p:pic>
        <p:nvPicPr>
          <p:cNvPr id="5" name="Picture 4">
            <a:extLst>
              <a:ext uri="{FF2B5EF4-FFF2-40B4-BE49-F238E27FC236}">
                <a16:creationId xmlns:a16="http://schemas.microsoft.com/office/drawing/2014/main" id="{8CD46AA5-5A7C-F3D6-9704-181692E0F3AB}"/>
              </a:ext>
            </a:extLst>
          </p:cNvPr>
          <p:cNvPicPr>
            <a:picLocks noChangeAspect="1"/>
          </p:cNvPicPr>
          <p:nvPr/>
        </p:nvPicPr>
        <p:blipFill>
          <a:blip r:embed="rId2"/>
          <a:stretch>
            <a:fillRect/>
          </a:stretch>
        </p:blipFill>
        <p:spPr>
          <a:xfrm>
            <a:off x="656555" y="2082695"/>
            <a:ext cx="10698480" cy="646327"/>
          </a:xfrm>
          <a:prstGeom prst="rect">
            <a:avLst/>
          </a:prstGeom>
        </p:spPr>
      </p:pic>
      <p:sp>
        <p:nvSpPr>
          <p:cNvPr id="6" name="TextBox 5">
            <a:extLst>
              <a:ext uri="{FF2B5EF4-FFF2-40B4-BE49-F238E27FC236}">
                <a16:creationId xmlns:a16="http://schemas.microsoft.com/office/drawing/2014/main" id="{B1BE48E1-8388-36C1-3829-96CE9F86CD61}"/>
              </a:ext>
            </a:extLst>
          </p:cNvPr>
          <p:cNvSpPr txBox="1"/>
          <p:nvPr/>
        </p:nvSpPr>
        <p:spPr>
          <a:xfrm>
            <a:off x="656555" y="2815859"/>
            <a:ext cx="10698480" cy="369332"/>
          </a:xfrm>
          <a:prstGeom prst="rect">
            <a:avLst/>
          </a:prstGeom>
          <a:noFill/>
        </p:spPr>
        <p:txBody>
          <a:bodyPr wrap="square" rtlCol="0">
            <a:spAutoFit/>
          </a:bodyPr>
          <a:lstStyle/>
          <a:p>
            <a:r>
              <a:rPr lang="en-US" b="1" noProof="1"/>
              <a:t>Feature Engineering (Alpha Factors)</a:t>
            </a:r>
          </a:p>
        </p:txBody>
      </p:sp>
      <p:sp>
        <p:nvSpPr>
          <p:cNvPr id="10" name="TextBox 9">
            <a:extLst>
              <a:ext uri="{FF2B5EF4-FFF2-40B4-BE49-F238E27FC236}">
                <a16:creationId xmlns:a16="http://schemas.microsoft.com/office/drawing/2014/main" id="{E19B4BE8-624A-FFCB-45A9-5FA71D129D18}"/>
              </a:ext>
            </a:extLst>
          </p:cNvPr>
          <p:cNvSpPr txBox="1"/>
          <p:nvPr/>
        </p:nvSpPr>
        <p:spPr>
          <a:xfrm>
            <a:off x="656555" y="3185191"/>
            <a:ext cx="10698480" cy="1477328"/>
          </a:xfrm>
          <a:prstGeom prst="rect">
            <a:avLst/>
          </a:prstGeom>
          <a:noFill/>
        </p:spPr>
        <p:txBody>
          <a:bodyPr wrap="square" rtlCol="0">
            <a:spAutoFit/>
          </a:bodyPr>
          <a:lstStyle/>
          <a:p>
            <a:r>
              <a:rPr lang="en-US" noProof="1"/>
              <a:t>We will create four categories of features to describe the market state:</a:t>
            </a:r>
          </a:p>
          <a:p>
            <a:pPr marL="342900" indent="-342900">
              <a:buFont typeface="+mj-lt"/>
              <a:buAutoNum type="arabicPeriod"/>
            </a:pPr>
            <a:r>
              <a:rPr lang="en-US" noProof="1"/>
              <a:t>Momentum: Is the current move overextended?</a:t>
            </a:r>
          </a:p>
          <a:p>
            <a:pPr marL="342900" indent="-342900">
              <a:buFont typeface="+mj-lt"/>
              <a:buAutoNum type="arabicPeriod"/>
            </a:pPr>
            <a:r>
              <a:rPr lang="en-US" noProof="1"/>
              <a:t>Trend: Are we in a long-term bull or bear regime?</a:t>
            </a:r>
          </a:p>
          <a:p>
            <a:pPr marL="342900" indent="-342900">
              <a:buFont typeface="+mj-lt"/>
              <a:buAutoNum type="arabicPeriod"/>
            </a:pPr>
            <a:r>
              <a:rPr lang="en-US" noProof="1"/>
              <a:t>Volatility: How much risk is in the current price action?</a:t>
            </a:r>
          </a:p>
          <a:p>
            <a:pPr marL="342900" indent="-342900">
              <a:buFont typeface="+mj-lt"/>
              <a:buAutoNum type="arabicPeriod"/>
            </a:pPr>
            <a:r>
              <a:rPr lang="en-US" noProof="1"/>
              <a:t>Volume: Is the move backed by high trading activity?</a:t>
            </a:r>
          </a:p>
        </p:txBody>
      </p:sp>
      <p:sp>
        <p:nvSpPr>
          <p:cNvPr id="12" name="TextBox 11">
            <a:extLst>
              <a:ext uri="{FF2B5EF4-FFF2-40B4-BE49-F238E27FC236}">
                <a16:creationId xmlns:a16="http://schemas.microsoft.com/office/drawing/2014/main" id="{8E18EA6A-07B4-AFD7-B877-566E66B21B3D}"/>
              </a:ext>
            </a:extLst>
          </p:cNvPr>
          <p:cNvSpPr txBox="1"/>
          <p:nvPr/>
        </p:nvSpPr>
        <p:spPr>
          <a:xfrm>
            <a:off x="656555" y="5031851"/>
            <a:ext cx="10698480" cy="646331"/>
          </a:xfrm>
          <a:prstGeom prst="rect">
            <a:avLst/>
          </a:prstGeom>
          <a:noFill/>
        </p:spPr>
        <p:txBody>
          <a:bodyPr wrap="square" rtlCol="0">
            <a:spAutoFit/>
          </a:bodyPr>
          <a:lstStyle/>
          <a:p>
            <a:r>
              <a:rPr lang="en-US" noProof="1"/>
              <a:t>In ML for trading, our "Y" (Target) is the </a:t>
            </a:r>
            <a:r>
              <a:rPr lang="en-US" b="1" noProof="1"/>
              <a:t>future return</a:t>
            </a:r>
            <a:r>
              <a:rPr lang="en-US" noProof="1"/>
              <a:t>. We shift the 1-hour return back so that the model tries to predict what happens in the next hour using current features.</a:t>
            </a:r>
          </a:p>
        </p:txBody>
      </p:sp>
      <p:sp>
        <p:nvSpPr>
          <p:cNvPr id="13" name="TextBox 12">
            <a:extLst>
              <a:ext uri="{FF2B5EF4-FFF2-40B4-BE49-F238E27FC236}">
                <a16:creationId xmlns:a16="http://schemas.microsoft.com/office/drawing/2014/main" id="{CA6336FC-74B0-0003-F00B-17B5B836CF1B}"/>
              </a:ext>
            </a:extLst>
          </p:cNvPr>
          <p:cNvSpPr txBox="1"/>
          <p:nvPr/>
        </p:nvSpPr>
        <p:spPr>
          <a:xfrm>
            <a:off x="656555" y="4662519"/>
            <a:ext cx="10698480" cy="369332"/>
          </a:xfrm>
          <a:prstGeom prst="rect">
            <a:avLst/>
          </a:prstGeom>
          <a:noFill/>
        </p:spPr>
        <p:txBody>
          <a:bodyPr wrap="square" rtlCol="0">
            <a:spAutoFit/>
          </a:bodyPr>
          <a:lstStyle/>
          <a:p>
            <a:r>
              <a:rPr lang="en-US" b="1" noProof="1"/>
              <a:t>Target Labeling</a:t>
            </a:r>
          </a:p>
        </p:txBody>
      </p:sp>
    </p:spTree>
    <p:extLst>
      <p:ext uri="{BB962C8B-B14F-4D97-AF65-F5344CB8AC3E}">
        <p14:creationId xmlns:p14="http://schemas.microsoft.com/office/powerpoint/2010/main" val="3195496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96722-5F5D-0B23-04CF-5AFB84B6615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77D0F48-8942-F9F5-51AB-64F8290708EF}"/>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8EEFFFE-9D70-B528-3126-0C6B0BA065A9}"/>
              </a:ext>
            </a:extLst>
          </p:cNvPr>
          <p:cNvSpPr txBox="1"/>
          <p:nvPr/>
        </p:nvSpPr>
        <p:spPr>
          <a:xfrm>
            <a:off x="658368" y="336542"/>
            <a:ext cx="10140696" cy="461665"/>
          </a:xfrm>
          <a:prstGeom prst="rect">
            <a:avLst/>
          </a:prstGeom>
          <a:noFill/>
        </p:spPr>
        <p:txBody>
          <a:bodyPr wrap="square">
            <a:spAutoFit/>
          </a:bodyPr>
          <a:lstStyle/>
          <a:p>
            <a:r>
              <a:rPr lang="en-US" sz="2400" b="1" noProof="1"/>
              <a:t>MODEL BUILDING AND TRAINING</a:t>
            </a:r>
          </a:p>
        </p:txBody>
      </p:sp>
      <p:sp>
        <p:nvSpPr>
          <p:cNvPr id="2" name="TextBox 1">
            <a:extLst>
              <a:ext uri="{FF2B5EF4-FFF2-40B4-BE49-F238E27FC236}">
                <a16:creationId xmlns:a16="http://schemas.microsoft.com/office/drawing/2014/main" id="{C17A71D4-8F2B-E914-16A3-543104AF94F7}"/>
              </a:ext>
            </a:extLst>
          </p:cNvPr>
          <p:cNvSpPr txBox="1"/>
          <p:nvPr/>
        </p:nvSpPr>
        <p:spPr>
          <a:xfrm>
            <a:off x="658368" y="975073"/>
            <a:ext cx="10698480" cy="369332"/>
          </a:xfrm>
          <a:prstGeom prst="rect">
            <a:avLst/>
          </a:prstGeom>
          <a:noFill/>
        </p:spPr>
        <p:txBody>
          <a:bodyPr wrap="square" rtlCol="0">
            <a:spAutoFit/>
          </a:bodyPr>
          <a:lstStyle/>
          <a:p>
            <a:r>
              <a:rPr lang="en-US" b="1" noProof="1"/>
              <a:t>Feature Selection and Train-Test Split</a:t>
            </a:r>
          </a:p>
        </p:txBody>
      </p:sp>
      <p:sp>
        <p:nvSpPr>
          <p:cNvPr id="8" name="TextBox 7">
            <a:extLst>
              <a:ext uri="{FF2B5EF4-FFF2-40B4-BE49-F238E27FC236}">
                <a16:creationId xmlns:a16="http://schemas.microsoft.com/office/drawing/2014/main" id="{A5ABD28C-35B7-B4F2-F5F4-8719DAA802D3}"/>
              </a:ext>
            </a:extLst>
          </p:cNvPr>
          <p:cNvSpPr txBox="1"/>
          <p:nvPr/>
        </p:nvSpPr>
        <p:spPr>
          <a:xfrm>
            <a:off x="656555" y="1349527"/>
            <a:ext cx="10698480" cy="646331"/>
          </a:xfrm>
          <a:prstGeom prst="rect">
            <a:avLst/>
          </a:prstGeom>
          <a:noFill/>
        </p:spPr>
        <p:txBody>
          <a:bodyPr wrap="square" rtlCol="0">
            <a:spAutoFit/>
          </a:bodyPr>
          <a:lstStyle/>
          <a:p>
            <a:r>
              <a:rPr lang="en-US" noProof="1"/>
              <a:t>We must use a Chronological Split. In trading, you can never use "future" data to predict the "past." We use the first 80% of history to train and the most recent 20% to test.</a:t>
            </a:r>
            <a:endParaRPr lang="en-US" b="1" noProof="1"/>
          </a:p>
        </p:txBody>
      </p:sp>
      <p:sp>
        <p:nvSpPr>
          <p:cNvPr id="6" name="TextBox 5">
            <a:extLst>
              <a:ext uri="{FF2B5EF4-FFF2-40B4-BE49-F238E27FC236}">
                <a16:creationId xmlns:a16="http://schemas.microsoft.com/office/drawing/2014/main" id="{74FF169F-B112-0E8D-8B0C-90273F3D09F7}"/>
              </a:ext>
            </a:extLst>
          </p:cNvPr>
          <p:cNvSpPr txBox="1"/>
          <p:nvPr/>
        </p:nvSpPr>
        <p:spPr>
          <a:xfrm>
            <a:off x="656554" y="2882152"/>
            <a:ext cx="10698480" cy="369332"/>
          </a:xfrm>
          <a:prstGeom prst="rect">
            <a:avLst/>
          </a:prstGeom>
          <a:noFill/>
        </p:spPr>
        <p:txBody>
          <a:bodyPr wrap="square" rtlCol="0">
            <a:spAutoFit/>
          </a:bodyPr>
          <a:lstStyle/>
          <a:p>
            <a:r>
              <a:rPr lang="en-US" b="1" noProof="1"/>
              <a:t>Model 1: XGBoost (Gradient Boosting)</a:t>
            </a:r>
          </a:p>
        </p:txBody>
      </p:sp>
      <p:sp>
        <p:nvSpPr>
          <p:cNvPr id="10" name="TextBox 9">
            <a:extLst>
              <a:ext uri="{FF2B5EF4-FFF2-40B4-BE49-F238E27FC236}">
                <a16:creationId xmlns:a16="http://schemas.microsoft.com/office/drawing/2014/main" id="{71EE6D86-6642-7611-17E9-7D75EE1D936D}"/>
              </a:ext>
            </a:extLst>
          </p:cNvPr>
          <p:cNvSpPr txBox="1"/>
          <p:nvPr/>
        </p:nvSpPr>
        <p:spPr>
          <a:xfrm>
            <a:off x="656554" y="3259807"/>
            <a:ext cx="10698480" cy="369332"/>
          </a:xfrm>
          <a:prstGeom prst="rect">
            <a:avLst/>
          </a:prstGeom>
          <a:noFill/>
        </p:spPr>
        <p:txBody>
          <a:bodyPr wrap="square" rtlCol="0">
            <a:spAutoFit/>
          </a:bodyPr>
          <a:lstStyle/>
          <a:p>
            <a:r>
              <a:rPr lang="en-US" noProof="1"/>
              <a:t>XGBoost is the "Jansen Favorite." It handles non-linear relationships and is robust to outliers.</a:t>
            </a:r>
          </a:p>
        </p:txBody>
      </p:sp>
      <p:sp>
        <p:nvSpPr>
          <p:cNvPr id="12" name="TextBox 11">
            <a:extLst>
              <a:ext uri="{FF2B5EF4-FFF2-40B4-BE49-F238E27FC236}">
                <a16:creationId xmlns:a16="http://schemas.microsoft.com/office/drawing/2014/main" id="{0B3A9626-B8D7-C1F6-F334-11F17EA2AA78}"/>
              </a:ext>
            </a:extLst>
          </p:cNvPr>
          <p:cNvSpPr txBox="1"/>
          <p:nvPr/>
        </p:nvSpPr>
        <p:spPr>
          <a:xfrm>
            <a:off x="656554" y="4015117"/>
            <a:ext cx="10698480" cy="646331"/>
          </a:xfrm>
          <a:prstGeom prst="rect">
            <a:avLst/>
          </a:prstGeom>
          <a:noFill/>
        </p:spPr>
        <p:txBody>
          <a:bodyPr wrap="square" rtlCol="0">
            <a:spAutoFit/>
          </a:bodyPr>
          <a:lstStyle/>
          <a:p>
            <a:r>
              <a:rPr lang="en-US" noProof="1"/>
              <a:t>Random Forest is a simpler ensemble method. It serves as a good benchmark to see if the complexity of XGBoost is necessary.</a:t>
            </a:r>
          </a:p>
        </p:txBody>
      </p:sp>
      <p:sp>
        <p:nvSpPr>
          <p:cNvPr id="13" name="TextBox 12">
            <a:extLst>
              <a:ext uri="{FF2B5EF4-FFF2-40B4-BE49-F238E27FC236}">
                <a16:creationId xmlns:a16="http://schemas.microsoft.com/office/drawing/2014/main" id="{1C1DF6A1-CF4B-7587-F64D-B840AFF2C48E}"/>
              </a:ext>
            </a:extLst>
          </p:cNvPr>
          <p:cNvSpPr txBox="1"/>
          <p:nvPr/>
        </p:nvSpPr>
        <p:spPr>
          <a:xfrm>
            <a:off x="656554" y="3637462"/>
            <a:ext cx="10698480" cy="369332"/>
          </a:xfrm>
          <a:prstGeom prst="rect">
            <a:avLst/>
          </a:prstGeom>
          <a:noFill/>
        </p:spPr>
        <p:txBody>
          <a:bodyPr wrap="square" rtlCol="0">
            <a:spAutoFit/>
          </a:bodyPr>
          <a:lstStyle/>
          <a:p>
            <a:r>
              <a:rPr lang="en-US" b="1" noProof="1"/>
              <a:t>Model 2: Random Forest (Baseline)</a:t>
            </a:r>
          </a:p>
        </p:txBody>
      </p:sp>
      <p:pic>
        <p:nvPicPr>
          <p:cNvPr id="9" name="Picture 8">
            <a:extLst>
              <a:ext uri="{FF2B5EF4-FFF2-40B4-BE49-F238E27FC236}">
                <a16:creationId xmlns:a16="http://schemas.microsoft.com/office/drawing/2014/main" id="{C8BAE600-F3C4-5FB4-90AC-567CA5B36FD0}"/>
              </a:ext>
            </a:extLst>
          </p:cNvPr>
          <p:cNvPicPr>
            <a:picLocks noChangeAspect="1"/>
          </p:cNvPicPr>
          <p:nvPr/>
        </p:nvPicPr>
        <p:blipFill>
          <a:blip r:embed="rId2"/>
          <a:stretch>
            <a:fillRect/>
          </a:stretch>
        </p:blipFill>
        <p:spPr>
          <a:xfrm>
            <a:off x="656554" y="2062156"/>
            <a:ext cx="10698480" cy="753698"/>
          </a:xfrm>
          <a:prstGeom prst="rect">
            <a:avLst/>
          </a:prstGeom>
        </p:spPr>
      </p:pic>
      <p:sp>
        <p:nvSpPr>
          <p:cNvPr id="11" name="TextBox 10">
            <a:extLst>
              <a:ext uri="{FF2B5EF4-FFF2-40B4-BE49-F238E27FC236}">
                <a16:creationId xmlns:a16="http://schemas.microsoft.com/office/drawing/2014/main" id="{7DEDCEA6-2750-C5B2-E82B-578D06E890A7}"/>
              </a:ext>
            </a:extLst>
          </p:cNvPr>
          <p:cNvSpPr txBox="1"/>
          <p:nvPr/>
        </p:nvSpPr>
        <p:spPr>
          <a:xfrm>
            <a:off x="656554" y="4908308"/>
            <a:ext cx="5439446" cy="1200329"/>
          </a:xfrm>
          <a:prstGeom prst="rect">
            <a:avLst/>
          </a:prstGeom>
          <a:noFill/>
          <a:ln>
            <a:solidFill>
              <a:schemeClr val="accent1"/>
            </a:solidFill>
          </a:ln>
        </p:spPr>
        <p:txBody>
          <a:bodyPr wrap="square" rtlCol="0">
            <a:spAutoFit/>
          </a:bodyPr>
          <a:lstStyle/>
          <a:p>
            <a:r>
              <a:rPr lang="en-US" i="1" noProof="1"/>
              <a:t>In trading, the exact price prediction matters less than the Direction (Up or Down). We calculate how often the model correctly predicts the sign of the next candle.</a:t>
            </a:r>
          </a:p>
        </p:txBody>
      </p:sp>
      <p:pic>
        <p:nvPicPr>
          <p:cNvPr id="15" name="Picture 14">
            <a:extLst>
              <a:ext uri="{FF2B5EF4-FFF2-40B4-BE49-F238E27FC236}">
                <a16:creationId xmlns:a16="http://schemas.microsoft.com/office/drawing/2014/main" id="{1A24BFC0-C7AA-C032-702D-6DBD245010C7}"/>
              </a:ext>
            </a:extLst>
          </p:cNvPr>
          <p:cNvPicPr>
            <a:picLocks noChangeAspect="1"/>
          </p:cNvPicPr>
          <p:nvPr/>
        </p:nvPicPr>
        <p:blipFill>
          <a:blip r:embed="rId3"/>
          <a:stretch>
            <a:fillRect/>
          </a:stretch>
        </p:blipFill>
        <p:spPr>
          <a:xfrm>
            <a:off x="6204062" y="4908307"/>
            <a:ext cx="5150972" cy="1200329"/>
          </a:xfrm>
          <a:prstGeom prst="rect">
            <a:avLst/>
          </a:prstGeom>
        </p:spPr>
      </p:pic>
    </p:spTree>
    <p:extLst>
      <p:ext uri="{BB962C8B-B14F-4D97-AF65-F5344CB8AC3E}">
        <p14:creationId xmlns:p14="http://schemas.microsoft.com/office/powerpoint/2010/main" val="2488344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9F46E-9523-2A72-0E36-84726071CCC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D359116-26DA-847A-57FB-C41C683C8E28}"/>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EC6A588-4855-AB4B-1D76-D185173AB742}"/>
              </a:ext>
            </a:extLst>
          </p:cNvPr>
          <p:cNvSpPr txBox="1"/>
          <p:nvPr/>
        </p:nvSpPr>
        <p:spPr>
          <a:xfrm>
            <a:off x="658368" y="336542"/>
            <a:ext cx="10140696" cy="461665"/>
          </a:xfrm>
          <a:prstGeom prst="rect">
            <a:avLst/>
          </a:prstGeom>
          <a:noFill/>
        </p:spPr>
        <p:txBody>
          <a:bodyPr wrap="square">
            <a:spAutoFit/>
          </a:bodyPr>
          <a:lstStyle/>
          <a:p>
            <a:r>
              <a:rPr lang="en-US" sz="2400" b="1" noProof="1"/>
              <a:t>MODEL BUILDING AND TRAINING</a:t>
            </a:r>
          </a:p>
        </p:txBody>
      </p:sp>
      <p:sp>
        <p:nvSpPr>
          <p:cNvPr id="2" name="TextBox 1">
            <a:extLst>
              <a:ext uri="{FF2B5EF4-FFF2-40B4-BE49-F238E27FC236}">
                <a16:creationId xmlns:a16="http://schemas.microsoft.com/office/drawing/2014/main" id="{461AB96A-0A91-A593-C363-1A6FB0F36569}"/>
              </a:ext>
            </a:extLst>
          </p:cNvPr>
          <p:cNvSpPr txBox="1"/>
          <p:nvPr/>
        </p:nvSpPr>
        <p:spPr>
          <a:xfrm>
            <a:off x="658368" y="975073"/>
            <a:ext cx="10698480" cy="369332"/>
          </a:xfrm>
          <a:prstGeom prst="rect">
            <a:avLst/>
          </a:prstGeom>
          <a:noFill/>
        </p:spPr>
        <p:txBody>
          <a:bodyPr wrap="square" rtlCol="0">
            <a:spAutoFit/>
          </a:bodyPr>
          <a:lstStyle/>
          <a:p>
            <a:r>
              <a:rPr lang="en-US" b="1" noProof="1"/>
              <a:t>Feature Importance</a:t>
            </a:r>
          </a:p>
        </p:txBody>
      </p:sp>
      <p:sp>
        <p:nvSpPr>
          <p:cNvPr id="8" name="TextBox 7">
            <a:extLst>
              <a:ext uri="{FF2B5EF4-FFF2-40B4-BE49-F238E27FC236}">
                <a16:creationId xmlns:a16="http://schemas.microsoft.com/office/drawing/2014/main" id="{33325452-52B9-7874-7288-BE186335B2EF}"/>
              </a:ext>
            </a:extLst>
          </p:cNvPr>
          <p:cNvSpPr txBox="1"/>
          <p:nvPr/>
        </p:nvSpPr>
        <p:spPr>
          <a:xfrm>
            <a:off x="656555" y="1349527"/>
            <a:ext cx="10698480" cy="369332"/>
          </a:xfrm>
          <a:prstGeom prst="rect">
            <a:avLst/>
          </a:prstGeom>
          <a:noFill/>
        </p:spPr>
        <p:txBody>
          <a:bodyPr wrap="square" rtlCol="0">
            <a:spAutoFit/>
          </a:bodyPr>
          <a:lstStyle/>
          <a:p>
            <a:r>
              <a:rPr lang="en-US" noProof="1"/>
              <a:t>Which "Alpha Factors" are actually driving the model's decisions?</a:t>
            </a:r>
            <a:endParaRPr lang="en-US" b="1" noProof="1"/>
          </a:p>
        </p:txBody>
      </p:sp>
      <p:pic>
        <p:nvPicPr>
          <p:cNvPr id="5" name="Picture 4">
            <a:extLst>
              <a:ext uri="{FF2B5EF4-FFF2-40B4-BE49-F238E27FC236}">
                <a16:creationId xmlns:a16="http://schemas.microsoft.com/office/drawing/2014/main" id="{0BB37624-293F-A271-EC6D-82038BAF2048}"/>
              </a:ext>
            </a:extLst>
          </p:cNvPr>
          <p:cNvPicPr>
            <a:picLocks noChangeAspect="1"/>
          </p:cNvPicPr>
          <p:nvPr/>
        </p:nvPicPr>
        <p:blipFill>
          <a:blip r:embed="rId2"/>
          <a:srcRect l="1146" t="990"/>
          <a:stretch>
            <a:fillRect/>
          </a:stretch>
        </p:blipFill>
        <p:spPr>
          <a:xfrm>
            <a:off x="6400801" y="1895725"/>
            <a:ext cx="4954234" cy="3139321"/>
          </a:xfrm>
          <a:prstGeom prst="rect">
            <a:avLst/>
          </a:prstGeom>
          <a:ln>
            <a:solidFill>
              <a:schemeClr val="accent1"/>
            </a:solidFill>
          </a:ln>
        </p:spPr>
      </p:pic>
      <p:sp>
        <p:nvSpPr>
          <p:cNvPr id="14" name="TextBox 13">
            <a:extLst>
              <a:ext uri="{FF2B5EF4-FFF2-40B4-BE49-F238E27FC236}">
                <a16:creationId xmlns:a16="http://schemas.microsoft.com/office/drawing/2014/main" id="{95DEA818-A65F-C9C5-5F34-B652E443FFB0}"/>
              </a:ext>
            </a:extLst>
          </p:cNvPr>
          <p:cNvSpPr txBox="1"/>
          <p:nvPr/>
        </p:nvSpPr>
        <p:spPr>
          <a:xfrm>
            <a:off x="656555" y="1895725"/>
            <a:ext cx="5634517" cy="3139321"/>
          </a:xfrm>
          <a:prstGeom prst="rect">
            <a:avLst/>
          </a:prstGeom>
          <a:noFill/>
        </p:spPr>
        <p:txBody>
          <a:bodyPr wrap="square" rtlCol="0">
            <a:spAutoFit/>
          </a:bodyPr>
          <a:lstStyle/>
          <a:p>
            <a:r>
              <a:rPr lang="en-US" b="1" noProof="1"/>
              <a:t>Directional Accuracy:</a:t>
            </a:r>
            <a:r>
              <a:rPr lang="en-US" noProof="1"/>
              <a:t> </a:t>
            </a:r>
          </a:p>
          <a:p>
            <a:r>
              <a:rPr lang="en-US" noProof="1"/>
              <a:t>For crypto hourly data, an accuracy between 51.5% and 54% is usually enough to build a profitable strategy after fees. If it's 50%, the model is essentially guessing.</a:t>
            </a:r>
          </a:p>
          <a:p>
            <a:r>
              <a:rPr lang="en-US" b="1" noProof="1"/>
              <a:t>XGBoost vs RF:</a:t>
            </a:r>
            <a:r>
              <a:rPr lang="en-US" noProof="1"/>
              <a:t> </a:t>
            </a:r>
          </a:p>
          <a:p>
            <a:r>
              <a:rPr lang="en-US" noProof="1"/>
              <a:t>Typically, XGBoost will have slightly lower accuracy but better "Mean Squared Error" on large moves.</a:t>
            </a:r>
          </a:p>
          <a:p>
            <a:r>
              <a:rPr lang="en-US" b="1" noProof="1"/>
              <a:t>Features: </a:t>
            </a:r>
          </a:p>
          <a:p>
            <a:r>
              <a:rPr lang="en-US" noProof="1"/>
              <a:t>Look at the importance plot. If hour is at the top, it means the model found a "time-of-day" bias in the crypto markets.</a:t>
            </a:r>
          </a:p>
        </p:txBody>
      </p:sp>
    </p:spTree>
    <p:extLst>
      <p:ext uri="{BB962C8B-B14F-4D97-AF65-F5344CB8AC3E}">
        <p14:creationId xmlns:p14="http://schemas.microsoft.com/office/powerpoint/2010/main" val="9860225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5E13-4618-4BAF-B464-5D09FB14594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FDD4F80-54AE-8C47-A5AA-0435045836F7}"/>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EC31D38-3F64-7DFD-2CD4-1ED41EB5660B}"/>
              </a:ext>
            </a:extLst>
          </p:cNvPr>
          <p:cNvSpPr txBox="1"/>
          <p:nvPr/>
        </p:nvSpPr>
        <p:spPr>
          <a:xfrm>
            <a:off x="658368" y="336542"/>
            <a:ext cx="10140696" cy="461665"/>
          </a:xfrm>
          <a:prstGeom prst="rect">
            <a:avLst/>
          </a:prstGeom>
          <a:noFill/>
        </p:spPr>
        <p:txBody>
          <a:bodyPr wrap="square">
            <a:spAutoFit/>
          </a:bodyPr>
          <a:lstStyle/>
          <a:p>
            <a:r>
              <a:rPr lang="en-US" sz="2400" b="1" noProof="1"/>
              <a:t>STRATEGY BACKTESTING &amp; PERFORMANCE ANALYSIS</a:t>
            </a:r>
          </a:p>
        </p:txBody>
      </p:sp>
      <p:sp>
        <p:nvSpPr>
          <p:cNvPr id="2" name="TextBox 1">
            <a:extLst>
              <a:ext uri="{FF2B5EF4-FFF2-40B4-BE49-F238E27FC236}">
                <a16:creationId xmlns:a16="http://schemas.microsoft.com/office/drawing/2014/main" id="{49F5B98F-8FE7-C0A4-CFFC-CA0D95244F24}"/>
              </a:ext>
            </a:extLst>
          </p:cNvPr>
          <p:cNvSpPr txBox="1"/>
          <p:nvPr/>
        </p:nvSpPr>
        <p:spPr>
          <a:xfrm>
            <a:off x="658368" y="975073"/>
            <a:ext cx="10698480" cy="369332"/>
          </a:xfrm>
          <a:prstGeom prst="rect">
            <a:avLst/>
          </a:prstGeom>
          <a:noFill/>
        </p:spPr>
        <p:txBody>
          <a:bodyPr wrap="square" rtlCol="0">
            <a:spAutoFit/>
          </a:bodyPr>
          <a:lstStyle/>
          <a:p>
            <a:r>
              <a:rPr lang="en-US" b="1" noProof="1"/>
              <a:t>Signal Logic &amp; Confidence Threshold</a:t>
            </a:r>
          </a:p>
        </p:txBody>
      </p:sp>
      <p:sp>
        <p:nvSpPr>
          <p:cNvPr id="8" name="TextBox 7">
            <a:extLst>
              <a:ext uri="{FF2B5EF4-FFF2-40B4-BE49-F238E27FC236}">
                <a16:creationId xmlns:a16="http://schemas.microsoft.com/office/drawing/2014/main" id="{CC2BE90A-8706-00A3-715F-C62A618BAB49}"/>
              </a:ext>
            </a:extLst>
          </p:cNvPr>
          <p:cNvSpPr txBox="1"/>
          <p:nvPr/>
        </p:nvSpPr>
        <p:spPr>
          <a:xfrm>
            <a:off x="656555" y="1349527"/>
            <a:ext cx="10698480" cy="646331"/>
          </a:xfrm>
          <a:prstGeom prst="rect">
            <a:avLst/>
          </a:prstGeom>
          <a:noFill/>
        </p:spPr>
        <p:txBody>
          <a:bodyPr wrap="square" rtlCol="0">
            <a:spAutoFit/>
          </a:bodyPr>
          <a:lstStyle/>
          <a:p>
            <a:r>
              <a:rPr lang="en-US" noProof="1"/>
              <a:t>In a professional strategy, we don't trade on every small prediction. We use a Threshold. If the model predicts a very small move, we stay in Cash to avoid losing money on exchange fees.</a:t>
            </a:r>
            <a:endParaRPr lang="en-US" b="1" noProof="1"/>
          </a:p>
        </p:txBody>
      </p:sp>
      <p:sp>
        <p:nvSpPr>
          <p:cNvPr id="4" name="TextBox 3">
            <a:extLst>
              <a:ext uri="{FF2B5EF4-FFF2-40B4-BE49-F238E27FC236}">
                <a16:creationId xmlns:a16="http://schemas.microsoft.com/office/drawing/2014/main" id="{21F0E0E9-1101-7670-6FF1-7857CDB42ACF}"/>
              </a:ext>
            </a:extLst>
          </p:cNvPr>
          <p:cNvSpPr txBox="1"/>
          <p:nvPr/>
        </p:nvSpPr>
        <p:spPr>
          <a:xfrm>
            <a:off x="656555" y="1995858"/>
            <a:ext cx="10698480" cy="369332"/>
          </a:xfrm>
          <a:prstGeom prst="rect">
            <a:avLst/>
          </a:prstGeom>
          <a:noFill/>
        </p:spPr>
        <p:txBody>
          <a:bodyPr wrap="square" rtlCol="0">
            <a:spAutoFit/>
          </a:bodyPr>
          <a:lstStyle/>
          <a:p>
            <a:r>
              <a:rPr lang="en-US" b="1" noProof="1"/>
              <a:t>Risk Metrics (Sharpe, Sortino, Drawdown)</a:t>
            </a:r>
          </a:p>
        </p:txBody>
      </p:sp>
      <p:sp>
        <p:nvSpPr>
          <p:cNvPr id="6" name="TextBox 5">
            <a:extLst>
              <a:ext uri="{FF2B5EF4-FFF2-40B4-BE49-F238E27FC236}">
                <a16:creationId xmlns:a16="http://schemas.microsoft.com/office/drawing/2014/main" id="{FE8FC98F-0E8A-D85E-DBD9-F5992F8F7651}"/>
              </a:ext>
            </a:extLst>
          </p:cNvPr>
          <p:cNvSpPr txBox="1"/>
          <p:nvPr/>
        </p:nvSpPr>
        <p:spPr>
          <a:xfrm>
            <a:off x="656555" y="2365190"/>
            <a:ext cx="10698480" cy="369332"/>
          </a:xfrm>
          <a:prstGeom prst="rect">
            <a:avLst/>
          </a:prstGeom>
          <a:noFill/>
        </p:spPr>
        <p:txBody>
          <a:bodyPr wrap="square" rtlCol="0">
            <a:spAutoFit/>
          </a:bodyPr>
          <a:lstStyle/>
          <a:p>
            <a:r>
              <a:rPr lang="en-US" noProof="1"/>
              <a:t>Following Jansen’s methodology, we evaluate the quality of the returns.</a:t>
            </a:r>
            <a:endParaRPr lang="en-US" b="1" noProof="1"/>
          </a:p>
        </p:txBody>
      </p:sp>
      <p:pic>
        <p:nvPicPr>
          <p:cNvPr id="10" name="Picture 9">
            <a:extLst>
              <a:ext uri="{FF2B5EF4-FFF2-40B4-BE49-F238E27FC236}">
                <a16:creationId xmlns:a16="http://schemas.microsoft.com/office/drawing/2014/main" id="{A171A42C-6B1F-A442-8A26-151AA98872B6}"/>
              </a:ext>
            </a:extLst>
          </p:cNvPr>
          <p:cNvPicPr>
            <a:picLocks noChangeAspect="1"/>
          </p:cNvPicPr>
          <p:nvPr/>
        </p:nvPicPr>
        <p:blipFill>
          <a:blip r:embed="rId2"/>
          <a:stretch>
            <a:fillRect/>
          </a:stretch>
        </p:blipFill>
        <p:spPr>
          <a:xfrm>
            <a:off x="2772154" y="3103854"/>
            <a:ext cx="6647691" cy="1541557"/>
          </a:xfrm>
          <a:prstGeom prst="rect">
            <a:avLst/>
          </a:prstGeom>
        </p:spPr>
      </p:pic>
    </p:spTree>
    <p:extLst>
      <p:ext uri="{BB962C8B-B14F-4D97-AF65-F5344CB8AC3E}">
        <p14:creationId xmlns:p14="http://schemas.microsoft.com/office/powerpoint/2010/main" val="604772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F6D7B-ACC9-9780-ADC5-1D2D562B806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45B6B73-EC21-6454-0CE9-3FDAE4141B0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1D4CBCC-E6CE-5BF4-F929-C75025A82827}"/>
              </a:ext>
            </a:extLst>
          </p:cNvPr>
          <p:cNvSpPr txBox="1"/>
          <p:nvPr/>
        </p:nvSpPr>
        <p:spPr>
          <a:xfrm>
            <a:off x="658368" y="336542"/>
            <a:ext cx="10140696" cy="461665"/>
          </a:xfrm>
          <a:prstGeom prst="rect">
            <a:avLst/>
          </a:prstGeom>
          <a:noFill/>
        </p:spPr>
        <p:txBody>
          <a:bodyPr wrap="square">
            <a:spAutoFit/>
          </a:bodyPr>
          <a:lstStyle/>
          <a:p>
            <a:r>
              <a:rPr lang="en-US" sz="2400" b="1" noProof="1"/>
              <a:t>STRATEGY BACKTESTING &amp; PERFORMANCE ANALYSIS</a:t>
            </a:r>
          </a:p>
        </p:txBody>
      </p:sp>
      <p:sp>
        <p:nvSpPr>
          <p:cNvPr id="2" name="TextBox 1">
            <a:extLst>
              <a:ext uri="{FF2B5EF4-FFF2-40B4-BE49-F238E27FC236}">
                <a16:creationId xmlns:a16="http://schemas.microsoft.com/office/drawing/2014/main" id="{D833645B-A4D0-0535-2A2C-B7FFF3957775}"/>
              </a:ext>
            </a:extLst>
          </p:cNvPr>
          <p:cNvSpPr txBox="1"/>
          <p:nvPr/>
        </p:nvSpPr>
        <p:spPr>
          <a:xfrm>
            <a:off x="658368" y="975073"/>
            <a:ext cx="10698480" cy="369332"/>
          </a:xfrm>
          <a:prstGeom prst="rect">
            <a:avLst/>
          </a:prstGeom>
          <a:noFill/>
        </p:spPr>
        <p:txBody>
          <a:bodyPr wrap="square" rtlCol="0">
            <a:spAutoFit/>
          </a:bodyPr>
          <a:lstStyle/>
          <a:p>
            <a:r>
              <a:rPr lang="en-US" b="1" noProof="1"/>
              <a:t>Visual Performance Discussion</a:t>
            </a:r>
          </a:p>
        </p:txBody>
      </p:sp>
      <p:pic>
        <p:nvPicPr>
          <p:cNvPr id="9" name="Picture 8">
            <a:extLst>
              <a:ext uri="{FF2B5EF4-FFF2-40B4-BE49-F238E27FC236}">
                <a16:creationId xmlns:a16="http://schemas.microsoft.com/office/drawing/2014/main" id="{9D72AA16-5EAE-0FFB-D85B-17B736AAFB78}"/>
              </a:ext>
            </a:extLst>
          </p:cNvPr>
          <p:cNvPicPr>
            <a:picLocks noChangeAspect="1"/>
          </p:cNvPicPr>
          <p:nvPr/>
        </p:nvPicPr>
        <p:blipFill>
          <a:blip r:embed="rId2"/>
          <a:stretch>
            <a:fillRect/>
          </a:stretch>
        </p:blipFill>
        <p:spPr>
          <a:xfrm>
            <a:off x="655320" y="1524000"/>
            <a:ext cx="10698480" cy="2830252"/>
          </a:xfrm>
          <a:prstGeom prst="rect">
            <a:avLst/>
          </a:prstGeom>
        </p:spPr>
      </p:pic>
      <p:sp>
        <p:nvSpPr>
          <p:cNvPr id="11" name="TextBox 10">
            <a:extLst>
              <a:ext uri="{FF2B5EF4-FFF2-40B4-BE49-F238E27FC236}">
                <a16:creationId xmlns:a16="http://schemas.microsoft.com/office/drawing/2014/main" id="{9384FF2A-97DA-2369-D9AA-612754036ABF}"/>
              </a:ext>
            </a:extLst>
          </p:cNvPr>
          <p:cNvSpPr txBox="1"/>
          <p:nvPr/>
        </p:nvSpPr>
        <p:spPr>
          <a:xfrm>
            <a:off x="655320" y="4533848"/>
            <a:ext cx="10698480" cy="1754326"/>
          </a:xfrm>
          <a:prstGeom prst="rect">
            <a:avLst/>
          </a:prstGeom>
          <a:noFill/>
        </p:spPr>
        <p:txBody>
          <a:bodyPr wrap="square" rtlCol="0">
            <a:spAutoFit/>
          </a:bodyPr>
          <a:lstStyle/>
          <a:p>
            <a:r>
              <a:rPr lang="en-US" b="1" noProof="1"/>
              <a:t>Fees are the Enemy:</a:t>
            </a:r>
            <a:r>
              <a:rPr lang="en-US" noProof="1"/>
              <a:t> If your strategy makes money without fees but loses with fees, you must increase the threshold or add better Alpha factors.</a:t>
            </a:r>
          </a:p>
          <a:p>
            <a:r>
              <a:rPr lang="en-US" b="1" noProof="1"/>
              <a:t>Volatility Dampening:</a:t>
            </a:r>
            <a:r>
              <a:rPr lang="en-US" noProof="1"/>
              <a:t> An ideal ML strategy might not make more than BTC, but it should have a lower Drawdown. If BTC crashes 50% but your strategy only drops 10%, you have a winner.</a:t>
            </a:r>
          </a:p>
          <a:p>
            <a:r>
              <a:rPr lang="en-US" b="1" noProof="1"/>
              <a:t>Alpha Decay:</a:t>
            </a:r>
            <a:r>
              <a:rPr lang="en-US" noProof="1"/>
              <a:t> If the strategy performs well at the start of the test but poorly at the end, the model needs retraining (it is "decaying").</a:t>
            </a:r>
          </a:p>
        </p:txBody>
      </p:sp>
    </p:spTree>
    <p:extLst>
      <p:ext uri="{BB962C8B-B14F-4D97-AF65-F5344CB8AC3E}">
        <p14:creationId xmlns:p14="http://schemas.microsoft.com/office/powerpoint/2010/main" val="1571842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88D16B-801B-C40C-E75A-5D6127B107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50808" y="399487"/>
            <a:ext cx="2676778" cy="1047060"/>
          </a:xfrm>
          <a:prstGeom prst="rect">
            <a:avLst/>
          </a:prstGeom>
        </p:spPr>
      </p:pic>
      <p:pic>
        <p:nvPicPr>
          <p:cNvPr id="7" name="Picture 6">
            <a:extLst>
              <a:ext uri="{FF2B5EF4-FFF2-40B4-BE49-F238E27FC236}">
                <a16:creationId xmlns:a16="http://schemas.microsoft.com/office/drawing/2014/main" id="{5C51F6AA-2C06-7656-49FA-3FDC00A24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118" y="162270"/>
            <a:ext cx="1516608" cy="1521494"/>
          </a:xfrm>
          <a:prstGeom prst="rect">
            <a:avLst/>
          </a:prstGeom>
        </p:spPr>
      </p:pic>
      <p:cxnSp>
        <p:nvCxnSpPr>
          <p:cNvPr id="9" name="Straight Connector 8">
            <a:extLst>
              <a:ext uri="{FF2B5EF4-FFF2-40B4-BE49-F238E27FC236}">
                <a16:creationId xmlns:a16="http://schemas.microsoft.com/office/drawing/2014/main" id="{D19D18C1-BFB6-2A2F-8DE5-8F4115BB8692}"/>
              </a:ext>
            </a:extLst>
          </p:cNvPr>
          <p:cNvCxnSpPr>
            <a:cxnSpLocks/>
          </p:cNvCxnSpPr>
          <p:nvPr/>
        </p:nvCxnSpPr>
        <p:spPr>
          <a:xfrm>
            <a:off x="749808" y="1847088"/>
            <a:ext cx="10677778"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3" name="Text Box 1">
            <a:extLst>
              <a:ext uri="{FF2B5EF4-FFF2-40B4-BE49-F238E27FC236}">
                <a16:creationId xmlns:a16="http://schemas.microsoft.com/office/drawing/2014/main" id="{D60746E6-15F9-BE24-207D-5ECD393FDAAC}"/>
              </a:ext>
            </a:extLst>
          </p:cNvPr>
          <p:cNvSpPr txBox="1"/>
          <p:nvPr/>
        </p:nvSpPr>
        <p:spPr>
          <a:xfrm>
            <a:off x="3594913" y="331806"/>
            <a:ext cx="3759708" cy="118242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Université Chouaib Doukkali</a:t>
            </a:r>
          </a:p>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Faculté des Sciences d'el Jadida</a:t>
            </a:r>
          </a:p>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Master 2IAD</a:t>
            </a:r>
          </a:p>
        </p:txBody>
      </p:sp>
      <p:sp>
        <p:nvSpPr>
          <p:cNvPr id="15" name="TextBox 14">
            <a:extLst>
              <a:ext uri="{FF2B5EF4-FFF2-40B4-BE49-F238E27FC236}">
                <a16:creationId xmlns:a16="http://schemas.microsoft.com/office/drawing/2014/main" id="{5BF6366B-DFAD-5AAD-15AD-AC61FA41F187}"/>
              </a:ext>
            </a:extLst>
          </p:cNvPr>
          <p:cNvSpPr txBox="1"/>
          <p:nvPr/>
        </p:nvSpPr>
        <p:spPr>
          <a:xfrm>
            <a:off x="1561560" y="2546364"/>
            <a:ext cx="9054274" cy="461665"/>
          </a:xfrm>
          <a:prstGeom prst="rect">
            <a:avLst/>
          </a:prstGeom>
          <a:noFill/>
        </p:spPr>
        <p:txBody>
          <a:bodyPr wrap="none" rtlCol="0">
            <a:spAutoFit/>
          </a:bodyPr>
          <a:lstStyle/>
          <a:p>
            <a:r>
              <a:rPr lang="en-US" sz="2400" b="1" noProof="1"/>
              <a:t>Système de Trading Algorithmique basé sur le Machine Learning</a:t>
            </a:r>
            <a:endParaRPr lang="en-US" sz="4000" b="1" noProof="1"/>
          </a:p>
        </p:txBody>
      </p:sp>
      <p:sp>
        <p:nvSpPr>
          <p:cNvPr id="24" name="TextBox 23">
            <a:extLst>
              <a:ext uri="{FF2B5EF4-FFF2-40B4-BE49-F238E27FC236}">
                <a16:creationId xmlns:a16="http://schemas.microsoft.com/office/drawing/2014/main" id="{0D785A49-71CC-9D65-4967-7CB76441E5AB}"/>
              </a:ext>
            </a:extLst>
          </p:cNvPr>
          <p:cNvSpPr txBox="1"/>
          <p:nvPr/>
        </p:nvSpPr>
        <p:spPr>
          <a:xfrm>
            <a:off x="5376002" y="2038222"/>
            <a:ext cx="1229696" cy="461665"/>
          </a:xfrm>
          <a:prstGeom prst="rect">
            <a:avLst/>
          </a:prstGeom>
          <a:noFill/>
        </p:spPr>
        <p:txBody>
          <a:bodyPr wrap="none" rtlCol="0">
            <a:spAutoFit/>
          </a:bodyPr>
          <a:lstStyle/>
          <a:p>
            <a:r>
              <a:rPr lang="en-US" sz="2400" b="1" i="1" noProof="1">
                <a:solidFill>
                  <a:schemeClr val="bg1">
                    <a:lumMod val="50000"/>
                  </a:schemeClr>
                </a:solidFill>
              </a:rPr>
              <a:t>PROJET</a:t>
            </a:r>
          </a:p>
        </p:txBody>
      </p:sp>
      <p:pic>
        <p:nvPicPr>
          <p:cNvPr id="27" name="Picture 26">
            <a:extLst>
              <a:ext uri="{FF2B5EF4-FFF2-40B4-BE49-F238E27FC236}">
                <a16:creationId xmlns:a16="http://schemas.microsoft.com/office/drawing/2014/main" id="{6D49E9D2-C130-4ADD-081F-95241819E72F}"/>
              </a:ext>
            </a:extLst>
          </p:cNvPr>
          <p:cNvPicPr>
            <a:picLocks noChangeAspect="1"/>
          </p:cNvPicPr>
          <p:nvPr/>
        </p:nvPicPr>
        <p:blipFill>
          <a:blip r:embed="rId5">
            <a:extLst>
              <a:ext uri="{28A0092B-C50C-407E-A947-70E740481C1C}">
                <a14:useLocalDpi xmlns:a14="http://schemas.microsoft.com/office/drawing/2010/main" val="0"/>
              </a:ext>
            </a:extLst>
          </a:blip>
          <a:srcRect t="12400" b="3600"/>
          <a:stretch>
            <a:fillRect/>
          </a:stretch>
        </p:blipFill>
        <p:spPr>
          <a:xfrm>
            <a:off x="6655328" y="3460168"/>
            <a:ext cx="4190960" cy="2346936"/>
          </a:xfrm>
          <a:prstGeom prst="rect">
            <a:avLst/>
          </a:prstGeom>
        </p:spPr>
      </p:pic>
      <p:grpSp>
        <p:nvGrpSpPr>
          <p:cNvPr id="30" name="Group 29">
            <a:extLst>
              <a:ext uri="{FF2B5EF4-FFF2-40B4-BE49-F238E27FC236}">
                <a16:creationId xmlns:a16="http://schemas.microsoft.com/office/drawing/2014/main" id="{858604CE-5E87-4F0C-7833-E2FAC8AEC8C0}"/>
              </a:ext>
            </a:extLst>
          </p:cNvPr>
          <p:cNvGrpSpPr/>
          <p:nvPr/>
        </p:nvGrpSpPr>
        <p:grpSpPr>
          <a:xfrm>
            <a:off x="1869542" y="3568805"/>
            <a:ext cx="2203232" cy="2129662"/>
            <a:chOff x="2208974" y="3477840"/>
            <a:chExt cx="2203232" cy="2129662"/>
          </a:xfrm>
        </p:grpSpPr>
        <p:sp>
          <p:nvSpPr>
            <p:cNvPr id="19" name="TextBox 18">
              <a:extLst>
                <a:ext uri="{FF2B5EF4-FFF2-40B4-BE49-F238E27FC236}">
                  <a16:creationId xmlns:a16="http://schemas.microsoft.com/office/drawing/2014/main" id="{1F832BB2-855C-3688-9742-9F4DB324D8CE}"/>
                </a:ext>
              </a:extLst>
            </p:cNvPr>
            <p:cNvSpPr txBox="1"/>
            <p:nvPr/>
          </p:nvSpPr>
          <p:spPr>
            <a:xfrm>
              <a:off x="2208974" y="3972283"/>
              <a:ext cx="2203232" cy="646331"/>
            </a:xfrm>
            <a:prstGeom prst="rect">
              <a:avLst/>
            </a:prstGeom>
            <a:noFill/>
          </p:spPr>
          <p:txBody>
            <a:bodyPr wrap="none" rtlCol="0">
              <a:spAutoFit/>
            </a:bodyPr>
            <a:lstStyle/>
            <a:p>
              <a:r>
                <a:rPr lang="en-US" noProof="1"/>
                <a:t>Hassan EL AZZOUZI </a:t>
              </a:r>
            </a:p>
            <a:p>
              <a:r>
                <a:rPr lang="en-US" noProof="1"/>
                <a:t>Yassine CHOUAYT</a:t>
              </a:r>
            </a:p>
          </p:txBody>
        </p:sp>
        <p:sp>
          <p:nvSpPr>
            <p:cNvPr id="20" name="TextBox 19">
              <a:extLst>
                <a:ext uri="{FF2B5EF4-FFF2-40B4-BE49-F238E27FC236}">
                  <a16:creationId xmlns:a16="http://schemas.microsoft.com/office/drawing/2014/main" id="{A5AAB357-A61D-3D9C-E4F3-DB761BEB4618}"/>
                </a:ext>
              </a:extLst>
            </p:cNvPr>
            <p:cNvSpPr txBox="1"/>
            <p:nvPr/>
          </p:nvSpPr>
          <p:spPr>
            <a:xfrm>
              <a:off x="2208974" y="5238170"/>
              <a:ext cx="2009974" cy="369332"/>
            </a:xfrm>
            <a:prstGeom prst="rect">
              <a:avLst/>
            </a:prstGeom>
            <a:noFill/>
          </p:spPr>
          <p:txBody>
            <a:bodyPr wrap="none" rtlCol="0">
              <a:spAutoFit/>
            </a:bodyPr>
            <a:lstStyle/>
            <a:p>
              <a:r>
                <a:rPr lang="en-US" noProof="1"/>
                <a:t>Pr. A. BENIHSAINE</a:t>
              </a:r>
            </a:p>
          </p:txBody>
        </p:sp>
        <p:sp>
          <p:nvSpPr>
            <p:cNvPr id="28" name="Rectangle: Diagonal Corners Rounded 27">
              <a:extLst>
                <a:ext uri="{FF2B5EF4-FFF2-40B4-BE49-F238E27FC236}">
                  <a16:creationId xmlns:a16="http://schemas.microsoft.com/office/drawing/2014/main" id="{3B1C847E-BAC6-50F8-0CE1-F9C84481B377}"/>
                </a:ext>
              </a:extLst>
            </p:cNvPr>
            <p:cNvSpPr/>
            <p:nvPr/>
          </p:nvSpPr>
          <p:spPr>
            <a:xfrm>
              <a:off x="2208974" y="3477840"/>
              <a:ext cx="2121408" cy="369331"/>
            </a:xfrm>
            <a:prstGeom prst="round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1">
                  <a:solidFill>
                    <a:schemeClr val="tx2">
                      <a:lumMod val="10000"/>
                      <a:lumOff val="90000"/>
                    </a:schemeClr>
                  </a:solidFill>
                </a:rPr>
                <a:t>Réalisé par:</a:t>
              </a:r>
            </a:p>
          </p:txBody>
        </p:sp>
        <p:sp>
          <p:nvSpPr>
            <p:cNvPr id="29" name="Rectangle: Diagonal Corners Rounded 28">
              <a:extLst>
                <a:ext uri="{FF2B5EF4-FFF2-40B4-BE49-F238E27FC236}">
                  <a16:creationId xmlns:a16="http://schemas.microsoft.com/office/drawing/2014/main" id="{2B49F36B-682A-83CC-B86F-B696ED0B871B}"/>
                </a:ext>
              </a:extLst>
            </p:cNvPr>
            <p:cNvSpPr/>
            <p:nvPr/>
          </p:nvSpPr>
          <p:spPr>
            <a:xfrm>
              <a:off x="2208974" y="4743726"/>
              <a:ext cx="2121408" cy="369331"/>
            </a:xfrm>
            <a:prstGeom prst="round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1">
                  <a:solidFill>
                    <a:schemeClr val="tx2">
                      <a:lumMod val="10000"/>
                      <a:lumOff val="90000"/>
                    </a:schemeClr>
                  </a:solidFill>
                </a:rPr>
                <a:t>Encadré par:</a:t>
              </a:r>
            </a:p>
          </p:txBody>
        </p:sp>
      </p:grpSp>
      <p:sp>
        <p:nvSpPr>
          <p:cNvPr id="22" name="TextBox 21">
            <a:extLst>
              <a:ext uri="{FF2B5EF4-FFF2-40B4-BE49-F238E27FC236}">
                <a16:creationId xmlns:a16="http://schemas.microsoft.com/office/drawing/2014/main" id="{2AC9B272-9BB2-2B01-6A46-6FAD26BA5050}"/>
              </a:ext>
            </a:extLst>
          </p:cNvPr>
          <p:cNvSpPr txBox="1"/>
          <p:nvPr/>
        </p:nvSpPr>
        <p:spPr>
          <a:xfrm>
            <a:off x="4681036" y="6094526"/>
            <a:ext cx="2815322" cy="369332"/>
          </a:xfrm>
          <a:prstGeom prst="rect">
            <a:avLst/>
          </a:prstGeom>
          <a:noFill/>
        </p:spPr>
        <p:txBody>
          <a:bodyPr wrap="none" rtlCol="0">
            <a:spAutoFit/>
          </a:bodyPr>
          <a:lstStyle/>
          <a:p>
            <a:r>
              <a:rPr lang="en-US" i="1" noProof="1"/>
              <a:t>MASTER 2IAD  - 2025/2026</a:t>
            </a:r>
          </a:p>
        </p:txBody>
      </p:sp>
      <p:cxnSp>
        <p:nvCxnSpPr>
          <p:cNvPr id="32" name="Straight Connector 31">
            <a:extLst>
              <a:ext uri="{FF2B5EF4-FFF2-40B4-BE49-F238E27FC236}">
                <a16:creationId xmlns:a16="http://schemas.microsoft.com/office/drawing/2014/main" id="{23CB1AE0-CD91-F4B7-8DE9-FCAD974CC2CF}"/>
              </a:ext>
            </a:extLst>
          </p:cNvPr>
          <p:cNvCxnSpPr>
            <a:cxnSpLocks/>
          </p:cNvCxnSpPr>
          <p:nvPr/>
        </p:nvCxnSpPr>
        <p:spPr>
          <a:xfrm>
            <a:off x="5594921" y="3568805"/>
            <a:ext cx="0" cy="2129662"/>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AA23693-CB59-2EDA-FC9E-3DC036F6007C}"/>
              </a:ext>
            </a:extLst>
          </p:cNvPr>
          <p:cNvSpPr txBox="1"/>
          <p:nvPr/>
        </p:nvSpPr>
        <p:spPr>
          <a:xfrm>
            <a:off x="3811984" y="2981640"/>
            <a:ext cx="4636013" cy="369332"/>
          </a:xfrm>
          <a:prstGeom prst="rect">
            <a:avLst/>
          </a:prstGeom>
          <a:noFill/>
        </p:spPr>
        <p:txBody>
          <a:bodyPr wrap="none" rtlCol="0">
            <a:spAutoFit/>
          </a:bodyPr>
          <a:lstStyle/>
          <a:p>
            <a:r>
              <a:rPr lang="en-US" noProof="1"/>
              <a:t>Stratégie d’expérimentation en crypto trading</a:t>
            </a:r>
            <a:endParaRPr lang="en-US" sz="2400" b="1" noProof="1"/>
          </a:p>
        </p:txBody>
      </p:sp>
      <p:sp>
        <p:nvSpPr>
          <p:cNvPr id="3" name="TextBox 2">
            <a:extLst>
              <a:ext uri="{FF2B5EF4-FFF2-40B4-BE49-F238E27FC236}">
                <a16:creationId xmlns:a16="http://schemas.microsoft.com/office/drawing/2014/main" id="{A513CE90-4B96-D104-B3AB-A90AD78A26C1}"/>
              </a:ext>
            </a:extLst>
          </p:cNvPr>
          <p:cNvSpPr txBox="1"/>
          <p:nvPr/>
        </p:nvSpPr>
        <p:spPr>
          <a:xfrm>
            <a:off x="153899" y="6326398"/>
            <a:ext cx="891654" cy="369332"/>
          </a:xfrm>
          <a:prstGeom prst="rect">
            <a:avLst/>
          </a:prstGeom>
          <a:noFill/>
        </p:spPr>
        <p:txBody>
          <a:bodyPr wrap="none" rtlCol="0">
            <a:spAutoFit/>
          </a:bodyPr>
          <a:lstStyle/>
          <a:p>
            <a:r>
              <a:rPr lang="en-US" b="1" i="1" noProof="1">
                <a:solidFill>
                  <a:srgbClr val="FF0000"/>
                </a:solidFill>
              </a:rPr>
              <a:t>PART 3</a:t>
            </a:r>
          </a:p>
        </p:txBody>
      </p:sp>
    </p:spTree>
    <p:extLst>
      <p:ext uri="{BB962C8B-B14F-4D97-AF65-F5344CB8AC3E}">
        <p14:creationId xmlns:p14="http://schemas.microsoft.com/office/powerpoint/2010/main" val="39786756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C3A61-F6B7-A2EE-88DC-8697502D596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0B60450-3102-E5CE-9FE9-B6BFFD4E644D}"/>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606701B-A047-24A2-93C0-C26BD6EF96F2}"/>
              </a:ext>
            </a:extLst>
          </p:cNvPr>
          <p:cNvSpPr txBox="1"/>
          <p:nvPr/>
        </p:nvSpPr>
        <p:spPr>
          <a:xfrm>
            <a:off x="658368" y="336542"/>
            <a:ext cx="10140696" cy="461665"/>
          </a:xfrm>
          <a:prstGeom prst="rect">
            <a:avLst/>
          </a:prstGeom>
          <a:noFill/>
        </p:spPr>
        <p:txBody>
          <a:bodyPr wrap="square">
            <a:spAutoFit/>
          </a:bodyPr>
          <a:lstStyle/>
          <a:p>
            <a:r>
              <a:rPr lang="en-US" sz="2400" b="1" noProof="1"/>
              <a:t>INTRODUCTION ET OBJECTIFS</a:t>
            </a:r>
          </a:p>
        </p:txBody>
      </p:sp>
      <p:sp>
        <p:nvSpPr>
          <p:cNvPr id="2" name="TextBox 1">
            <a:extLst>
              <a:ext uri="{FF2B5EF4-FFF2-40B4-BE49-F238E27FC236}">
                <a16:creationId xmlns:a16="http://schemas.microsoft.com/office/drawing/2014/main" id="{D9DFCD49-C37A-3C92-6359-DAA86124ACA3}"/>
              </a:ext>
            </a:extLst>
          </p:cNvPr>
          <p:cNvSpPr txBox="1"/>
          <p:nvPr/>
        </p:nvSpPr>
        <p:spPr>
          <a:xfrm>
            <a:off x="658368" y="975073"/>
            <a:ext cx="10698480" cy="369332"/>
          </a:xfrm>
          <a:prstGeom prst="rect">
            <a:avLst/>
          </a:prstGeom>
          <a:noFill/>
        </p:spPr>
        <p:txBody>
          <a:bodyPr wrap="square" rtlCol="0">
            <a:spAutoFit/>
          </a:bodyPr>
          <a:lstStyle/>
          <a:p>
            <a:r>
              <a:rPr lang="en-US" b="1" noProof="1"/>
              <a:t>2iad-ML4T – Terminal de Trading Algorithmique Propulsé par l'IA</a:t>
            </a:r>
          </a:p>
        </p:txBody>
      </p:sp>
      <p:sp>
        <p:nvSpPr>
          <p:cNvPr id="4" name="TextBox 3">
            <a:extLst>
              <a:ext uri="{FF2B5EF4-FFF2-40B4-BE49-F238E27FC236}">
                <a16:creationId xmlns:a16="http://schemas.microsoft.com/office/drawing/2014/main" id="{1F720570-9486-E577-0F6D-AD50016CCE1A}"/>
              </a:ext>
            </a:extLst>
          </p:cNvPr>
          <p:cNvSpPr txBox="1"/>
          <p:nvPr/>
        </p:nvSpPr>
        <p:spPr>
          <a:xfrm>
            <a:off x="658368" y="2360068"/>
            <a:ext cx="10698480" cy="1754326"/>
          </a:xfrm>
          <a:prstGeom prst="rect">
            <a:avLst/>
          </a:prstGeom>
          <a:noFill/>
        </p:spPr>
        <p:txBody>
          <a:bodyPr wrap="square" rtlCol="0">
            <a:spAutoFit/>
          </a:bodyPr>
          <a:lstStyle/>
          <a:p>
            <a:pPr marL="285750" indent="-285750" algn="just">
              <a:buFont typeface="Wingdings" panose="05000000000000000000" pitchFamily="2" charset="2"/>
              <a:buChar char="§"/>
            </a:pPr>
            <a:r>
              <a:rPr lang="en-US" noProof="1"/>
              <a:t>Développer un pipeline de données robuste capable de consommer des flux en direct (WebSockets).</a:t>
            </a:r>
          </a:p>
          <a:p>
            <a:pPr marL="285750" indent="-285750" algn="just">
              <a:buFont typeface="Wingdings" panose="05000000000000000000" pitchFamily="2" charset="2"/>
              <a:buChar char="§"/>
            </a:pPr>
            <a:r>
              <a:rPr lang="en-US" noProof="1"/>
              <a:t>Utiliser le Machine Learning (XGBoost) pour transformer des données brutes en signaux d'achat/vente exploitables.</a:t>
            </a:r>
          </a:p>
          <a:p>
            <a:pPr marL="285750" indent="-285750" algn="just">
              <a:buFont typeface="Wingdings" panose="05000000000000000000" pitchFamily="2" charset="2"/>
              <a:buChar char="§"/>
            </a:pPr>
            <a:r>
              <a:rPr lang="en-US" noProof="1"/>
              <a:t>Fournir une interface utilisateur (UI) de qualité professionnelle pour visualiser la convergence entre analyse technique et prédictions algorithmiques.</a:t>
            </a:r>
          </a:p>
          <a:p>
            <a:pPr marL="285750" indent="-285750" algn="just">
              <a:buFont typeface="Wingdings" panose="05000000000000000000" pitchFamily="2" charset="2"/>
              <a:buChar char="§"/>
            </a:pPr>
            <a:r>
              <a:rPr lang="en-US" noProof="1"/>
              <a:t>Automatiser la prise de décision avec une gestion de confiance (Confidence Score).</a:t>
            </a:r>
          </a:p>
        </p:txBody>
      </p:sp>
      <p:sp>
        <p:nvSpPr>
          <p:cNvPr id="5" name="TextBox 4">
            <a:extLst>
              <a:ext uri="{FF2B5EF4-FFF2-40B4-BE49-F238E27FC236}">
                <a16:creationId xmlns:a16="http://schemas.microsoft.com/office/drawing/2014/main" id="{5A9B14E1-C5C7-E2C2-6CCA-788E42ED1853}"/>
              </a:ext>
            </a:extLst>
          </p:cNvPr>
          <p:cNvSpPr txBox="1"/>
          <p:nvPr/>
        </p:nvSpPr>
        <p:spPr>
          <a:xfrm>
            <a:off x="658368" y="1990736"/>
            <a:ext cx="10698480" cy="369332"/>
          </a:xfrm>
          <a:prstGeom prst="rect">
            <a:avLst/>
          </a:prstGeom>
          <a:noFill/>
        </p:spPr>
        <p:txBody>
          <a:bodyPr wrap="square" rtlCol="0">
            <a:spAutoFit/>
          </a:bodyPr>
          <a:lstStyle/>
          <a:p>
            <a:r>
              <a:rPr lang="en-US" b="1" noProof="1"/>
              <a:t>Objectifs principaux :</a:t>
            </a:r>
          </a:p>
        </p:txBody>
      </p:sp>
      <p:sp>
        <p:nvSpPr>
          <p:cNvPr id="6" name="TextBox 5">
            <a:extLst>
              <a:ext uri="{FF2B5EF4-FFF2-40B4-BE49-F238E27FC236}">
                <a16:creationId xmlns:a16="http://schemas.microsoft.com/office/drawing/2014/main" id="{C62A7F1C-5EDD-20F4-B962-84494987C20C}"/>
              </a:ext>
            </a:extLst>
          </p:cNvPr>
          <p:cNvSpPr txBox="1"/>
          <p:nvPr/>
        </p:nvSpPr>
        <p:spPr>
          <a:xfrm>
            <a:off x="658368" y="1344405"/>
            <a:ext cx="10698480" cy="646331"/>
          </a:xfrm>
          <a:prstGeom prst="rect">
            <a:avLst/>
          </a:prstGeom>
          <a:noFill/>
        </p:spPr>
        <p:txBody>
          <a:bodyPr wrap="square" rtlCol="0">
            <a:spAutoFit/>
          </a:bodyPr>
          <a:lstStyle/>
          <a:p>
            <a:pPr algn="just"/>
            <a:r>
              <a:rPr lang="en-US" noProof="1"/>
              <a:t>Est une plateforme de trading expérimentale conçue pour analyser et prédire les mouvements de prix des crypto-monnaies en temps réel.</a:t>
            </a:r>
            <a:endParaRPr lang="en-US" b="1" noProof="1"/>
          </a:p>
        </p:txBody>
      </p:sp>
    </p:spTree>
    <p:extLst>
      <p:ext uri="{BB962C8B-B14F-4D97-AF65-F5344CB8AC3E}">
        <p14:creationId xmlns:p14="http://schemas.microsoft.com/office/powerpoint/2010/main" val="2293241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A307C-4D09-7BE2-BC60-D59BE5F53EFD}"/>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1E3D6FB-AADC-5B04-6E73-74E06845D23E}"/>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C7CA28A-EA73-B2BF-41E5-B1B476B317E1}"/>
              </a:ext>
            </a:extLst>
          </p:cNvPr>
          <p:cNvSpPr txBox="1"/>
          <p:nvPr/>
        </p:nvSpPr>
        <p:spPr>
          <a:xfrm>
            <a:off x="658368" y="336542"/>
            <a:ext cx="10140696" cy="461665"/>
          </a:xfrm>
          <a:prstGeom prst="rect">
            <a:avLst/>
          </a:prstGeom>
          <a:noFill/>
        </p:spPr>
        <p:txBody>
          <a:bodyPr wrap="square">
            <a:spAutoFit/>
          </a:bodyPr>
          <a:lstStyle/>
          <a:p>
            <a:r>
              <a:rPr lang="en-US" sz="2400" b="1" noProof="1"/>
              <a:t>ARCHITECTURE DU PROJET</a:t>
            </a:r>
          </a:p>
        </p:txBody>
      </p:sp>
      <p:sp>
        <p:nvSpPr>
          <p:cNvPr id="2" name="TextBox 1">
            <a:extLst>
              <a:ext uri="{FF2B5EF4-FFF2-40B4-BE49-F238E27FC236}">
                <a16:creationId xmlns:a16="http://schemas.microsoft.com/office/drawing/2014/main" id="{B862E00C-3EE9-92D1-715C-3E0328FA2865}"/>
              </a:ext>
            </a:extLst>
          </p:cNvPr>
          <p:cNvSpPr txBox="1"/>
          <p:nvPr/>
        </p:nvSpPr>
        <p:spPr>
          <a:xfrm>
            <a:off x="658368" y="975073"/>
            <a:ext cx="10698480" cy="369332"/>
          </a:xfrm>
          <a:prstGeom prst="rect">
            <a:avLst/>
          </a:prstGeom>
          <a:noFill/>
        </p:spPr>
        <p:txBody>
          <a:bodyPr wrap="square" rtlCol="0">
            <a:spAutoFit/>
          </a:bodyPr>
          <a:lstStyle/>
          <a:p>
            <a:r>
              <a:rPr lang="en-US" b="1" noProof="1"/>
              <a:t>Du Flux de Données à l'Exécution – Un Pipeline End-to-End</a:t>
            </a:r>
          </a:p>
        </p:txBody>
      </p:sp>
      <p:sp>
        <p:nvSpPr>
          <p:cNvPr id="6" name="TextBox 5">
            <a:extLst>
              <a:ext uri="{FF2B5EF4-FFF2-40B4-BE49-F238E27FC236}">
                <a16:creationId xmlns:a16="http://schemas.microsoft.com/office/drawing/2014/main" id="{BE26FBD4-122C-1340-D30D-D5855DA5EF86}"/>
              </a:ext>
            </a:extLst>
          </p:cNvPr>
          <p:cNvSpPr txBox="1"/>
          <p:nvPr/>
        </p:nvSpPr>
        <p:spPr>
          <a:xfrm>
            <a:off x="658368" y="1344405"/>
            <a:ext cx="10698480" cy="369332"/>
          </a:xfrm>
          <a:prstGeom prst="rect">
            <a:avLst/>
          </a:prstGeom>
          <a:noFill/>
        </p:spPr>
        <p:txBody>
          <a:bodyPr wrap="square" rtlCol="0">
            <a:spAutoFit/>
          </a:bodyPr>
          <a:lstStyle/>
          <a:p>
            <a:pPr algn="just"/>
            <a:r>
              <a:rPr lang="en-US" noProof="1"/>
              <a:t>L'architecture est structurée en cinq étapes clés :</a:t>
            </a:r>
            <a:endParaRPr lang="en-US" b="1" noProof="1"/>
          </a:p>
        </p:txBody>
      </p:sp>
      <p:grpSp>
        <p:nvGrpSpPr>
          <p:cNvPr id="10" name="Group 9">
            <a:extLst>
              <a:ext uri="{FF2B5EF4-FFF2-40B4-BE49-F238E27FC236}">
                <a16:creationId xmlns:a16="http://schemas.microsoft.com/office/drawing/2014/main" id="{92EEE5DB-1DB2-F6F0-C5FB-95A4687F4FDF}"/>
              </a:ext>
            </a:extLst>
          </p:cNvPr>
          <p:cNvGrpSpPr/>
          <p:nvPr/>
        </p:nvGrpSpPr>
        <p:grpSpPr>
          <a:xfrm>
            <a:off x="658368" y="1819656"/>
            <a:ext cx="2697480" cy="1539323"/>
            <a:chOff x="658368" y="1819656"/>
            <a:chExt cx="2697480" cy="1539323"/>
          </a:xfrm>
        </p:grpSpPr>
        <p:sp>
          <p:nvSpPr>
            <p:cNvPr id="8" name="Rectangle 7">
              <a:extLst>
                <a:ext uri="{FF2B5EF4-FFF2-40B4-BE49-F238E27FC236}">
                  <a16:creationId xmlns:a16="http://schemas.microsoft.com/office/drawing/2014/main" id="{31E01602-ABC0-774C-7F53-A3BEAD784C78}"/>
                </a:ext>
              </a:extLst>
            </p:cNvPr>
            <p:cNvSpPr/>
            <p:nvPr/>
          </p:nvSpPr>
          <p:spPr>
            <a:xfrm>
              <a:off x="658368" y="1819656"/>
              <a:ext cx="2697480" cy="585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Collecte (Data Fetching)</a:t>
              </a:r>
              <a:endParaRPr lang="en-US" noProof="1"/>
            </a:p>
          </p:txBody>
        </p:sp>
        <p:sp>
          <p:nvSpPr>
            <p:cNvPr id="9" name="TextBox 8">
              <a:extLst>
                <a:ext uri="{FF2B5EF4-FFF2-40B4-BE49-F238E27FC236}">
                  <a16:creationId xmlns:a16="http://schemas.microsoft.com/office/drawing/2014/main" id="{9F34068D-9F03-2F4C-94D1-E0C838AF551D}"/>
                </a:ext>
              </a:extLst>
            </p:cNvPr>
            <p:cNvSpPr txBox="1"/>
            <p:nvPr/>
          </p:nvSpPr>
          <p:spPr>
            <a:xfrm>
              <a:off x="658368" y="2404872"/>
              <a:ext cx="2697480" cy="954107"/>
            </a:xfrm>
            <a:prstGeom prst="rect">
              <a:avLst/>
            </a:prstGeom>
            <a:noFill/>
            <a:ln w="19050">
              <a:solidFill>
                <a:schemeClr val="tx2"/>
              </a:solidFill>
            </a:ln>
          </p:spPr>
          <p:txBody>
            <a:bodyPr wrap="square" rtlCol="0">
              <a:spAutoFit/>
            </a:bodyPr>
            <a:lstStyle/>
            <a:p>
              <a:pPr algn="ctr"/>
              <a:r>
                <a:rPr lang="en-US" sz="1400" noProof="1"/>
                <a:t>Récupération hybride via l'API REST de Binance (historique) et WebSockets (flux temps réel) pour une réactivité maximale.</a:t>
              </a:r>
            </a:p>
          </p:txBody>
        </p:sp>
      </p:grpSp>
      <p:grpSp>
        <p:nvGrpSpPr>
          <p:cNvPr id="23" name="Group 22">
            <a:extLst>
              <a:ext uri="{FF2B5EF4-FFF2-40B4-BE49-F238E27FC236}">
                <a16:creationId xmlns:a16="http://schemas.microsoft.com/office/drawing/2014/main" id="{900489D9-F84D-D029-4815-9B0ABC696413}"/>
              </a:ext>
            </a:extLst>
          </p:cNvPr>
          <p:cNvGrpSpPr/>
          <p:nvPr/>
        </p:nvGrpSpPr>
        <p:grpSpPr>
          <a:xfrm>
            <a:off x="7906512" y="1819656"/>
            <a:ext cx="3450336" cy="1323880"/>
            <a:chOff x="4486656" y="1819656"/>
            <a:chExt cx="3450336" cy="1323880"/>
          </a:xfrm>
        </p:grpSpPr>
        <p:sp>
          <p:nvSpPr>
            <p:cNvPr id="12" name="Rectangle 11">
              <a:extLst>
                <a:ext uri="{FF2B5EF4-FFF2-40B4-BE49-F238E27FC236}">
                  <a16:creationId xmlns:a16="http://schemas.microsoft.com/office/drawing/2014/main" id="{5383E3AC-9626-DD06-3EC5-A13965959300}"/>
                </a:ext>
              </a:extLst>
            </p:cNvPr>
            <p:cNvSpPr/>
            <p:nvPr/>
          </p:nvSpPr>
          <p:spPr>
            <a:xfrm>
              <a:off x="4486656" y="1819656"/>
              <a:ext cx="3450336" cy="585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Ingénierie des Caractéristiques (Feature Engineering) </a:t>
              </a:r>
              <a:endParaRPr lang="en-US" noProof="1"/>
            </a:p>
          </p:txBody>
        </p:sp>
        <p:sp>
          <p:nvSpPr>
            <p:cNvPr id="13" name="TextBox 12">
              <a:extLst>
                <a:ext uri="{FF2B5EF4-FFF2-40B4-BE49-F238E27FC236}">
                  <a16:creationId xmlns:a16="http://schemas.microsoft.com/office/drawing/2014/main" id="{0A4106EB-2E6A-4D0E-8611-51527E65B09E}"/>
                </a:ext>
              </a:extLst>
            </p:cNvPr>
            <p:cNvSpPr txBox="1"/>
            <p:nvPr/>
          </p:nvSpPr>
          <p:spPr>
            <a:xfrm>
              <a:off x="4486656" y="2404872"/>
              <a:ext cx="3450336" cy="738664"/>
            </a:xfrm>
            <a:prstGeom prst="rect">
              <a:avLst/>
            </a:prstGeom>
            <a:noFill/>
            <a:ln w="19050">
              <a:solidFill>
                <a:schemeClr val="tx2"/>
              </a:solidFill>
            </a:ln>
          </p:spPr>
          <p:txBody>
            <a:bodyPr wrap="square" rtlCol="0">
              <a:spAutoFit/>
            </a:bodyPr>
            <a:lstStyle/>
            <a:p>
              <a:pPr algn="ctr"/>
              <a:r>
                <a:rPr lang="en-US" sz="1400" noProof="1"/>
                <a:t>Transformation des prix en indicateurs techniques (RSI, Bandes de Bollinger, ATR, Volatilité) via pandas-ta.</a:t>
              </a:r>
            </a:p>
          </p:txBody>
        </p:sp>
      </p:grpSp>
      <p:sp>
        <p:nvSpPr>
          <p:cNvPr id="14" name="Rectangle 13">
            <a:extLst>
              <a:ext uri="{FF2B5EF4-FFF2-40B4-BE49-F238E27FC236}">
                <a16:creationId xmlns:a16="http://schemas.microsoft.com/office/drawing/2014/main" id="{277F21E1-4E10-A480-5A7D-0272231A73D0}"/>
              </a:ext>
            </a:extLst>
          </p:cNvPr>
          <p:cNvSpPr/>
          <p:nvPr/>
        </p:nvSpPr>
        <p:spPr>
          <a:xfrm>
            <a:off x="7501128" y="5038345"/>
            <a:ext cx="3855720" cy="585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Modélisation (Building Model)</a:t>
            </a:r>
            <a:endParaRPr lang="en-US" noProof="1"/>
          </a:p>
        </p:txBody>
      </p:sp>
      <p:sp>
        <p:nvSpPr>
          <p:cNvPr id="15" name="TextBox 14">
            <a:extLst>
              <a:ext uri="{FF2B5EF4-FFF2-40B4-BE49-F238E27FC236}">
                <a16:creationId xmlns:a16="http://schemas.microsoft.com/office/drawing/2014/main" id="{C30D1987-1CA4-4E1A-5A39-A0D30439E6FC}"/>
              </a:ext>
            </a:extLst>
          </p:cNvPr>
          <p:cNvSpPr txBox="1"/>
          <p:nvPr/>
        </p:nvSpPr>
        <p:spPr>
          <a:xfrm>
            <a:off x="7501128" y="5623561"/>
            <a:ext cx="3855720" cy="738664"/>
          </a:xfrm>
          <a:prstGeom prst="rect">
            <a:avLst/>
          </a:prstGeom>
          <a:noFill/>
          <a:ln w="19050">
            <a:solidFill>
              <a:schemeClr val="tx2"/>
            </a:solidFill>
          </a:ln>
        </p:spPr>
        <p:txBody>
          <a:bodyPr wrap="square" rtlCol="0">
            <a:spAutoFit/>
          </a:bodyPr>
          <a:lstStyle/>
          <a:p>
            <a:pPr algn="ctr"/>
            <a:r>
              <a:rPr lang="en-US" sz="1400" noProof="1"/>
              <a:t>Utilisation d'un classificateur XGBoost entraîné sur les rendements décalés (Lagged Returns) pour prédire la direction du prix à court terme.</a:t>
            </a:r>
          </a:p>
        </p:txBody>
      </p:sp>
      <p:sp>
        <p:nvSpPr>
          <p:cNvPr id="16" name="Rectangle 15">
            <a:extLst>
              <a:ext uri="{FF2B5EF4-FFF2-40B4-BE49-F238E27FC236}">
                <a16:creationId xmlns:a16="http://schemas.microsoft.com/office/drawing/2014/main" id="{85D94B90-070C-89A2-4743-760AD6102B0F}"/>
              </a:ext>
            </a:extLst>
          </p:cNvPr>
          <p:cNvSpPr/>
          <p:nvPr/>
        </p:nvSpPr>
        <p:spPr>
          <a:xfrm>
            <a:off x="4089654" y="3358979"/>
            <a:ext cx="3339084" cy="5852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Évaluation </a:t>
            </a:r>
          </a:p>
          <a:p>
            <a:pPr algn="ctr"/>
            <a:r>
              <a:rPr lang="en-US" b="1" noProof="1"/>
              <a:t>(Score &amp; Accuracy)</a:t>
            </a:r>
            <a:endParaRPr lang="en-US" noProof="1"/>
          </a:p>
        </p:txBody>
      </p:sp>
      <p:sp>
        <p:nvSpPr>
          <p:cNvPr id="17" name="TextBox 16">
            <a:extLst>
              <a:ext uri="{FF2B5EF4-FFF2-40B4-BE49-F238E27FC236}">
                <a16:creationId xmlns:a16="http://schemas.microsoft.com/office/drawing/2014/main" id="{AE86979E-7E76-3C22-623E-36D71D605CFE}"/>
              </a:ext>
            </a:extLst>
          </p:cNvPr>
          <p:cNvSpPr txBox="1"/>
          <p:nvPr/>
        </p:nvSpPr>
        <p:spPr>
          <a:xfrm>
            <a:off x="4089654" y="3944195"/>
            <a:ext cx="3339084" cy="738664"/>
          </a:xfrm>
          <a:prstGeom prst="rect">
            <a:avLst/>
          </a:prstGeom>
          <a:noFill/>
          <a:ln w="19050">
            <a:solidFill>
              <a:schemeClr val="tx2"/>
            </a:solidFill>
          </a:ln>
        </p:spPr>
        <p:txBody>
          <a:bodyPr wrap="square" rtlCol="0">
            <a:spAutoFit/>
          </a:bodyPr>
          <a:lstStyle/>
          <a:p>
            <a:pPr algn="ctr"/>
            <a:r>
              <a:rPr lang="en-US" sz="1400" noProof="1"/>
              <a:t>Validation croisée (TimeSeriesSplit) pour garantir la robustesse du modèle face à la volatilité du marché.</a:t>
            </a:r>
          </a:p>
        </p:txBody>
      </p:sp>
      <p:sp>
        <p:nvSpPr>
          <p:cNvPr id="18" name="Rectangle 17">
            <a:extLst>
              <a:ext uri="{FF2B5EF4-FFF2-40B4-BE49-F238E27FC236}">
                <a16:creationId xmlns:a16="http://schemas.microsoft.com/office/drawing/2014/main" id="{E75650C8-E664-2158-0276-C4F1D7277F79}"/>
              </a:ext>
            </a:extLst>
          </p:cNvPr>
          <p:cNvSpPr/>
          <p:nvPr/>
        </p:nvSpPr>
        <p:spPr>
          <a:xfrm>
            <a:off x="640080" y="4899654"/>
            <a:ext cx="3121152" cy="5491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1"/>
              <a:t>Interface (UI)</a:t>
            </a:r>
            <a:endParaRPr lang="en-US" noProof="1"/>
          </a:p>
        </p:txBody>
      </p:sp>
      <p:sp>
        <p:nvSpPr>
          <p:cNvPr id="19" name="TextBox 18">
            <a:extLst>
              <a:ext uri="{FF2B5EF4-FFF2-40B4-BE49-F238E27FC236}">
                <a16:creationId xmlns:a16="http://schemas.microsoft.com/office/drawing/2014/main" id="{4BE48BE7-6134-491B-AC44-1095C35DB759}"/>
              </a:ext>
            </a:extLst>
          </p:cNvPr>
          <p:cNvSpPr txBox="1"/>
          <p:nvPr/>
        </p:nvSpPr>
        <p:spPr>
          <a:xfrm>
            <a:off x="640080" y="5448852"/>
            <a:ext cx="3121152" cy="1015663"/>
          </a:xfrm>
          <a:prstGeom prst="rect">
            <a:avLst/>
          </a:prstGeom>
          <a:noFill/>
          <a:ln w="19050">
            <a:solidFill>
              <a:schemeClr val="tx2"/>
            </a:solidFill>
          </a:ln>
        </p:spPr>
        <p:txBody>
          <a:bodyPr wrap="square" rtlCol="0">
            <a:spAutoFit/>
          </a:bodyPr>
          <a:lstStyle/>
          <a:p>
            <a:pPr algn="ctr"/>
            <a:r>
              <a:rPr lang="en-US" noProof="1"/>
              <a:t>U</a:t>
            </a:r>
            <a:r>
              <a:rPr lang="en-US" sz="1400" noProof="1"/>
              <a:t>n tableau de bord React ultra-rapide utilisant lightweight-charts pour un rendu graphique fluide et des mises à jour instantanées des signaux.</a:t>
            </a:r>
          </a:p>
        </p:txBody>
      </p:sp>
      <p:cxnSp>
        <p:nvCxnSpPr>
          <p:cNvPr id="26" name="Straight Arrow Connector 25">
            <a:extLst>
              <a:ext uri="{FF2B5EF4-FFF2-40B4-BE49-F238E27FC236}">
                <a16:creationId xmlns:a16="http://schemas.microsoft.com/office/drawing/2014/main" id="{70CAC7B5-641D-3D30-F8B5-DF5B10197FB5}"/>
              </a:ext>
            </a:extLst>
          </p:cNvPr>
          <p:cNvCxnSpPr/>
          <p:nvPr/>
        </p:nvCxnSpPr>
        <p:spPr>
          <a:xfrm>
            <a:off x="3657600" y="2496312"/>
            <a:ext cx="4005072"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DD1C3A1-9973-1BCD-034F-79AE5D7DF39B}"/>
              </a:ext>
            </a:extLst>
          </p:cNvPr>
          <p:cNvCxnSpPr/>
          <p:nvPr/>
        </p:nvCxnSpPr>
        <p:spPr>
          <a:xfrm>
            <a:off x="9631680" y="3246120"/>
            <a:ext cx="0" cy="1653534"/>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6F15723-0750-DC04-1294-77D151D84135}"/>
              </a:ext>
            </a:extLst>
          </p:cNvPr>
          <p:cNvCxnSpPr/>
          <p:nvPr/>
        </p:nvCxnSpPr>
        <p:spPr>
          <a:xfrm>
            <a:off x="8449056" y="4032504"/>
            <a:ext cx="0" cy="1005841"/>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C797AAB-FC1E-C7C7-1EF8-F5A07318C56B}"/>
              </a:ext>
            </a:extLst>
          </p:cNvPr>
          <p:cNvCxnSpPr>
            <a:stCxn id="17" idx="1"/>
          </p:cNvCxnSpPr>
          <p:nvPr/>
        </p:nvCxnSpPr>
        <p:spPr>
          <a:xfrm flipH="1">
            <a:off x="2200656" y="4313527"/>
            <a:ext cx="1888998"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8E6076FB-4C60-41EE-0DB2-E400911CDB40}"/>
              </a:ext>
            </a:extLst>
          </p:cNvPr>
          <p:cNvCxnSpPr>
            <a:cxnSpLocks/>
          </p:cNvCxnSpPr>
          <p:nvPr/>
        </p:nvCxnSpPr>
        <p:spPr>
          <a:xfrm>
            <a:off x="2238375" y="4276725"/>
            <a:ext cx="0" cy="588645"/>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721BB09-16FD-8818-7B67-46782693DCA3}"/>
              </a:ext>
            </a:extLst>
          </p:cNvPr>
          <p:cNvCxnSpPr>
            <a:cxnSpLocks/>
          </p:cNvCxnSpPr>
          <p:nvPr/>
        </p:nvCxnSpPr>
        <p:spPr>
          <a:xfrm flipH="1">
            <a:off x="7501128" y="4070985"/>
            <a:ext cx="978027"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8B2CF078-54BF-32F1-EBC4-4756B2B84050}"/>
              </a:ext>
            </a:extLst>
          </p:cNvPr>
          <p:cNvSpPr/>
          <p:nvPr/>
        </p:nvSpPr>
        <p:spPr>
          <a:xfrm>
            <a:off x="3418332" y="1819656"/>
            <a:ext cx="478536" cy="478536"/>
          </a:xfrm>
          <a:prstGeom prst="rect">
            <a:avLst/>
          </a:prstGeom>
          <a:solidFill>
            <a:schemeClr val="bg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accent2"/>
                </a:solidFill>
              </a:rPr>
              <a:t>1</a:t>
            </a:r>
          </a:p>
        </p:txBody>
      </p:sp>
      <p:sp>
        <p:nvSpPr>
          <p:cNvPr id="40" name="Rectangle 39">
            <a:extLst>
              <a:ext uri="{FF2B5EF4-FFF2-40B4-BE49-F238E27FC236}">
                <a16:creationId xmlns:a16="http://schemas.microsoft.com/office/drawing/2014/main" id="{0588D11E-8506-4880-DA81-107E40EF7F57}"/>
              </a:ext>
            </a:extLst>
          </p:cNvPr>
          <p:cNvSpPr/>
          <p:nvPr/>
        </p:nvSpPr>
        <p:spPr>
          <a:xfrm>
            <a:off x="658368" y="4367323"/>
            <a:ext cx="478536" cy="478536"/>
          </a:xfrm>
          <a:prstGeom prst="rect">
            <a:avLst/>
          </a:prstGeom>
          <a:solidFill>
            <a:schemeClr val="bg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accent2"/>
                </a:solidFill>
              </a:rPr>
              <a:t>5</a:t>
            </a:r>
          </a:p>
        </p:txBody>
      </p:sp>
      <p:sp>
        <p:nvSpPr>
          <p:cNvPr id="41" name="Rectangle 40">
            <a:extLst>
              <a:ext uri="{FF2B5EF4-FFF2-40B4-BE49-F238E27FC236}">
                <a16:creationId xmlns:a16="http://schemas.microsoft.com/office/drawing/2014/main" id="{06F61F44-DACD-E5C5-BC04-718A20CC5D51}"/>
              </a:ext>
            </a:extLst>
          </p:cNvPr>
          <p:cNvSpPr/>
          <p:nvPr/>
        </p:nvSpPr>
        <p:spPr>
          <a:xfrm>
            <a:off x="5660136" y="2842261"/>
            <a:ext cx="478536" cy="478536"/>
          </a:xfrm>
          <a:prstGeom prst="rect">
            <a:avLst/>
          </a:prstGeom>
          <a:solidFill>
            <a:schemeClr val="bg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accent2"/>
                </a:solidFill>
              </a:rPr>
              <a:t>4</a:t>
            </a:r>
          </a:p>
        </p:txBody>
      </p:sp>
      <p:sp>
        <p:nvSpPr>
          <p:cNvPr id="42" name="Rectangle 41">
            <a:extLst>
              <a:ext uri="{FF2B5EF4-FFF2-40B4-BE49-F238E27FC236}">
                <a16:creationId xmlns:a16="http://schemas.microsoft.com/office/drawing/2014/main" id="{709C0B8E-9320-10CE-739A-5F944C9EEDE4}"/>
              </a:ext>
            </a:extLst>
          </p:cNvPr>
          <p:cNvSpPr/>
          <p:nvPr/>
        </p:nvSpPr>
        <p:spPr>
          <a:xfrm>
            <a:off x="10878312" y="1283011"/>
            <a:ext cx="478536" cy="478536"/>
          </a:xfrm>
          <a:prstGeom prst="rect">
            <a:avLst/>
          </a:prstGeom>
          <a:solidFill>
            <a:schemeClr val="bg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accent2"/>
                </a:solidFill>
              </a:rPr>
              <a:t>2</a:t>
            </a:r>
          </a:p>
        </p:txBody>
      </p:sp>
      <p:sp>
        <p:nvSpPr>
          <p:cNvPr id="43" name="Rectangle 42">
            <a:extLst>
              <a:ext uri="{FF2B5EF4-FFF2-40B4-BE49-F238E27FC236}">
                <a16:creationId xmlns:a16="http://schemas.microsoft.com/office/drawing/2014/main" id="{11290770-8EE5-BDEC-15A7-FE40AD79F458}"/>
              </a:ext>
            </a:extLst>
          </p:cNvPr>
          <p:cNvSpPr/>
          <p:nvPr/>
        </p:nvSpPr>
        <p:spPr>
          <a:xfrm>
            <a:off x="10878312" y="4487228"/>
            <a:ext cx="478536" cy="478536"/>
          </a:xfrm>
          <a:prstGeom prst="rect">
            <a:avLst/>
          </a:prstGeom>
          <a:solidFill>
            <a:schemeClr val="bg2"/>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1">
                <a:solidFill>
                  <a:schemeClr val="accent2"/>
                </a:solidFill>
              </a:rPr>
              <a:t>3</a:t>
            </a:r>
          </a:p>
        </p:txBody>
      </p:sp>
    </p:spTree>
    <p:extLst>
      <p:ext uri="{BB962C8B-B14F-4D97-AF65-F5344CB8AC3E}">
        <p14:creationId xmlns:p14="http://schemas.microsoft.com/office/powerpoint/2010/main" val="3708077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FBAFA-F072-AF9A-DD2B-7A5C8E196A55}"/>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DCAE467-E56B-0EB0-57CE-642E8030F92F}"/>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04EC626-39E2-5975-C2F8-528F5858F873}"/>
              </a:ext>
            </a:extLst>
          </p:cNvPr>
          <p:cNvSpPr txBox="1"/>
          <p:nvPr/>
        </p:nvSpPr>
        <p:spPr>
          <a:xfrm>
            <a:off x="658368" y="336542"/>
            <a:ext cx="10140696" cy="461665"/>
          </a:xfrm>
          <a:prstGeom prst="rect">
            <a:avLst/>
          </a:prstGeom>
          <a:noFill/>
        </p:spPr>
        <p:txBody>
          <a:bodyPr wrap="square">
            <a:spAutoFit/>
          </a:bodyPr>
          <a:lstStyle/>
          <a:p>
            <a:r>
              <a:rPr lang="en-US" sz="2400" b="1" noProof="1"/>
              <a:t>TECHNOLOGIES UTILISÉES</a:t>
            </a:r>
          </a:p>
        </p:txBody>
      </p:sp>
      <p:sp>
        <p:nvSpPr>
          <p:cNvPr id="2" name="TextBox 1">
            <a:extLst>
              <a:ext uri="{FF2B5EF4-FFF2-40B4-BE49-F238E27FC236}">
                <a16:creationId xmlns:a16="http://schemas.microsoft.com/office/drawing/2014/main" id="{AA537182-5659-950A-C2A8-6E63413FF006}"/>
              </a:ext>
            </a:extLst>
          </p:cNvPr>
          <p:cNvSpPr txBox="1"/>
          <p:nvPr/>
        </p:nvSpPr>
        <p:spPr>
          <a:xfrm>
            <a:off x="658368" y="975073"/>
            <a:ext cx="10698480" cy="369332"/>
          </a:xfrm>
          <a:prstGeom prst="rect">
            <a:avLst/>
          </a:prstGeom>
          <a:noFill/>
        </p:spPr>
        <p:txBody>
          <a:bodyPr wrap="square" rtlCol="0">
            <a:spAutoFit/>
          </a:bodyPr>
          <a:lstStyle/>
          <a:p>
            <a:r>
              <a:rPr lang="en-US" b="1" noProof="1"/>
              <a:t>Le Stack Technologique “2iad – ML4T"</a:t>
            </a:r>
          </a:p>
        </p:txBody>
      </p:sp>
      <p:sp>
        <p:nvSpPr>
          <p:cNvPr id="6" name="TextBox 5">
            <a:extLst>
              <a:ext uri="{FF2B5EF4-FFF2-40B4-BE49-F238E27FC236}">
                <a16:creationId xmlns:a16="http://schemas.microsoft.com/office/drawing/2014/main" id="{872752B1-99A6-53E8-CA46-F85F5D522CB5}"/>
              </a:ext>
            </a:extLst>
          </p:cNvPr>
          <p:cNvSpPr txBox="1"/>
          <p:nvPr/>
        </p:nvSpPr>
        <p:spPr>
          <a:xfrm>
            <a:off x="658368" y="1344405"/>
            <a:ext cx="10698480" cy="369332"/>
          </a:xfrm>
          <a:prstGeom prst="rect">
            <a:avLst/>
          </a:prstGeom>
          <a:noFill/>
        </p:spPr>
        <p:txBody>
          <a:bodyPr wrap="square" rtlCol="0">
            <a:spAutoFit/>
          </a:bodyPr>
          <a:lstStyle/>
          <a:p>
            <a:pPr algn="just"/>
            <a:r>
              <a:rPr lang="en-US" b="1" noProof="1"/>
              <a:t>Backend (Moteur de Calcul) :</a:t>
            </a:r>
          </a:p>
        </p:txBody>
      </p:sp>
      <p:sp>
        <p:nvSpPr>
          <p:cNvPr id="4" name="TextBox 3">
            <a:extLst>
              <a:ext uri="{FF2B5EF4-FFF2-40B4-BE49-F238E27FC236}">
                <a16:creationId xmlns:a16="http://schemas.microsoft.com/office/drawing/2014/main" id="{24A2927B-90DD-7D66-D2C4-33A35D02E78B}"/>
              </a:ext>
            </a:extLst>
          </p:cNvPr>
          <p:cNvSpPr txBox="1"/>
          <p:nvPr/>
        </p:nvSpPr>
        <p:spPr>
          <a:xfrm>
            <a:off x="658368" y="1713737"/>
            <a:ext cx="10698480" cy="1200329"/>
          </a:xfrm>
          <a:prstGeom prst="rect">
            <a:avLst/>
          </a:prstGeom>
          <a:noFill/>
        </p:spPr>
        <p:txBody>
          <a:bodyPr wrap="square" rtlCol="0">
            <a:spAutoFit/>
          </a:bodyPr>
          <a:lstStyle/>
          <a:p>
            <a:pPr marL="285750" indent="-285750">
              <a:buFont typeface="Wingdings" panose="05000000000000000000" pitchFamily="2" charset="2"/>
              <a:buChar char="§"/>
            </a:pPr>
            <a:r>
              <a:rPr lang="en-US" b="1" noProof="1"/>
              <a:t>Python &amp; Flask : </a:t>
            </a:r>
            <a:r>
              <a:rPr lang="en-US" noProof="1"/>
              <a:t>Gestion de l'API et de la logique métier.</a:t>
            </a:r>
          </a:p>
          <a:p>
            <a:pPr marL="285750" indent="-285750">
              <a:buFont typeface="Wingdings" panose="05000000000000000000" pitchFamily="2" charset="2"/>
              <a:buChar char="§"/>
            </a:pPr>
            <a:r>
              <a:rPr lang="en-US" b="1" noProof="1"/>
              <a:t>XGBoost : </a:t>
            </a:r>
            <a:r>
              <a:rPr lang="en-US" noProof="1"/>
              <a:t>Algorithme de boosting de gradient pour la classification.</a:t>
            </a:r>
          </a:p>
          <a:p>
            <a:pPr marL="285750" indent="-285750">
              <a:buFont typeface="Wingdings" panose="05000000000000000000" pitchFamily="2" charset="2"/>
              <a:buChar char="§"/>
            </a:pPr>
            <a:r>
              <a:rPr lang="en-US" b="1" noProof="1"/>
              <a:t>Pandas &amp; Scikit-learn : </a:t>
            </a:r>
            <a:r>
              <a:rPr lang="en-US" noProof="1"/>
              <a:t>Préparation des données et évaluation.</a:t>
            </a:r>
          </a:p>
          <a:p>
            <a:pPr marL="285750" indent="-285750">
              <a:buFont typeface="Wingdings" panose="05000000000000000000" pitchFamily="2" charset="2"/>
              <a:buChar char="§"/>
            </a:pPr>
            <a:r>
              <a:rPr lang="en-US" b="1" noProof="1"/>
              <a:t>CCXT : </a:t>
            </a:r>
            <a:r>
              <a:rPr lang="en-US" noProof="1"/>
              <a:t>Connectivité universelle aux échanges crypto.</a:t>
            </a:r>
          </a:p>
        </p:txBody>
      </p:sp>
      <p:sp>
        <p:nvSpPr>
          <p:cNvPr id="5" name="TextBox 4">
            <a:extLst>
              <a:ext uri="{FF2B5EF4-FFF2-40B4-BE49-F238E27FC236}">
                <a16:creationId xmlns:a16="http://schemas.microsoft.com/office/drawing/2014/main" id="{94D18B1D-2B31-A215-1059-EE78340C2DBD}"/>
              </a:ext>
            </a:extLst>
          </p:cNvPr>
          <p:cNvSpPr txBox="1"/>
          <p:nvPr/>
        </p:nvSpPr>
        <p:spPr>
          <a:xfrm>
            <a:off x="658368" y="2914066"/>
            <a:ext cx="10698480" cy="369332"/>
          </a:xfrm>
          <a:prstGeom prst="rect">
            <a:avLst/>
          </a:prstGeom>
          <a:noFill/>
        </p:spPr>
        <p:txBody>
          <a:bodyPr wrap="square" rtlCol="0">
            <a:spAutoFit/>
          </a:bodyPr>
          <a:lstStyle/>
          <a:p>
            <a:pPr algn="just"/>
            <a:r>
              <a:rPr lang="en-US" b="1" noProof="1"/>
              <a:t>Frontend (Interface Terminal) :</a:t>
            </a:r>
          </a:p>
        </p:txBody>
      </p:sp>
      <p:sp>
        <p:nvSpPr>
          <p:cNvPr id="11" name="TextBox 10">
            <a:extLst>
              <a:ext uri="{FF2B5EF4-FFF2-40B4-BE49-F238E27FC236}">
                <a16:creationId xmlns:a16="http://schemas.microsoft.com/office/drawing/2014/main" id="{8C48F40D-3854-81F9-543E-C212E03C22D6}"/>
              </a:ext>
            </a:extLst>
          </p:cNvPr>
          <p:cNvSpPr txBox="1"/>
          <p:nvPr/>
        </p:nvSpPr>
        <p:spPr>
          <a:xfrm>
            <a:off x="658368" y="3283398"/>
            <a:ext cx="10698480" cy="1200329"/>
          </a:xfrm>
          <a:prstGeom prst="rect">
            <a:avLst/>
          </a:prstGeom>
          <a:noFill/>
        </p:spPr>
        <p:txBody>
          <a:bodyPr wrap="square" rtlCol="0">
            <a:spAutoFit/>
          </a:bodyPr>
          <a:lstStyle/>
          <a:p>
            <a:pPr marL="285750" indent="-285750">
              <a:buFont typeface="Wingdings" panose="05000000000000000000" pitchFamily="2" charset="2"/>
              <a:buChar char="§"/>
            </a:pPr>
            <a:r>
              <a:rPr lang="en-US" b="1" noProof="1"/>
              <a:t>React 19 &amp; TypeScript : </a:t>
            </a:r>
            <a:r>
              <a:rPr lang="en-US" noProof="1"/>
              <a:t>Typage strict et composants réactifs.</a:t>
            </a:r>
          </a:p>
          <a:p>
            <a:pPr marL="285750" indent="-285750">
              <a:buFont typeface="Wingdings" panose="05000000000000000000" pitchFamily="2" charset="2"/>
              <a:buChar char="§"/>
            </a:pPr>
            <a:r>
              <a:rPr lang="en-US" b="1" noProof="1"/>
              <a:t>Tailwind CSS : </a:t>
            </a:r>
            <a:r>
              <a:rPr lang="en-US" noProof="1"/>
              <a:t>Design moderne type "Glassmorphism" et "Dark Mode".</a:t>
            </a:r>
          </a:p>
          <a:p>
            <a:pPr marL="285750" indent="-285750">
              <a:buFont typeface="Wingdings" panose="05000000000000000000" pitchFamily="2" charset="2"/>
              <a:buChar char="§"/>
            </a:pPr>
            <a:r>
              <a:rPr lang="en-US" b="1" noProof="1"/>
              <a:t>Lightweight Charts (TradingView) : </a:t>
            </a:r>
            <a:r>
              <a:rPr lang="en-US" noProof="1"/>
              <a:t>Graphiques financiers haute performance.</a:t>
            </a:r>
          </a:p>
          <a:p>
            <a:pPr marL="285750" indent="-285750">
              <a:buFont typeface="Wingdings" panose="05000000000000000000" pitchFamily="2" charset="2"/>
              <a:buChar char="§"/>
            </a:pPr>
            <a:r>
              <a:rPr lang="en-US" b="1" noProof="1"/>
              <a:t>Lucide React : </a:t>
            </a:r>
            <a:r>
              <a:rPr lang="en-US" noProof="1"/>
              <a:t>Iconographie intuitive.</a:t>
            </a:r>
          </a:p>
        </p:txBody>
      </p:sp>
    </p:spTree>
    <p:extLst>
      <p:ext uri="{BB962C8B-B14F-4D97-AF65-F5344CB8AC3E}">
        <p14:creationId xmlns:p14="http://schemas.microsoft.com/office/powerpoint/2010/main" val="226204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1C345-D306-7696-9D4B-C25F90FF6D3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5921E1-B905-280F-8519-F9713A8DF80C}"/>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D45E10-360A-360F-2F10-7EF92E175B27}"/>
              </a:ext>
            </a:extLst>
          </p:cNvPr>
          <p:cNvSpPr txBox="1"/>
          <p:nvPr/>
        </p:nvSpPr>
        <p:spPr>
          <a:xfrm>
            <a:off x="658368" y="336542"/>
            <a:ext cx="10140696" cy="461665"/>
          </a:xfrm>
          <a:prstGeom prst="rect">
            <a:avLst/>
          </a:prstGeom>
          <a:noFill/>
        </p:spPr>
        <p:txBody>
          <a:bodyPr wrap="square">
            <a:spAutoFit/>
          </a:bodyPr>
          <a:lstStyle/>
          <a:p>
            <a:r>
              <a:rPr lang="en-US" sz="2400" b="1" noProof="1"/>
              <a:t>DISCUSSION DES RÉSULTATS</a:t>
            </a:r>
          </a:p>
        </p:txBody>
      </p:sp>
      <p:sp>
        <p:nvSpPr>
          <p:cNvPr id="2" name="TextBox 1">
            <a:extLst>
              <a:ext uri="{FF2B5EF4-FFF2-40B4-BE49-F238E27FC236}">
                <a16:creationId xmlns:a16="http://schemas.microsoft.com/office/drawing/2014/main" id="{35F453CE-9D53-EBA4-622A-715E17D4D4B2}"/>
              </a:ext>
            </a:extLst>
          </p:cNvPr>
          <p:cNvSpPr txBox="1"/>
          <p:nvPr/>
        </p:nvSpPr>
        <p:spPr>
          <a:xfrm>
            <a:off x="658368" y="975073"/>
            <a:ext cx="10698480" cy="369332"/>
          </a:xfrm>
          <a:prstGeom prst="rect">
            <a:avLst/>
          </a:prstGeom>
          <a:noFill/>
        </p:spPr>
        <p:txBody>
          <a:bodyPr wrap="square" rtlCol="0">
            <a:spAutoFit/>
          </a:bodyPr>
          <a:lstStyle/>
          <a:p>
            <a:r>
              <a:rPr lang="en-US" b="1" noProof="1"/>
              <a:t>Performance et Analyse des Signaux</a:t>
            </a:r>
          </a:p>
        </p:txBody>
      </p:sp>
      <p:sp>
        <p:nvSpPr>
          <p:cNvPr id="8" name="TextBox 7">
            <a:extLst>
              <a:ext uri="{FF2B5EF4-FFF2-40B4-BE49-F238E27FC236}">
                <a16:creationId xmlns:a16="http://schemas.microsoft.com/office/drawing/2014/main" id="{EE5486CB-507C-75E9-DE77-F529BD1595B9}"/>
              </a:ext>
            </a:extLst>
          </p:cNvPr>
          <p:cNvSpPr txBox="1"/>
          <p:nvPr/>
        </p:nvSpPr>
        <p:spPr>
          <a:xfrm>
            <a:off x="658368" y="1344405"/>
            <a:ext cx="10698480" cy="646331"/>
          </a:xfrm>
          <a:prstGeom prst="rect">
            <a:avLst/>
          </a:prstGeom>
          <a:noFill/>
        </p:spPr>
        <p:txBody>
          <a:bodyPr wrap="square" rtlCol="0">
            <a:spAutoFit/>
          </a:bodyPr>
          <a:lstStyle/>
          <a:p>
            <a:r>
              <a:rPr lang="en-US" b="1" noProof="1"/>
              <a:t>Précision (Accuracy) :</a:t>
            </a:r>
            <a:r>
              <a:rPr lang="en-US" noProof="1"/>
              <a:t> Le modèle affiche une précision oscillant entre </a:t>
            </a:r>
            <a:r>
              <a:rPr lang="en-US" b="1" noProof="1"/>
              <a:t>64% et 70%</a:t>
            </a:r>
            <a:r>
              <a:rPr lang="en-US" noProof="1"/>
              <a:t> sur les données de test, ce qui est significatif dans le domaine du trading haute fréquence.</a:t>
            </a:r>
          </a:p>
        </p:txBody>
      </p:sp>
      <p:sp>
        <p:nvSpPr>
          <p:cNvPr id="9" name="TextBox 8">
            <a:extLst>
              <a:ext uri="{FF2B5EF4-FFF2-40B4-BE49-F238E27FC236}">
                <a16:creationId xmlns:a16="http://schemas.microsoft.com/office/drawing/2014/main" id="{66875545-2744-BE2C-2F3E-4A88B627CECC}"/>
              </a:ext>
            </a:extLst>
          </p:cNvPr>
          <p:cNvSpPr txBox="1"/>
          <p:nvPr/>
        </p:nvSpPr>
        <p:spPr>
          <a:xfrm>
            <a:off x="658368" y="1990736"/>
            <a:ext cx="10698480" cy="369332"/>
          </a:xfrm>
          <a:prstGeom prst="rect">
            <a:avLst/>
          </a:prstGeom>
          <a:noFill/>
        </p:spPr>
        <p:txBody>
          <a:bodyPr wrap="square" rtlCol="0">
            <a:spAutoFit/>
          </a:bodyPr>
          <a:lstStyle/>
          <a:p>
            <a:r>
              <a:rPr lang="en-US" b="1" noProof="1"/>
              <a:t>Importance des Caractéristiques (Feature Importance) :</a:t>
            </a:r>
          </a:p>
        </p:txBody>
      </p:sp>
      <p:sp>
        <p:nvSpPr>
          <p:cNvPr id="10" name="TextBox 9">
            <a:extLst>
              <a:ext uri="{FF2B5EF4-FFF2-40B4-BE49-F238E27FC236}">
                <a16:creationId xmlns:a16="http://schemas.microsoft.com/office/drawing/2014/main" id="{CA5165B7-B18E-4910-7A59-A31F53BBB3D3}"/>
              </a:ext>
            </a:extLst>
          </p:cNvPr>
          <p:cNvSpPr txBox="1"/>
          <p:nvPr/>
        </p:nvSpPr>
        <p:spPr>
          <a:xfrm>
            <a:off x="658368" y="2360068"/>
            <a:ext cx="10698480" cy="646331"/>
          </a:xfrm>
          <a:prstGeom prst="rect">
            <a:avLst/>
          </a:prstGeom>
          <a:noFill/>
        </p:spPr>
        <p:txBody>
          <a:bodyPr wrap="square" rtlCol="0">
            <a:spAutoFit/>
          </a:bodyPr>
          <a:lstStyle/>
          <a:p>
            <a:pPr marL="285750" indent="-285750">
              <a:buFont typeface="Wingdings" panose="05000000000000000000" pitchFamily="2" charset="2"/>
              <a:buChar char="§"/>
            </a:pPr>
            <a:r>
              <a:rPr lang="en-US" noProof="1"/>
              <a:t>Le </a:t>
            </a:r>
            <a:r>
              <a:rPr lang="en-US" b="1" noProof="1"/>
              <a:t>RSI</a:t>
            </a:r>
            <a:r>
              <a:rPr lang="en-US" noProof="1"/>
              <a:t> et les </a:t>
            </a:r>
            <a:r>
              <a:rPr lang="en-US" b="1" noProof="1"/>
              <a:t>flux de baleines (Whale Inflow)</a:t>
            </a:r>
            <a:r>
              <a:rPr lang="en-US" noProof="1"/>
              <a:t> sont les prédicteurs les plus influents.</a:t>
            </a:r>
          </a:p>
          <a:p>
            <a:pPr marL="285750" indent="-285750">
              <a:buFont typeface="Wingdings" panose="05000000000000000000" pitchFamily="2" charset="2"/>
              <a:buChar char="§"/>
            </a:pPr>
            <a:r>
              <a:rPr lang="en-US" noProof="1"/>
              <a:t>La volatilité (ATR) joue un rôle crucial dans la filtration des "faux signaux" (Hold).</a:t>
            </a:r>
          </a:p>
        </p:txBody>
      </p:sp>
      <p:sp>
        <p:nvSpPr>
          <p:cNvPr id="12" name="TextBox 11">
            <a:extLst>
              <a:ext uri="{FF2B5EF4-FFF2-40B4-BE49-F238E27FC236}">
                <a16:creationId xmlns:a16="http://schemas.microsoft.com/office/drawing/2014/main" id="{88733571-69DA-9586-1DB1-F0ECAAB1D0CE}"/>
              </a:ext>
            </a:extLst>
          </p:cNvPr>
          <p:cNvSpPr txBox="1"/>
          <p:nvPr/>
        </p:nvSpPr>
        <p:spPr>
          <a:xfrm>
            <a:off x="658368" y="3006399"/>
            <a:ext cx="10698480" cy="646331"/>
          </a:xfrm>
          <a:prstGeom prst="rect">
            <a:avLst/>
          </a:prstGeom>
          <a:noFill/>
        </p:spPr>
        <p:txBody>
          <a:bodyPr wrap="square" rtlCol="0">
            <a:spAutoFit/>
          </a:bodyPr>
          <a:lstStyle/>
          <a:p>
            <a:r>
              <a:rPr lang="en-US" b="1" noProof="1"/>
              <a:t>Fiabilité :</a:t>
            </a:r>
            <a:r>
              <a:rPr lang="en-US" noProof="1"/>
              <a:t> L'intégration de zones de confiance permet d'éviter les transactions risquées lorsque le modèle est incertain (seuil de confiance à 53%).</a:t>
            </a:r>
          </a:p>
        </p:txBody>
      </p:sp>
      <p:sp>
        <p:nvSpPr>
          <p:cNvPr id="13" name="TextBox 12">
            <a:extLst>
              <a:ext uri="{FF2B5EF4-FFF2-40B4-BE49-F238E27FC236}">
                <a16:creationId xmlns:a16="http://schemas.microsoft.com/office/drawing/2014/main" id="{6399A0F5-AAA6-B49F-24FF-0BC404EB88AA}"/>
              </a:ext>
            </a:extLst>
          </p:cNvPr>
          <p:cNvSpPr txBox="1"/>
          <p:nvPr/>
        </p:nvSpPr>
        <p:spPr>
          <a:xfrm>
            <a:off x="658368" y="3652730"/>
            <a:ext cx="10698480" cy="646331"/>
          </a:xfrm>
          <a:prstGeom prst="rect">
            <a:avLst/>
          </a:prstGeom>
          <a:noFill/>
        </p:spPr>
        <p:txBody>
          <a:bodyPr wrap="square" rtlCol="0">
            <a:spAutoFit/>
          </a:bodyPr>
          <a:lstStyle/>
          <a:p>
            <a:r>
              <a:rPr lang="en-US" b="1" noProof="1"/>
              <a:t>Visualisation :</a:t>
            </a:r>
            <a:r>
              <a:rPr lang="en-US" noProof="1"/>
              <a:t> Les Bandes de Bollinger dynamiques (avec changement de couleur selon le prix) offrent une lecture immédiate de la pression acheteuse/vendeuse.</a:t>
            </a:r>
          </a:p>
        </p:txBody>
      </p:sp>
    </p:spTree>
    <p:extLst>
      <p:ext uri="{BB962C8B-B14F-4D97-AF65-F5344CB8AC3E}">
        <p14:creationId xmlns:p14="http://schemas.microsoft.com/office/powerpoint/2010/main" val="8263982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A0B4-C457-0743-5C64-C72E4D7BBA8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E6D7A48-E401-5C37-07AA-CEAD7B9BE45B}"/>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4FFD395-FECB-A2BA-8B8D-FC107E9BC99B}"/>
              </a:ext>
            </a:extLst>
          </p:cNvPr>
          <p:cNvSpPr txBox="1"/>
          <p:nvPr/>
        </p:nvSpPr>
        <p:spPr>
          <a:xfrm>
            <a:off x="658368" y="336542"/>
            <a:ext cx="10140696" cy="461665"/>
          </a:xfrm>
          <a:prstGeom prst="rect">
            <a:avLst/>
          </a:prstGeom>
          <a:noFill/>
        </p:spPr>
        <p:txBody>
          <a:bodyPr wrap="square">
            <a:spAutoFit/>
          </a:bodyPr>
          <a:lstStyle/>
          <a:p>
            <a:r>
              <a:rPr lang="en-US" sz="2400" b="1" noProof="1"/>
              <a:t>CONCLUSION</a:t>
            </a:r>
          </a:p>
        </p:txBody>
      </p:sp>
      <p:sp>
        <p:nvSpPr>
          <p:cNvPr id="2" name="TextBox 1">
            <a:extLst>
              <a:ext uri="{FF2B5EF4-FFF2-40B4-BE49-F238E27FC236}">
                <a16:creationId xmlns:a16="http://schemas.microsoft.com/office/drawing/2014/main" id="{F8AA7671-647D-F795-2322-21ECCB309E6D}"/>
              </a:ext>
            </a:extLst>
          </p:cNvPr>
          <p:cNvSpPr txBox="1"/>
          <p:nvPr/>
        </p:nvSpPr>
        <p:spPr>
          <a:xfrm>
            <a:off x="658368" y="975073"/>
            <a:ext cx="10698480" cy="646331"/>
          </a:xfrm>
          <a:prstGeom prst="rect">
            <a:avLst/>
          </a:prstGeom>
          <a:noFill/>
        </p:spPr>
        <p:txBody>
          <a:bodyPr wrap="square" rtlCol="0">
            <a:spAutoFit/>
          </a:bodyPr>
          <a:lstStyle/>
          <a:p>
            <a:r>
              <a:rPr lang="en-US" noProof="1"/>
              <a:t>Nous avons créé un terminal complet qui ne se contente pas d'afficher des données, mais les interprète intelligemment en temps réel.</a:t>
            </a:r>
            <a:endParaRPr lang="en-US" b="1" noProof="1"/>
          </a:p>
        </p:txBody>
      </p:sp>
      <p:sp>
        <p:nvSpPr>
          <p:cNvPr id="8" name="TextBox 7">
            <a:extLst>
              <a:ext uri="{FF2B5EF4-FFF2-40B4-BE49-F238E27FC236}">
                <a16:creationId xmlns:a16="http://schemas.microsoft.com/office/drawing/2014/main" id="{A4A422CF-7BEC-7CDD-8A08-209E04942C04}"/>
              </a:ext>
            </a:extLst>
          </p:cNvPr>
          <p:cNvSpPr txBox="1"/>
          <p:nvPr/>
        </p:nvSpPr>
        <p:spPr>
          <a:xfrm>
            <a:off x="658368" y="1990736"/>
            <a:ext cx="10698480" cy="646331"/>
          </a:xfrm>
          <a:prstGeom prst="rect">
            <a:avLst/>
          </a:prstGeom>
          <a:noFill/>
        </p:spPr>
        <p:txBody>
          <a:bodyPr wrap="square" rtlCol="0">
            <a:spAutoFit/>
          </a:bodyPr>
          <a:lstStyle/>
          <a:p>
            <a:pPr marL="285750" indent="-285750">
              <a:buFont typeface="Wingdings" panose="05000000000000000000" pitchFamily="2" charset="2"/>
              <a:buChar char="§"/>
            </a:pPr>
            <a:r>
              <a:rPr lang="en-US" noProof="1"/>
              <a:t>Latence ultra-faible entre la réception d'un tick de prix et la mise à jour du signal ML.</a:t>
            </a:r>
          </a:p>
          <a:p>
            <a:pPr marL="285750" indent="-285750">
              <a:buFont typeface="Wingdings" panose="05000000000000000000" pitchFamily="2" charset="2"/>
              <a:buChar char="§"/>
            </a:pPr>
            <a:r>
              <a:rPr lang="en-US" noProof="1"/>
              <a:t>Interface esthétique et fonctionnelle respectant les standards de l'industrie (FinTech).</a:t>
            </a:r>
          </a:p>
        </p:txBody>
      </p:sp>
      <p:sp>
        <p:nvSpPr>
          <p:cNvPr id="9" name="TextBox 8">
            <a:extLst>
              <a:ext uri="{FF2B5EF4-FFF2-40B4-BE49-F238E27FC236}">
                <a16:creationId xmlns:a16="http://schemas.microsoft.com/office/drawing/2014/main" id="{CB075C2F-C52D-943A-DFDB-66E4DB93D84A}"/>
              </a:ext>
            </a:extLst>
          </p:cNvPr>
          <p:cNvSpPr txBox="1"/>
          <p:nvPr/>
        </p:nvSpPr>
        <p:spPr>
          <a:xfrm>
            <a:off x="658368" y="3006399"/>
            <a:ext cx="10698480" cy="923330"/>
          </a:xfrm>
          <a:prstGeom prst="rect">
            <a:avLst/>
          </a:prstGeom>
          <a:noFill/>
        </p:spPr>
        <p:txBody>
          <a:bodyPr wrap="square" rtlCol="0">
            <a:spAutoFit/>
          </a:bodyPr>
          <a:lstStyle/>
          <a:p>
            <a:pPr marL="285750" indent="-285750">
              <a:buFont typeface="Wingdings" panose="05000000000000000000" pitchFamily="2" charset="2"/>
              <a:buChar char="§"/>
            </a:pPr>
            <a:r>
              <a:rPr lang="en-US" noProof="1"/>
              <a:t>Extension à d'autres actifs (Forex, Actions).</a:t>
            </a:r>
          </a:p>
          <a:p>
            <a:pPr marL="285750" indent="-285750">
              <a:buFont typeface="Wingdings" panose="05000000000000000000" pitchFamily="2" charset="2"/>
              <a:buChar char="§"/>
            </a:pPr>
            <a:r>
              <a:rPr lang="en-US" noProof="1"/>
              <a:t>Implémentation du "Backtesting" direct dans l'interface.</a:t>
            </a:r>
          </a:p>
          <a:p>
            <a:pPr marL="285750" indent="-285750">
              <a:buFont typeface="Wingdings" panose="05000000000000000000" pitchFamily="2" charset="2"/>
              <a:buChar char="§"/>
            </a:pPr>
            <a:r>
              <a:rPr lang="en-US" noProof="1"/>
              <a:t>Optimisation des hyperparamètres du modèle en continu (Online Learning).</a:t>
            </a:r>
          </a:p>
        </p:txBody>
      </p:sp>
      <p:sp>
        <p:nvSpPr>
          <p:cNvPr id="10" name="TextBox 9">
            <a:extLst>
              <a:ext uri="{FF2B5EF4-FFF2-40B4-BE49-F238E27FC236}">
                <a16:creationId xmlns:a16="http://schemas.microsoft.com/office/drawing/2014/main" id="{47E414DD-F0D7-5110-1413-1D59DF229758}"/>
              </a:ext>
            </a:extLst>
          </p:cNvPr>
          <p:cNvSpPr txBox="1"/>
          <p:nvPr/>
        </p:nvSpPr>
        <p:spPr>
          <a:xfrm>
            <a:off x="658368" y="2637067"/>
            <a:ext cx="10698480" cy="369332"/>
          </a:xfrm>
          <a:prstGeom prst="rect">
            <a:avLst/>
          </a:prstGeom>
          <a:noFill/>
        </p:spPr>
        <p:txBody>
          <a:bodyPr wrap="square" rtlCol="0">
            <a:spAutoFit/>
          </a:bodyPr>
          <a:lstStyle/>
          <a:p>
            <a:r>
              <a:rPr lang="en-US" b="1" noProof="1"/>
              <a:t>Évolutions Futures :</a:t>
            </a:r>
            <a:endParaRPr lang="en-US" noProof="1"/>
          </a:p>
        </p:txBody>
      </p:sp>
      <p:sp>
        <p:nvSpPr>
          <p:cNvPr id="12" name="TextBox 11">
            <a:extLst>
              <a:ext uri="{FF2B5EF4-FFF2-40B4-BE49-F238E27FC236}">
                <a16:creationId xmlns:a16="http://schemas.microsoft.com/office/drawing/2014/main" id="{15E0A6F3-29B1-AE0E-916B-66CC91E4481F}"/>
              </a:ext>
            </a:extLst>
          </p:cNvPr>
          <p:cNvSpPr txBox="1"/>
          <p:nvPr/>
        </p:nvSpPr>
        <p:spPr>
          <a:xfrm>
            <a:off x="658368" y="1621404"/>
            <a:ext cx="10698480" cy="369332"/>
          </a:xfrm>
          <a:prstGeom prst="rect">
            <a:avLst/>
          </a:prstGeom>
          <a:noFill/>
        </p:spPr>
        <p:txBody>
          <a:bodyPr wrap="square" rtlCol="0">
            <a:spAutoFit/>
          </a:bodyPr>
          <a:lstStyle/>
          <a:p>
            <a:r>
              <a:rPr lang="en-US" b="1" noProof="1"/>
              <a:t>Points Forts :</a:t>
            </a:r>
            <a:endParaRPr lang="en-US" noProof="1"/>
          </a:p>
        </p:txBody>
      </p:sp>
    </p:spTree>
    <p:extLst>
      <p:ext uri="{BB962C8B-B14F-4D97-AF65-F5344CB8AC3E}">
        <p14:creationId xmlns:p14="http://schemas.microsoft.com/office/powerpoint/2010/main" val="1961800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05336-15F7-92EF-BF43-D8E712EA099B}"/>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B93D0A2B-BF5E-4A5B-D499-81DBFFD449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50808" y="399487"/>
            <a:ext cx="2676778" cy="1047060"/>
          </a:xfrm>
          <a:prstGeom prst="rect">
            <a:avLst/>
          </a:prstGeom>
        </p:spPr>
      </p:pic>
      <p:pic>
        <p:nvPicPr>
          <p:cNvPr id="7" name="Picture 6">
            <a:extLst>
              <a:ext uri="{FF2B5EF4-FFF2-40B4-BE49-F238E27FC236}">
                <a16:creationId xmlns:a16="http://schemas.microsoft.com/office/drawing/2014/main" id="{0E3DADD3-494E-4D7E-9184-D1F6F1A23C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118" y="162270"/>
            <a:ext cx="1516608" cy="1521494"/>
          </a:xfrm>
          <a:prstGeom prst="rect">
            <a:avLst/>
          </a:prstGeom>
        </p:spPr>
      </p:pic>
      <p:cxnSp>
        <p:nvCxnSpPr>
          <p:cNvPr id="9" name="Straight Connector 8">
            <a:extLst>
              <a:ext uri="{FF2B5EF4-FFF2-40B4-BE49-F238E27FC236}">
                <a16:creationId xmlns:a16="http://schemas.microsoft.com/office/drawing/2014/main" id="{B8489E5C-7E35-51E2-3B81-3C58433AB7B2}"/>
              </a:ext>
            </a:extLst>
          </p:cNvPr>
          <p:cNvCxnSpPr>
            <a:cxnSpLocks/>
          </p:cNvCxnSpPr>
          <p:nvPr/>
        </p:nvCxnSpPr>
        <p:spPr>
          <a:xfrm>
            <a:off x="749808" y="1847088"/>
            <a:ext cx="10677778"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3" name="Text Box 1">
            <a:extLst>
              <a:ext uri="{FF2B5EF4-FFF2-40B4-BE49-F238E27FC236}">
                <a16:creationId xmlns:a16="http://schemas.microsoft.com/office/drawing/2014/main" id="{92C45DDA-D3BF-609A-A407-A48D132CE10D}"/>
              </a:ext>
            </a:extLst>
          </p:cNvPr>
          <p:cNvSpPr txBox="1"/>
          <p:nvPr/>
        </p:nvSpPr>
        <p:spPr>
          <a:xfrm>
            <a:off x="3594913" y="331806"/>
            <a:ext cx="3759708" cy="118242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Université Chouaib Doukkali</a:t>
            </a:r>
          </a:p>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Faculté des Sciences d'el Jadida</a:t>
            </a:r>
          </a:p>
          <a:p>
            <a:pPr marL="0" marR="0" algn="ctr">
              <a:spcAft>
                <a:spcPts val="800"/>
              </a:spcAft>
              <a:buNone/>
            </a:pPr>
            <a:r>
              <a:rPr lang="en-US" sz="2000" b="1" kern="100" noProof="1">
                <a:effectLst/>
                <a:latin typeface="Agency FB" panose="020B0503020202020204" pitchFamily="34" charset="0"/>
                <a:ea typeface="Aptos" panose="020B0004020202020204" pitchFamily="34" charset="0"/>
                <a:cs typeface="Arial" panose="020B0604020202020204" pitchFamily="34" charset="0"/>
              </a:rPr>
              <a:t>Master 2IAD</a:t>
            </a:r>
          </a:p>
        </p:txBody>
      </p:sp>
      <p:sp>
        <p:nvSpPr>
          <p:cNvPr id="15" name="TextBox 14">
            <a:extLst>
              <a:ext uri="{FF2B5EF4-FFF2-40B4-BE49-F238E27FC236}">
                <a16:creationId xmlns:a16="http://schemas.microsoft.com/office/drawing/2014/main" id="{4885392D-F0C5-ABBD-670F-E4B2AEADB03A}"/>
              </a:ext>
            </a:extLst>
          </p:cNvPr>
          <p:cNvSpPr txBox="1"/>
          <p:nvPr/>
        </p:nvSpPr>
        <p:spPr>
          <a:xfrm>
            <a:off x="1561560" y="2546364"/>
            <a:ext cx="9054274" cy="461665"/>
          </a:xfrm>
          <a:prstGeom prst="rect">
            <a:avLst/>
          </a:prstGeom>
          <a:noFill/>
        </p:spPr>
        <p:txBody>
          <a:bodyPr wrap="none" rtlCol="0">
            <a:spAutoFit/>
          </a:bodyPr>
          <a:lstStyle/>
          <a:p>
            <a:r>
              <a:rPr lang="en-US" sz="2400" b="1" noProof="1"/>
              <a:t>Système de Trading Algorithmique basé sur le Machine Learning</a:t>
            </a:r>
            <a:endParaRPr lang="en-US" sz="4000" b="1" noProof="1"/>
          </a:p>
        </p:txBody>
      </p:sp>
      <p:sp>
        <p:nvSpPr>
          <p:cNvPr id="24" name="TextBox 23">
            <a:extLst>
              <a:ext uri="{FF2B5EF4-FFF2-40B4-BE49-F238E27FC236}">
                <a16:creationId xmlns:a16="http://schemas.microsoft.com/office/drawing/2014/main" id="{7A02471E-2641-3023-272E-05246B16B5A8}"/>
              </a:ext>
            </a:extLst>
          </p:cNvPr>
          <p:cNvSpPr txBox="1"/>
          <p:nvPr/>
        </p:nvSpPr>
        <p:spPr>
          <a:xfrm>
            <a:off x="5376002" y="2038222"/>
            <a:ext cx="1229696" cy="461665"/>
          </a:xfrm>
          <a:prstGeom prst="rect">
            <a:avLst/>
          </a:prstGeom>
          <a:noFill/>
        </p:spPr>
        <p:txBody>
          <a:bodyPr wrap="none" rtlCol="0">
            <a:spAutoFit/>
          </a:bodyPr>
          <a:lstStyle/>
          <a:p>
            <a:r>
              <a:rPr lang="en-US" sz="2400" b="1" i="1" noProof="1">
                <a:solidFill>
                  <a:schemeClr val="bg1">
                    <a:lumMod val="50000"/>
                  </a:schemeClr>
                </a:solidFill>
              </a:rPr>
              <a:t>PROJET</a:t>
            </a:r>
          </a:p>
        </p:txBody>
      </p:sp>
      <p:pic>
        <p:nvPicPr>
          <p:cNvPr id="27" name="Picture 26">
            <a:extLst>
              <a:ext uri="{FF2B5EF4-FFF2-40B4-BE49-F238E27FC236}">
                <a16:creationId xmlns:a16="http://schemas.microsoft.com/office/drawing/2014/main" id="{45EA873E-E9C0-4418-52B8-69DA11A3E23A}"/>
              </a:ext>
            </a:extLst>
          </p:cNvPr>
          <p:cNvPicPr>
            <a:picLocks noChangeAspect="1"/>
          </p:cNvPicPr>
          <p:nvPr/>
        </p:nvPicPr>
        <p:blipFill>
          <a:blip r:embed="rId5">
            <a:extLst>
              <a:ext uri="{28A0092B-C50C-407E-A947-70E740481C1C}">
                <a14:useLocalDpi xmlns:a14="http://schemas.microsoft.com/office/drawing/2010/main" val="0"/>
              </a:ext>
            </a:extLst>
          </a:blip>
          <a:srcRect t="12400" b="3600"/>
          <a:stretch>
            <a:fillRect/>
          </a:stretch>
        </p:blipFill>
        <p:spPr>
          <a:xfrm>
            <a:off x="6655328" y="3460168"/>
            <a:ext cx="4190960" cy="2346936"/>
          </a:xfrm>
          <a:prstGeom prst="rect">
            <a:avLst/>
          </a:prstGeom>
        </p:spPr>
      </p:pic>
      <p:grpSp>
        <p:nvGrpSpPr>
          <p:cNvPr id="30" name="Group 29">
            <a:extLst>
              <a:ext uri="{FF2B5EF4-FFF2-40B4-BE49-F238E27FC236}">
                <a16:creationId xmlns:a16="http://schemas.microsoft.com/office/drawing/2014/main" id="{1E9C0E0F-7E25-3DC6-A1D3-FCA67369CF3A}"/>
              </a:ext>
            </a:extLst>
          </p:cNvPr>
          <p:cNvGrpSpPr/>
          <p:nvPr/>
        </p:nvGrpSpPr>
        <p:grpSpPr>
          <a:xfrm>
            <a:off x="1869542" y="3568805"/>
            <a:ext cx="2203232" cy="2129662"/>
            <a:chOff x="2208974" y="3477840"/>
            <a:chExt cx="2203232" cy="2129662"/>
          </a:xfrm>
        </p:grpSpPr>
        <p:sp>
          <p:nvSpPr>
            <p:cNvPr id="19" name="TextBox 18">
              <a:extLst>
                <a:ext uri="{FF2B5EF4-FFF2-40B4-BE49-F238E27FC236}">
                  <a16:creationId xmlns:a16="http://schemas.microsoft.com/office/drawing/2014/main" id="{660BF5E0-2D56-4867-18B8-4B3298DF1EB8}"/>
                </a:ext>
              </a:extLst>
            </p:cNvPr>
            <p:cNvSpPr txBox="1"/>
            <p:nvPr/>
          </p:nvSpPr>
          <p:spPr>
            <a:xfrm>
              <a:off x="2208974" y="3972283"/>
              <a:ext cx="2203232" cy="646331"/>
            </a:xfrm>
            <a:prstGeom prst="rect">
              <a:avLst/>
            </a:prstGeom>
            <a:noFill/>
          </p:spPr>
          <p:txBody>
            <a:bodyPr wrap="none" rtlCol="0">
              <a:spAutoFit/>
            </a:bodyPr>
            <a:lstStyle/>
            <a:p>
              <a:r>
                <a:rPr lang="en-US" noProof="1"/>
                <a:t>Hassan EL AZZOUZI </a:t>
              </a:r>
            </a:p>
            <a:p>
              <a:r>
                <a:rPr lang="en-US" noProof="1"/>
                <a:t>Yassine CHOUAYT</a:t>
              </a:r>
            </a:p>
          </p:txBody>
        </p:sp>
        <p:sp>
          <p:nvSpPr>
            <p:cNvPr id="20" name="TextBox 19">
              <a:extLst>
                <a:ext uri="{FF2B5EF4-FFF2-40B4-BE49-F238E27FC236}">
                  <a16:creationId xmlns:a16="http://schemas.microsoft.com/office/drawing/2014/main" id="{8B24C8D2-3D57-E96A-02C8-38F3FEC6516D}"/>
                </a:ext>
              </a:extLst>
            </p:cNvPr>
            <p:cNvSpPr txBox="1"/>
            <p:nvPr/>
          </p:nvSpPr>
          <p:spPr>
            <a:xfrm>
              <a:off x="2208974" y="5238170"/>
              <a:ext cx="2009974" cy="369332"/>
            </a:xfrm>
            <a:prstGeom prst="rect">
              <a:avLst/>
            </a:prstGeom>
            <a:noFill/>
          </p:spPr>
          <p:txBody>
            <a:bodyPr wrap="none" rtlCol="0">
              <a:spAutoFit/>
            </a:bodyPr>
            <a:lstStyle/>
            <a:p>
              <a:r>
                <a:rPr lang="en-US" noProof="1"/>
                <a:t>Pr. A. BENIHSAINE</a:t>
              </a:r>
            </a:p>
          </p:txBody>
        </p:sp>
        <p:sp>
          <p:nvSpPr>
            <p:cNvPr id="28" name="Rectangle: Diagonal Corners Rounded 27">
              <a:extLst>
                <a:ext uri="{FF2B5EF4-FFF2-40B4-BE49-F238E27FC236}">
                  <a16:creationId xmlns:a16="http://schemas.microsoft.com/office/drawing/2014/main" id="{57C6969D-335A-CE77-E6EF-593D890D3DC2}"/>
                </a:ext>
              </a:extLst>
            </p:cNvPr>
            <p:cNvSpPr/>
            <p:nvPr/>
          </p:nvSpPr>
          <p:spPr>
            <a:xfrm>
              <a:off x="2208974" y="3477840"/>
              <a:ext cx="2121408" cy="369331"/>
            </a:xfrm>
            <a:prstGeom prst="round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1">
                  <a:solidFill>
                    <a:schemeClr val="tx2">
                      <a:lumMod val="10000"/>
                      <a:lumOff val="90000"/>
                    </a:schemeClr>
                  </a:solidFill>
                </a:rPr>
                <a:t>Réalisé par:</a:t>
              </a:r>
            </a:p>
          </p:txBody>
        </p:sp>
        <p:sp>
          <p:nvSpPr>
            <p:cNvPr id="29" name="Rectangle: Diagonal Corners Rounded 28">
              <a:extLst>
                <a:ext uri="{FF2B5EF4-FFF2-40B4-BE49-F238E27FC236}">
                  <a16:creationId xmlns:a16="http://schemas.microsoft.com/office/drawing/2014/main" id="{ABAA6D06-9D56-EFA7-DE8E-18439FB15D13}"/>
                </a:ext>
              </a:extLst>
            </p:cNvPr>
            <p:cNvSpPr/>
            <p:nvPr/>
          </p:nvSpPr>
          <p:spPr>
            <a:xfrm>
              <a:off x="2208974" y="4743726"/>
              <a:ext cx="2121408" cy="369331"/>
            </a:xfrm>
            <a:prstGeom prst="round2DiagRect">
              <a:avLst/>
            </a:prstGeom>
            <a:solidFill>
              <a:srgbClr val="83A5A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1">
                  <a:solidFill>
                    <a:schemeClr val="tx2">
                      <a:lumMod val="10000"/>
                      <a:lumOff val="90000"/>
                    </a:schemeClr>
                  </a:solidFill>
                </a:rPr>
                <a:t>Encadré par:</a:t>
              </a:r>
            </a:p>
          </p:txBody>
        </p:sp>
      </p:grpSp>
      <p:sp>
        <p:nvSpPr>
          <p:cNvPr id="22" name="TextBox 21">
            <a:extLst>
              <a:ext uri="{FF2B5EF4-FFF2-40B4-BE49-F238E27FC236}">
                <a16:creationId xmlns:a16="http://schemas.microsoft.com/office/drawing/2014/main" id="{294E993A-361E-C4A3-B26A-8C87578B75ED}"/>
              </a:ext>
            </a:extLst>
          </p:cNvPr>
          <p:cNvSpPr txBox="1"/>
          <p:nvPr/>
        </p:nvSpPr>
        <p:spPr>
          <a:xfrm>
            <a:off x="4681036" y="6094526"/>
            <a:ext cx="2815322" cy="369332"/>
          </a:xfrm>
          <a:prstGeom prst="rect">
            <a:avLst/>
          </a:prstGeom>
          <a:noFill/>
        </p:spPr>
        <p:txBody>
          <a:bodyPr wrap="none" rtlCol="0">
            <a:spAutoFit/>
          </a:bodyPr>
          <a:lstStyle/>
          <a:p>
            <a:r>
              <a:rPr lang="en-US" i="1" noProof="1"/>
              <a:t>MASTER 2IAD  - 2025/2026</a:t>
            </a:r>
          </a:p>
        </p:txBody>
      </p:sp>
      <p:cxnSp>
        <p:nvCxnSpPr>
          <p:cNvPr id="32" name="Straight Connector 31">
            <a:extLst>
              <a:ext uri="{FF2B5EF4-FFF2-40B4-BE49-F238E27FC236}">
                <a16:creationId xmlns:a16="http://schemas.microsoft.com/office/drawing/2014/main" id="{DED43DB4-6C84-0A63-9338-FD68A03D2322}"/>
              </a:ext>
            </a:extLst>
          </p:cNvPr>
          <p:cNvCxnSpPr>
            <a:cxnSpLocks/>
          </p:cNvCxnSpPr>
          <p:nvPr/>
        </p:nvCxnSpPr>
        <p:spPr>
          <a:xfrm>
            <a:off x="5594921" y="3568805"/>
            <a:ext cx="0" cy="2129662"/>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2087C7FF-6DB2-6CC6-E9B0-3D18133B9964}"/>
              </a:ext>
            </a:extLst>
          </p:cNvPr>
          <p:cNvSpPr txBox="1"/>
          <p:nvPr/>
        </p:nvSpPr>
        <p:spPr>
          <a:xfrm>
            <a:off x="2751077" y="2952251"/>
            <a:ext cx="6689845" cy="369332"/>
          </a:xfrm>
          <a:prstGeom prst="rect">
            <a:avLst/>
          </a:prstGeom>
          <a:noFill/>
        </p:spPr>
        <p:txBody>
          <a:bodyPr wrap="none" rtlCol="0">
            <a:spAutoFit/>
          </a:bodyPr>
          <a:lstStyle/>
          <a:p>
            <a:r>
              <a:rPr lang="en-US" b="1" i="1" dirty="0"/>
              <a:t>Adaptation des </a:t>
            </a:r>
            <a:r>
              <a:rPr lang="en-US" b="1" i="1" dirty="0" err="1"/>
              <a:t>Stratégies</a:t>
            </a:r>
            <a:r>
              <a:rPr lang="en-US" b="1" i="1" dirty="0"/>
              <a:t> ML au Marché des Crypto-</a:t>
            </a:r>
            <a:r>
              <a:rPr lang="en-US" b="1" i="1" dirty="0" err="1"/>
              <a:t>monnaies</a:t>
            </a:r>
            <a:endParaRPr lang="en-US" sz="2400" b="1" noProof="1"/>
          </a:p>
        </p:txBody>
      </p:sp>
      <p:sp>
        <p:nvSpPr>
          <p:cNvPr id="3" name="TextBox 2">
            <a:extLst>
              <a:ext uri="{FF2B5EF4-FFF2-40B4-BE49-F238E27FC236}">
                <a16:creationId xmlns:a16="http://schemas.microsoft.com/office/drawing/2014/main" id="{3AC5F5E2-3922-272D-EF1F-397FC0CCD7F0}"/>
              </a:ext>
            </a:extLst>
          </p:cNvPr>
          <p:cNvSpPr txBox="1"/>
          <p:nvPr/>
        </p:nvSpPr>
        <p:spPr>
          <a:xfrm>
            <a:off x="153899" y="6326398"/>
            <a:ext cx="891654" cy="369332"/>
          </a:xfrm>
          <a:prstGeom prst="rect">
            <a:avLst/>
          </a:prstGeom>
          <a:noFill/>
        </p:spPr>
        <p:txBody>
          <a:bodyPr wrap="none" rtlCol="0">
            <a:spAutoFit/>
          </a:bodyPr>
          <a:lstStyle/>
          <a:p>
            <a:r>
              <a:rPr lang="en-US" b="1" i="1" noProof="1">
                <a:solidFill>
                  <a:srgbClr val="FF0000"/>
                </a:solidFill>
              </a:rPr>
              <a:t>PART 4</a:t>
            </a:r>
          </a:p>
        </p:txBody>
      </p:sp>
    </p:spTree>
    <p:extLst>
      <p:ext uri="{BB962C8B-B14F-4D97-AF65-F5344CB8AC3E}">
        <p14:creationId xmlns:p14="http://schemas.microsoft.com/office/powerpoint/2010/main" val="2641510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30F7-D56F-07EA-452E-3780186B348F}"/>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BE73FC8-22FF-3BCE-4FF7-CBF879639CCE}"/>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8BAEA4F-8B3C-9A08-8E12-FE5C4B38F029}"/>
              </a:ext>
            </a:extLst>
          </p:cNvPr>
          <p:cNvSpPr txBox="1"/>
          <p:nvPr/>
        </p:nvSpPr>
        <p:spPr>
          <a:xfrm>
            <a:off x="658368" y="336542"/>
            <a:ext cx="10140696" cy="461665"/>
          </a:xfrm>
          <a:prstGeom prst="rect">
            <a:avLst/>
          </a:prstGeom>
          <a:noFill/>
        </p:spPr>
        <p:txBody>
          <a:bodyPr wrap="square">
            <a:spAutoFit/>
          </a:bodyPr>
          <a:lstStyle/>
          <a:p>
            <a:r>
              <a:rPr lang="en-US" sz="2400" b="1" noProof="1"/>
              <a:t>INTRODUCTION</a:t>
            </a:r>
          </a:p>
        </p:txBody>
      </p:sp>
      <p:sp>
        <p:nvSpPr>
          <p:cNvPr id="2" name="TextBox 1">
            <a:extLst>
              <a:ext uri="{FF2B5EF4-FFF2-40B4-BE49-F238E27FC236}">
                <a16:creationId xmlns:a16="http://schemas.microsoft.com/office/drawing/2014/main" id="{86406856-9EC6-DA89-7F8B-E3E50C08735A}"/>
              </a:ext>
            </a:extLst>
          </p:cNvPr>
          <p:cNvSpPr txBox="1"/>
          <p:nvPr/>
        </p:nvSpPr>
        <p:spPr>
          <a:xfrm>
            <a:off x="658368" y="1103089"/>
            <a:ext cx="10698480" cy="1200329"/>
          </a:xfrm>
          <a:prstGeom prst="rect">
            <a:avLst/>
          </a:prstGeom>
          <a:noFill/>
        </p:spPr>
        <p:txBody>
          <a:bodyPr wrap="square" rtlCol="0">
            <a:spAutoFit/>
          </a:bodyPr>
          <a:lstStyle/>
          <a:p>
            <a:r>
              <a:rPr lang="fr-FR" dirty="0"/>
              <a:t>Ce projet s'inscrit dans le cadre du Master 2IAD et explore l'adaptation des méthodologies de trading algorithmique, telles que définies par Stefan Jansen, aux spécificités du marché des </a:t>
            </a:r>
            <a:r>
              <a:rPr lang="fr-FR" dirty="0" err="1"/>
              <a:t>crypto-actifs</a:t>
            </a:r>
            <a:r>
              <a:rPr lang="fr-FR" dirty="0"/>
              <a:t>. À travers une démarche itérative, nous avons construit, testé et amélioré un pipeline ML complet — de la collecte de données en temps réel jusqu'à l'exécution intelligente des ordres.</a:t>
            </a:r>
            <a:endParaRPr lang="en-US" dirty="0"/>
          </a:p>
        </p:txBody>
      </p:sp>
      <p:sp>
        <p:nvSpPr>
          <p:cNvPr id="9" name="TextBox 8">
            <a:extLst>
              <a:ext uri="{FF2B5EF4-FFF2-40B4-BE49-F238E27FC236}">
                <a16:creationId xmlns:a16="http://schemas.microsoft.com/office/drawing/2014/main" id="{12C91B07-C8EC-F325-CD65-C276FBF6128A}"/>
              </a:ext>
            </a:extLst>
          </p:cNvPr>
          <p:cNvSpPr txBox="1"/>
          <p:nvPr/>
        </p:nvSpPr>
        <p:spPr>
          <a:xfrm>
            <a:off x="658368" y="2704204"/>
            <a:ext cx="10698480" cy="1200329"/>
          </a:xfrm>
          <a:prstGeom prst="rect">
            <a:avLst/>
          </a:prstGeom>
          <a:noFill/>
        </p:spPr>
        <p:txBody>
          <a:bodyPr wrap="square" rtlCol="0">
            <a:spAutoFit/>
          </a:bodyPr>
          <a:lstStyle/>
          <a:p>
            <a:r>
              <a:rPr lang="en-US" dirty="0"/>
              <a:t>Le </a:t>
            </a:r>
            <a:r>
              <a:rPr lang="en-US" dirty="0" err="1"/>
              <a:t>marché</a:t>
            </a:r>
            <a:r>
              <a:rPr lang="en-US" dirty="0"/>
              <a:t> des </a:t>
            </a:r>
            <a:r>
              <a:rPr lang="en-US" dirty="0" err="1"/>
              <a:t>cryptoactifs</a:t>
            </a:r>
            <a:r>
              <a:rPr lang="en-US" dirty="0"/>
              <a:t> </a:t>
            </a:r>
            <a:r>
              <a:rPr lang="en-US" dirty="0" err="1"/>
              <a:t>présente</a:t>
            </a:r>
            <a:r>
              <a:rPr lang="en-US" dirty="0"/>
              <a:t> des </a:t>
            </a:r>
            <a:r>
              <a:rPr lang="en-US" dirty="0" err="1"/>
              <a:t>défis</a:t>
            </a:r>
            <a:r>
              <a:rPr lang="en-US" dirty="0"/>
              <a:t> </a:t>
            </a:r>
            <a:r>
              <a:rPr lang="en-US" dirty="0" err="1"/>
              <a:t>uniques</a:t>
            </a:r>
            <a:r>
              <a:rPr lang="en-US" dirty="0"/>
              <a:t> par rapport aux </a:t>
            </a:r>
            <a:r>
              <a:rPr lang="en-US" dirty="0" err="1"/>
              <a:t>marchés</a:t>
            </a:r>
            <a:r>
              <a:rPr lang="en-US" dirty="0"/>
              <a:t> </a:t>
            </a:r>
            <a:r>
              <a:rPr lang="en-US" dirty="0" err="1"/>
              <a:t>boursiers</a:t>
            </a:r>
            <a:r>
              <a:rPr lang="en-US" dirty="0"/>
              <a:t> </a:t>
            </a:r>
            <a:r>
              <a:rPr lang="en-US" dirty="0" err="1"/>
              <a:t>traditionnels</a:t>
            </a:r>
            <a:r>
              <a:rPr lang="en-US" dirty="0"/>
              <a:t> : </a:t>
            </a:r>
            <a:r>
              <a:rPr lang="en-US" dirty="0" err="1"/>
              <a:t>une</a:t>
            </a:r>
            <a:r>
              <a:rPr lang="en-US" dirty="0"/>
              <a:t> </a:t>
            </a:r>
            <a:r>
              <a:rPr lang="en-US" b="1" i="1" dirty="0" err="1"/>
              <a:t>volatilité</a:t>
            </a:r>
            <a:r>
              <a:rPr lang="en-US" b="1" i="1" dirty="0"/>
              <a:t> </a:t>
            </a:r>
            <a:r>
              <a:rPr lang="en-US" b="1" i="1" dirty="0" err="1"/>
              <a:t>extrême</a:t>
            </a:r>
            <a:r>
              <a:rPr lang="en-US" dirty="0"/>
              <a:t>, </a:t>
            </a:r>
            <a:r>
              <a:rPr lang="en-US" dirty="0" err="1"/>
              <a:t>une</a:t>
            </a:r>
            <a:r>
              <a:rPr lang="en-US" dirty="0"/>
              <a:t> </a:t>
            </a:r>
            <a:r>
              <a:rPr lang="en-US" b="1" i="1" dirty="0" err="1"/>
              <a:t>cotation</a:t>
            </a:r>
            <a:r>
              <a:rPr lang="en-US" b="1" i="1" dirty="0"/>
              <a:t> 24/7</a:t>
            </a:r>
            <a:r>
              <a:rPr lang="en-US" dirty="0"/>
              <a:t>, et </a:t>
            </a:r>
            <a:r>
              <a:rPr lang="en-US" dirty="0" err="1"/>
              <a:t>une</a:t>
            </a:r>
            <a:r>
              <a:rPr lang="en-US" dirty="0"/>
              <a:t> </a:t>
            </a:r>
            <a:r>
              <a:rPr lang="en-US" b="1" i="1" dirty="0"/>
              <a:t>structure de frais </a:t>
            </a:r>
            <a:r>
              <a:rPr lang="en-US" b="1" i="1" dirty="0" err="1"/>
              <a:t>élevée</a:t>
            </a:r>
            <a:r>
              <a:rPr lang="en-US" dirty="0"/>
              <a:t>. Ce document </a:t>
            </a:r>
            <a:r>
              <a:rPr lang="en-US" dirty="0" err="1"/>
              <a:t>détaille</a:t>
            </a:r>
            <a:r>
              <a:rPr lang="en-US" dirty="0"/>
              <a:t> </a:t>
            </a:r>
            <a:r>
              <a:rPr lang="en-US" dirty="0" err="1"/>
              <a:t>notre</a:t>
            </a:r>
            <a:r>
              <a:rPr lang="en-US" dirty="0"/>
              <a:t> </a:t>
            </a:r>
            <a:r>
              <a:rPr lang="en-US" dirty="0" err="1"/>
              <a:t>parcours</a:t>
            </a:r>
            <a:r>
              <a:rPr lang="en-US" dirty="0"/>
              <a:t>, de </a:t>
            </a:r>
            <a:r>
              <a:rPr lang="en-US" dirty="0" err="1"/>
              <a:t>l'implémentation</a:t>
            </a:r>
            <a:r>
              <a:rPr lang="en-US" dirty="0"/>
              <a:t> </a:t>
            </a:r>
            <a:r>
              <a:rPr lang="en-US" dirty="0" err="1"/>
              <a:t>initiale</a:t>
            </a:r>
            <a:r>
              <a:rPr lang="en-US" dirty="0"/>
              <a:t> des </a:t>
            </a:r>
            <a:r>
              <a:rPr lang="en-US" dirty="0" err="1"/>
              <a:t>stratégies</a:t>
            </a:r>
            <a:r>
              <a:rPr lang="en-US" dirty="0"/>
              <a:t> </a:t>
            </a:r>
            <a:r>
              <a:rPr lang="en-US" dirty="0" err="1"/>
              <a:t>boursières</a:t>
            </a:r>
            <a:r>
              <a:rPr lang="en-US" dirty="0"/>
              <a:t> </a:t>
            </a:r>
            <a:r>
              <a:rPr lang="en-US" dirty="0" err="1"/>
              <a:t>classiques</a:t>
            </a:r>
            <a:r>
              <a:rPr lang="en-US" dirty="0"/>
              <a:t> à </a:t>
            </a:r>
            <a:r>
              <a:rPr lang="en-US" dirty="0" err="1"/>
              <a:t>leur</a:t>
            </a:r>
            <a:r>
              <a:rPr lang="en-US" dirty="0"/>
              <a:t> </a:t>
            </a:r>
            <a:r>
              <a:rPr lang="en-US" dirty="0" err="1"/>
              <a:t>évolution</a:t>
            </a:r>
            <a:r>
              <a:rPr lang="en-US" dirty="0"/>
              <a:t> vers </a:t>
            </a:r>
            <a:r>
              <a:rPr lang="en-US" dirty="0" err="1"/>
              <a:t>une</a:t>
            </a:r>
            <a:r>
              <a:rPr lang="en-US" dirty="0"/>
              <a:t> architecture </a:t>
            </a:r>
            <a:r>
              <a:rPr lang="en-US" dirty="0" err="1"/>
              <a:t>hybride</a:t>
            </a:r>
            <a:r>
              <a:rPr lang="en-US" dirty="0"/>
              <a:t> "Fusion" </a:t>
            </a:r>
            <a:r>
              <a:rPr lang="en-US" dirty="0" err="1"/>
              <a:t>intégrant</a:t>
            </a:r>
            <a:r>
              <a:rPr lang="en-US" dirty="0"/>
              <a:t> le </a:t>
            </a:r>
            <a:r>
              <a:rPr lang="en-US" dirty="0" err="1"/>
              <a:t>Traitement</a:t>
            </a:r>
            <a:r>
              <a:rPr lang="en-US" dirty="0"/>
              <a:t> du </a:t>
            </a:r>
            <a:r>
              <a:rPr lang="en-US" dirty="0" err="1"/>
              <a:t>Langage</a:t>
            </a:r>
            <a:r>
              <a:rPr lang="en-US" dirty="0"/>
              <a:t> Naturel (NLP).</a:t>
            </a:r>
          </a:p>
        </p:txBody>
      </p:sp>
      <p:sp>
        <p:nvSpPr>
          <p:cNvPr id="4" name="TextBox 3">
            <a:extLst>
              <a:ext uri="{FF2B5EF4-FFF2-40B4-BE49-F238E27FC236}">
                <a16:creationId xmlns:a16="http://schemas.microsoft.com/office/drawing/2014/main" id="{7FB0829D-58C7-FA19-15E8-663DE9008D5D}"/>
              </a:ext>
            </a:extLst>
          </p:cNvPr>
          <p:cNvSpPr txBox="1"/>
          <p:nvPr/>
        </p:nvSpPr>
        <p:spPr>
          <a:xfrm>
            <a:off x="658368" y="2303418"/>
            <a:ext cx="10698480" cy="369332"/>
          </a:xfrm>
          <a:prstGeom prst="rect">
            <a:avLst/>
          </a:prstGeom>
          <a:noFill/>
        </p:spPr>
        <p:txBody>
          <a:bodyPr wrap="square" rtlCol="0">
            <a:spAutoFit/>
          </a:bodyPr>
          <a:lstStyle/>
          <a:p>
            <a:r>
              <a:rPr lang="fr-FR" b="1" dirty="0"/>
              <a:t>Pourquoi le marché crypto est-il unique ?</a:t>
            </a:r>
            <a:endParaRPr lang="en-US" b="1" dirty="0"/>
          </a:p>
        </p:txBody>
      </p:sp>
      <p:sp>
        <p:nvSpPr>
          <p:cNvPr id="5" name="TextBox 4">
            <a:extLst>
              <a:ext uri="{FF2B5EF4-FFF2-40B4-BE49-F238E27FC236}">
                <a16:creationId xmlns:a16="http://schemas.microsoft.com/office/drawing/2014/main" id="{F8122F8C-2AC3-7B44-B6AF-5183243DA731}"/>
              </a:ext>
            </a:extLst>
          </p:cNvPr>
          <p:cNvSpPr txBox="1"/>
          <p:nvPr/>
        </p:nvSpPr>
        <p:spPr>
          <a:xfrm>
            <a:off x="658368" y="6152126"/>
            <a:ext cx="10698480" cy="369332"/>
          </a:xfrm>
          <a:prstGeom prst="rect">
            <a:avLst/>
          </a:prstGeom>
          <a:noFill/>
        </p:spPr>
        <p:txBody>
          <a:bodyPr wrap="square" rtlCol="0">
            <a:spAutoFit/>
          </a:bodyPr>
          <a:lstStyle/>
          <a:p>
            <a:r>
              <a:rPr lang="fr-FR" i="1" dirty="0"/>
              <a:t>**Un marché qui brise les règles du trading traditionnel</a:t>
            </a:r>
            <a:endParaRPr lang="en-US" i="1" dirty="0"/>
          </a:p>
        </p:txBody>
      </p:sp>
    </p:spTree>
    <p:extLst>
      <p:ext uri="{BB962C8B-B14F-4D97-AF65-F5344CB8AC3E}">
        <p14:creationId xmlns:p14="http://schemas.microsoft.com/office/powerpoint/2010/main" val="9772073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0635-9907-9CB1-5347-E031ABDE3442}"/>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A15F277-BA6F-FE9B-5F06-5C01E4308CC4}"/>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560D346-07AF-44C2-38F7-7B760EC89DCE}"/>
              </a:ext>
            </a:extLst>
          </p:cNvPr>
          <p:cNvSpPr txBox="1"/>
          <p:nvPr/>
        </p:nvSpPr>
        <p:spPr>
          <a:xfrm>
            <a:off x="658368" y="336542"/>
            <a:ext cx="10140696" cy="461665"/>
          </a:xfrm>
          <a:prstGeom prst="rect">
            <a:avLst/>
          </a:prstGeom>
          <a:noFill/>
        </p:spPr>
        <p:txBody>
          <a:bodyPr wrap="square">
            <a:spAutoFit/>
          </a:bodyPr>
          <a:lstStyle/>
          <a:p>
            <a:r>
              <a:rPr lang="en-US" sz="2400" b="1" dirty="0"/>
              <a:t>L'APPROCHE STEFAN JANSEN</a:t>
            </a:r>
            <a:endParaRPr lang="en-US" sz="2400" b="1" noProof="1"/>
          </a:p>
        </p:txBody>
      </p:sp>
      <p:sp>
        <p:nvSpPr>
          <p:cNvPr id="2" name="TextBox 1">
            <a:extLst>
              <a:ext uri="{FF2B5EF4-FFF2-40B4-BE49-F238E27FC236}">
                <a16:creationId xmlns:a16="http://schemas.microsoft.com/office/drawing/2014/main" id="{250A3987-79E0-A376-DDB2-8F7AED1EC74E}"/>
              </a:ext>
            </a:extLst>
          </p:cNvPr>
          <p:cNvSpPr txBox="1"/>
          <p:nvPr/>
        </p:nvSpPr>
        <p:spPr>
          <a:xfrm>
            <a:off x="658368" y="1103089"/>
            <a:ext cx="10698480" cy="923330"/>
          </a:xfrm>
          <a:prstGeom prst="rect">
            <a:avLst/>
          </a:prstGeom>
          <a:noFill/>
        </p:spPr>
        <p:txBody>
          <a:bodyPr wrap="square" rtlCol="0">
            <a:spAutoFit/>
          </a:bodyPr>
          <a:lstStyle/>
          <a:p>
            <a:r>
              <a:rPr lang="en-US" dirty="0"/>
              <a:t>Notre point de </a:t>
            </a:r>
            <a:r>
              <a:rPr lang="en-US" dirty="0" err="1"/>
              <a:t>départ</a:t>
            </a:r>
            <a:r>
              <a:rPr lang="en-US" dirty="0"/>
              <a:t> </a:t>
            </a:r>
            <a:r>
              <a:rPr lang="en-US" dirty="0" err="1"/>
              <a:t>fut</a:t>
            </a:r>
            <a:r>
              <a:rPr lang="en-US" dirty="0"/>
              <a:t> </a:t>
            </a:r>
            <a:r>
              <a:rPr lang="en-US" dirty="0" err="1"/>
              <a:t>l'implémentation</a:t>
            </a:r>
            <a:r>
              <a:rPr lang="en-US" dirty="0"/>
              <a:t> </a:t>
            </a:r>
            <a:r>
              <a:rPr lang="en-US" dirty="0" err="1"/>
              <a:t>rigoureuse</a:t>
            </a:r>
            <a:r>
              <a:rPr lang="en-US" dirty="0"/>
              <a:t> du workflow </a:t>
            </a:r>
            <a:r>
              <a:rPr lang="en-US" dirty="0" err="1"/>
              <a:t>décrit</a:t>
            </a:r>
            <a:r>
              <a:rPr lang="en-US" dirty="0"/>
              <a:t> par Stefan Jansen dans "Machine Learning for Algorithmic Trading". Cette </a:t>
            </a:r>
            <a:r>
              <a:rPr lang="en-US" dirty="0" err="1"/>
              <a:t>approche</a:t>
            </a:r>
            <a:r>
              <a:rPr lang="en-US" dirty="0"/>
              <a:t>, </a:t>
            </a:r>
            <a:r>
              <a:rPr lang="en-US" dirty="0" err="1"/>
              <a:t>conçue</a:t>
            </a:r>
            <a:r>
              <a:rPr lang="en-US" dirty="0"/>
              <a:t> pour les </a:t>
            </a:r>
            <a:r>
              <a:rPr lang="en-US" dirty="0" err="1"/>
              <a:t>marchés</a:t>
            </a:r>
            <a:r>
              <a:rPr lang="en-US" dirty="0"/>
              <a:t> actions, repose sur des principes </a:t>
            </a:r>
            <a:r>
              <a:rPr lang="en-US" dirty="0" err="1"/>
              <a:t>fondamentaux</a:t>
            </a:r>
            <a:r>
              <a:rPr lang="en-US" dirty="0"/>
              <a:t> </a:t>
            </a:r>
            <a:r>
              <a:rPr lang="en-US" dirty="0" err="1"/>
              <a:t>que</a:t>
            </a:r>
            <a:r>
              <a:rPr lang="en-US" dirty="0"/>
              <a:t> nous </a:t>
            </a:r>
            <a:r>
              <a:rPr lang="en-US" dirty="0" err="1"/>
              <a:t>avons</a:t>
            </a:r>
            <a:r>
              <a:rPr lang="en-US" dirty="0"/>
              <a:t> </a:t>
            </a:r>
            <a:r>
              <a:rPr lang="en-US" dirty="0" err="1"/>
              <a:t>d'abord</a:t>
            </a:r>
            <a:r>
              <a:rPr lang="en-US" dirty="0"/>
              <a:t> </a:t>
            </a:r>
            <a:r>
              <a:rPr lang="en-US" dirty="0" err="1"/>
              <a:t>validés</a:t>
            </a:r>
            <a:r>
              <a:rPr lang="en-US" dirty="0"/>
              <a:t>.</a:t>
            </a:r>
          </a:p>
        </p:txBody>
      </p:sp>
      <p:sp>
        <p:nvSpPr>
          <p:cNvPr id="9" name="TextBox 8">
            <a:extLst>
              <a:ext uri="{FF2B5EF4-FFF2-40B4-BE49-F238E27FC236}">
                <a16:creationId xmlns:a16="http://schemas.microsoft.com/office/drawing/2014/main" id="{1D2E8AB3-4587-BA2C-8B57-1D884D51E61C}"/>
              </a:ext>
            </a:extLst>
          </p:cNvPr>
          <p:cNvSpPr txBox="1"/>
          <p:nvPr/>
        </p:nvSpPr>
        <p:spPr>
          <a:xfrm>
            <a:off x="658368" y="2458659"/>
            <a:ext cx="10698480" cy="923330"/>
          </a:xfrm>
          <a:prstGeom prst="rect">
            <a:avLst/>
          </a:prstGeom>
          <a:noFill/>
        </p:spPr>
        <p:txBody>
          <a:bodyPr wrap="square" rtlCol="0">
            <a:spAutoFit/>
          </a:bodyPr>
          <a:lstStyle/>
          <a:p>
            <a:pPr marL="285750" indent="-285750">
              <a:buFont typeface="Wingdings" panose="05000000000000000000" pitchFamily="2" charset="2"/>
              <a:buChar char="§"/>
            </a:pPr>
            <a:r>
              <a:rPr lang="fr-FR" dirty="0"/>
              <a:t>Précision cible : 52% – 54% (pas 90%+)</a:t>
            </a:r>
          </a:p>
          <a:p>
            <a:pPr marL="285750" indent="-285750">
              <a:buFont typeface="Wingdings" panose="05000000000000000000" pitchFamily="2" charset="2"/>
              <a:buChar char="§"/>
            </a:pPr>
            <a:r>
              <a:rPr lang="fr-FR" dirty="0"/>
              <a:t>Métrique principale : Coefficient d'Information (IC) → cible 0.05 à 0.10</a:t>
            </a:r>
          </a:p>
          <a:p>
            <a:pPr marL="285750" indent="-285750">
              <a:buFont typeface="Wingdings" panose="05000000000000000000" pitchFamily="2" charset="2"/>
              <a:buChar char="§"/>
            </a:pPr>
            <a:r>
              <a:rPr lang="fr-FR" dirty="0" err="1"/>
              <a:t>Overfitting</a:t>
            </a:r>
            <a:r>
              <a:rPr lang="fr-FR" dirty="0"/>
              <a:t> = ennemi numéro 1 en finance quantitative</a:t>
            </a:r>
            <a:endParaRPr lang="en-US" dirty="0"/>
          </a:p>
        </p:txBody>
      </p:sp>
      <p:sp>
        <p:nvSpPr>
          <p:cNvPr id="4" name="TextBox 3">
            <a:extLst>
              <a:ext uri="{FF2B5EF4-FFF2-40B4-BE49-F238E27FC236}">
                <a16:creationId xmlns:a16="http://schemas.microsoft.com/office/drawing/2014/main" id="{B32AF91F-A461-B3AA-8FEC-C0FE1EABACAA}"/>
              </a:ext>
            </a:extLst>
          </p:cNvPr>
          <p:cNvSpPr txBox="1"/>
          <p:nvPr/>
        </p:nvSpPr>
        <p:spPr>
          <a:xfrm>
            <a:off x="658368" y="2057873"/>
            <a:ext cx="10698480" cy="369332"/>
          </a:xfrm>
          <a:prstGeom prst="rect">
            <a:avLst/>
          </a:prstGeom>
          <a:noFill/>
        </p:spPr>
        <p:txBody>
          <a:bodyPr wrap="square" rtlCol="0">
            <a:spAutoFit/>
          </a:bodyPr>
          <a:lstStyle/>
          <a:p>
            <a:r>
              <a:rPr lang="en-US" b="1" dirty="0"/>
              <a:t>Philosophie </a:t>
            </a:r>
            <a:r>
              <a:rPr lang="en-US" b="1" dirty="0" err="1"/>
              <a:t>clé</a:t>
            </a:r>
            <a:r>
              <a:rPr lang="en-US" b="1" dirty="0"/>
              <a:t>:</a:t>
            </a:r>
          </a:p>
        </p:txBody>
      </p:sp>
    </p:spTree>
    <p:extLst>
      <p:ext uri="{BB962C8B-B14F-4D97-AF65-F5344CB8AC3E}">
        <p14:creationId xmlns:p14="http://schemas.microsoft.com/office/powerpoint/2010/main" val="19030699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15D0-410A-BD3D-D446-93C2D111DAF8}"/>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F5DEDF3-2268-3F2B-BAF4-9A9C55887A2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A7861F7-7217-8954-C079-06866FC53AD5}"/>
              </a:ext>
            </a:extLst>
          </p:cNvPr>
          <p:cNvSpPr txBox="1"/>
          <p:nvPr/>
        </p:nvSpPr>
        <p:spPr>
          <a:xfrm>
            <a:off x="658368" y="336542"/>
            <a:ext cx="10140696" cy="461665"/>
          </a:xfrm>
          <a:prstGeom prst="rect">
            <a:avLst/>
          </a:prstGeom>
          <a:noFill/>
        </p:spPr>
        <p:txBody>
          <a:bodyPr wrap="square">
            <a:spAutoFit/>
          </a:bodyPr>
          <a:lstStyle/>
          <a:p>
            <a:r>
              <a:rPr lang="en-US" sz="2400" b="1" dirty="0"/>
              <a:t>ARCHITECTURE TECHNIQUE</a:t>
            </a:r>
            <a:endParaRPr lang="en-US" sz="2400" b="1" noProof="1"/>
          </a:p>
        </p:txBody>
      </p:sp>
      <p:sp>
        <p:nvSpPr>
          <p:cNvPr id="2" name="TextBox 1">
            <a:extLst>
              <a:ext uri="{FF2B5EF4-FFF2-40B4-BE49-F238E27FC236}">
                <a16:creationId xmlns:a16="http://schemas.microsoft.com/office/drawing/2014/main" id="{27565299-BA74-BD12-765D-F6A7FBF7DC49}"/>
              </a:ext>
            </a:extLst>
          </p:cNvPr>
          <p:cNvSpPr txBox="1"/>
          <p:nvPr/>
        </p:nvSpPr>
        <p:spPr>
          <a:xfrm>
            <a:off x="658368" y="1103089"/>
            <a:ext cx="10698480" cy="369332"/>
          </a:xfrm>
          <a:prstGeom prst="rect">
            <a:avLst/>
          </a:prstGeom>
          <a:noFill/>
        </p:spPr>
        <p:txBody>
          <a:bodyPr wrap="square" rtlCol="0">
            <a:spAutoFit/>
          </a:bodyPr>
          <a:lstStyle/>
          <a:p>
            <a:r>
              <a:rPr lang="en-US" dirty="0"/>
              <a:t>Nous </a:t>
            </a:r>
            <a:r>
              <a:rPr lang="en-US" dirty="0" err="1"/>
              <a:t>avons</a:t>
            </a:r>
            <a:r>
              <a:rPr lang="en-US" dirty="0"/>
              <a:t> </a:t>
            </a:r>
            <a:r>
              <a:rPr lang="en-US" dirty="0" err="1"/>
              <a:t>adopté</a:t>
            </a:r>
            <a:r>
              <a:rPr lang="en-US" dirty="0"/>
              <a:t> la "World Class Stack" de Jansen pour les données </a:t>
            </a:r>
            <a:r>
              <a:rPr lang="en-US" dirty="0" err="1"/>
              <a:t>tabulaires</a:t>
            </a:r>
            <a:r>
              <a:rPr lang="en-US" dirty="0"/>
              <a:t> </a:t>
            </a:r>
            <a:r>
              <a:rPr lang="en-US" dirty="0" err="1"/>
              <a:t>bruitées</a:t>
            </a:r>
            <a:r>
              <a:rPr lang="en-US" dirty="0"/>
              <a:t> :</a:t>
            </a:r>
          </a:p>
        </p:txBody>
      </p:sp>
      <p:graphicFrame>
        <p:nvGraphicFramePr>
          <p:cNvPr id="5" name="Table 4">
            <a:extLst>
              <a:ext uri="{FF2B5EF4-FFF2-40B4-BE49-F238E27FC236}">
                <a16:creationId xmlns:a16="http://schemas.microsoft.com/office/drawing/2014/main" id="{EDC4CA27-BA03-60D5-A18C-51717371CA11}"/>
              </a:ext>
            </a:extLst>
          </p:cNvPr>
          <p:cNvGraphicFramePr>
            <a:graphicFrameLocks noGrp="1"/>
          </p:cNvGraphicFramePr>
          <p:nvPr>
            <p:extLst>
              <p:ext uri="{D42A27DB-BD31-4B8C-83A1-F6EECF244321}">
                <p14:modId xmlns:p14="http://schemas.microsoft.com/office/powerpoint/2010/main" val="2864666077"/>
              </p:ext>
            </p:extLst>
          </p:nvPr>
        </p:nvGraphicFramePr>
        <p:xfrm>
          <a:off x="658368" y="1688541"/>
          <a:ext cx="10698480" cy="1839005"/>
        </p:xfrm>
        <a:graphic>
          <a:graphicData uri="http://schemas.openxmlformats.org/drawingml/2006/table">
            <a:tbl>
              <a:tblPr firstRow="1" bandRow="1">
                <a:tableStyleId>{5C22544A-7EE6-4342-B048-85BDC9FD1C3A}</a:tableStyleId>
              </a:tblPr>
              <a:tblGrid>
                <a:gridCol w="3986784">
                  <a:extLst>
                    <a:ext uri="{9D8B030D-6E8A-4147-A177-3AD203B41FA5}">
                      <a16:colId xmlns:a16="http://schemas.microsoft.com/office/drawing/2014/main" val="3820494063"/>
                    </a:ext>
                  </a:extLst>
                </a:gridCol>
                <a:gridCol w="6711696">
                  <a:extLst>
                    <a:ext uri="{9D8B030D-6E8A-4147-A177-3AD203B41FA5}">
                      <a16:colId xmlns:a16="http://schemas.microsoft.com/office/drawing/2014/main" val="2799054320"/>
                    </a:ext>
                  </a:extLst>
                </a:gridCol>
              </a:tblGrid>
              <a:tr h="367801">
                <a:tc>
                  <a:txBody>
                    <a:bodyPr/>
                    <a:lstStyle/>
                    <a:p>
                      <a:pPr algn="ctr">
                        <a:buNone/>
                      </a:pPr>
                      <a:r>
                        <a:rPr lang="en-US" dirty="0" err="1"/>
                        <a:t>Composant</a:t>
                      </a:r>
                      <a:endParaRPr lang="en-US" dirty="0"/>
                    </a:p>
                  </a:txBody>
                  <a:tcPr anchor="ctr"/>
                </a:tc>
                <a:tc>
                  <a:txBody>
                    <a:bodyPr/>
                    <a:lstStyle/>
                    <a:p>
                      <a:pPr algn="ctr"/>
                      <a:r>
                        <a:rPr lang="en-US" dirty="0" err="1"/>
                        <a:t>Rôle</a:t>
                      </a:r>
                      <a:endParaRPr lang="en-US" dirty="0"/>
                    </a:p>
                  </a:txBody>
                  <a:tcPr/>
                </a:tc>
                <a:extLst>
                  <a:ext uri="{0D108BD9-81ED-4DB2-BD59-A6C34878D82A}">
                    <a16:rowId xmlns:a16="http://schemas.microsoft.com/office/drawing/2014/main" val="457146129"/>
                  </a:ext>
                </a:extLst>
              </a:tr>
              <a:tr h="367801">
                <a:tc>
                  <a:txBody>
                    <a:bodyPr/>
                    <a:lstStyle/>
                    <a:p>
                      <a:r>
                        <a:rPr lang="en-US" dirty="0" err="1"/>
                        <a:t>LightGBM</a:t>
                      </a:r>
                      <a:endParaRPr lang="en-US" dirty="0"/>
                    </a:p>
                  </a:txBody>
                  <a:tcPr/>
                </a:tc>
                <a:tc>
                  <a:txBody>
                    <a:bodyPr/>
                    <a:lstStyle/>
                    <a:p>
                      <a:r>
                        <a:rPr lang="fr-FR" dirty="0"/>
                        <a:t>Modèle principal — données tabulaires bruitées</a:t>
                      </a:r>
                      <a:endParaRPr lang="en-US" dirty="0"/>
                    </a:p>
                  </a:txBody>
                  <a:tcPr/>
                </a:tc>
                <a:extLst>
                  <a:ext uri="{0D108BD9-81ED-4DB2-BD59-A6C34878D82A}">
                    <a16:rowId xmlns:a16="http://schemas.microsoft.com/office/drawing/2014/main" val="469443940"/>
                  </a:ext>
                </a:extLst>
              </a:tr>
              <a:tr h="367801">
                <a:tc>
                  <a:txBody>
                    <a:bodyPr/>
                    <a:lstStyle/>
                    <a:p>
                      <a:r>
                        <a:rPr lang="en-US" dirty="0"/>
                        <a:t>Random Forest</a:t>
                      </a:r>
                    </a:p>
                  </a:txBody>
                  <a:tcPr/>
                </a:tc>
                <a:tc>
                  <a:txBody>
                    <a:bodyPr/>
                    <a:lstStyle/>
                    <a:p>
                      <a:r>
                        <a:rPr lang="en-US" dirty="0"/>
                        <a:t>Capture de non-</a:t>
                      </a:r>
                      <a:r>
                        <a:rPr lang="en-US" dirty="0" err="1"/>
                        <a:t>linéarités</a:t>
                      </a:r>
                      <a:endParaRPr lang="en-US" dirty="0"/>
                    </a:p>
                  </a:txBody>
                  <a:tcPr/>
                </a:tc>
                <a:extLst>
                  <a:ext uri="{0D108BD9-81ED-4DB2-BD59-A6C34878D82A}">
                    <a16:rowId xmlns:a16="http://schemas.microsoft.com/office/drawing/2014/main" val="2517364793"/>
                  </a:ext>
                </a:extLst>
              </a:tr>
              <a:tr h="367801">
                <a:tc>
                  <a:txBody>
                    <a:bodyPr/>
                    <a:lstStyle/>
                    <a:p>
                      <a:r>
                        <a:rPr lang="en-US" dirty="0" err="1"/>
                        <a:t>Régression</a:t>
                      </a:r>
                      <a:r>
                        <a:rPr lang="en-US" dirty="0"/>
                        <a:t> </a:t>
                      </a:r>
                      <a:r>
                        <a:rPr lang="en-US" dirty="0" err="1"/>
                        <a:t>Linéaire</a:t>
                      </a:r>
                      <a:endParaRPr lang="en-US" dirty="0"/>
                    </a:p>
                  </a:txBody>
                  <a:tcPr/>
                </a:tc>
                <a:tc>
                  <a:txBody>
                    <a:bodyPr/>
                    <a:lstStyle/>
                    <a:p>
                      <a:r>
                        <a:rPr lang="en-US" dirty="0" err="1"/>
                        <a:t>Ancrage</a:t>
                      </a:r>
                      <a:r>
                        <a:rPr lang="en-US" dirty="0"/>
                        <a:t> des tendances</a:t>
                      </a:r>
                    </a:p>
                  </a:txBody>
                  <a:tcPr/>
                </a:tc>
                <a:extLst>
                  <a:ext uri="{0D108BD9-81ED-4DB2-BD59-A6C34878D82A}">
                    <a16:rowId xmlns:a16="http://schemas.microsoft.com/office/drawing/2014/main" val="2600303966"/>
                  </a:ext>
                </a:extLst>
              </a:tr>
              <a:tr h="367801">
                <a:tc>
                  <a:txBody>
                    <a:bodyPr/>
                    <a:lstStyle/>
                    <a:p>
                      <a:r>
                        <a:rPr lang="en-US" dirty="0"/>
                        <a:t>Walk-Forward Validation</a:t>
                      </a:r>
                    </a:p>
                  </a:txBody>
                  <a:tcPr/>
                </a:tc>
                <a:tc>
                  <a:txBody>
                    <a:bodyPr/>
                    <a:lstStyle/>
                    <a:p>
                      <a:r>
                        <a:rPr lang="en-US" dirty="0" err="1"/>
                        <a:t>Évite</a:t>
                      </a:r>
                      <a:r>
                        <a:rPr lang="en-US" dirty="0"/>
                        <a:t> le </a:t>
                      </a:r>
                      <a:r>
                        <a:rPr lang="en-US" dirty="0" err="1"/>
                        <a:t>biais</a:t>
                      </a:r>
                      <a:r>
                        <a:rPr lang="en-US" dirty="0"/>
                        <a:t> Look-Ahead</a:t>
                      </a:r>
                    </a:p>
                  </a:txBody>
                  <a:tcPr/>
                </a:tc>
                <a:extLst>
                  <a:ext uri="{0D108BD9-81ED-4DB2-BD59-A6C34878D82A}">
                    <a16:rowId xmlns:a16="http://schemas.microsoft.com/office/drawing/2014/main" val="3517702291"/>
                  </a:ext>
                </a:extLst>
              </a:tr>
            </a:tbl>
          </a:graphicData>
        </a:graphic>
      </p:graphicFrame>
      <p:sp>
        <p:nvSpPr>
          <p:cNvPr id="6" name="TextBox 5">
            <a:extLst>
              <a:ext uri="{FF2B5EF4-FFF2-40B4-BE49-F238E27FC236}">
                <a16:creationId xmlns:a16="http://schemas.microsoft.com/office/drawing/2014/main" id="{EE3A7987-62BA-DB33-E5AC-CCD2B7BB1AC2}"/>
              </a:ext>
            </a:extLst>
          </p:cNvPr>
          <p:cNvSpPr txBox="1"/>
          <p:nvPr/>
        </p:nvSpPr>
        <p:spPr>
          <a:xfrm>
            <a:off x="658368" y="3743666"/>
            <a:ext cx="10698480" cy="369332"/>
          </a:xfrm>
          <a:prstGeom prst="rect">
            <a:avLst/>
          </a:prstGeom>
          <a:noFill/>
        </p:spPr>
        <p:txBody>
          <a:bodyPr wrap="square" rtlCol="0">
            <a:spAutoFit/>
          </a:bodyPr>
          <a:lstStyle/>
          <a:p>
            <a:r>
              <a:rPr lang="fr-FR" dirty="0" err="1"/>
              <a:t>Ensembling</a:t>
            </a:r>
            <a:r>
              <a:rPr lang="fr-FR" dirty="0"/>
              <a:t> (</a:t>
            </a:r>
            <a:r>
              <a:rPr lang="fr-FR" dirty="0" err="1"/>
              <a:t>Stacking</a:t>
            </a:r>
            <a:r>
              <a:rPr lang="fr-FR" dirty="0"/>
              <a:t>) = combinaison des forces de chaque modèle</a:t>
            </a:r>
            <a:endParaRPr lang="en-US" dirty="0"/>
          </a:p>
        </p:txBody>
      </p:sp>
    </p:spTree>
    <p:extLst>
      <p:ext uri="{BB962C8B-B14F-4D97-AF65-F5344CB8AC3E}">
        <p14:creationId xmlns:p14="http://schemas.microsoft.com/office/powerpoint/2010/main" val="39612042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8B6C-455B-588B-456C-F888B0C50ADE}"/>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6CEED95-5687-7C8D-E980-D5DED1222F71}"/>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2C345BC-8103-A69A-A57D-72BDA2DDE40F}"/>
              </a:ext>
            </a:extLst>
          </p:cNvPr>
          <p:cNvSpPr txBox="1"/>
          <p:nvPr/>
        </p:nvSpPr>
        <p:spPr>
          <a:xfrm>
            <a:off x="658368" y="336542"/>
            <a:ext cx="10140696" cy="461665"/>
          </a:xfrm>
          <a:prstGeom prst="rect">
            <a:avLst/>
          </a:prstGeom>
          <a:noFill/>
        </p:spPr>
        <p:txBody>
          <a:bodyPr wrap="square">
            <a:spAutoFit/>
          </a:bodyPr>
          <a:lstStyle/>
          <a:p>
            <a:r>
              <a:rPr lang="en-US" sz="2400" b="1" dirty="0"/>
              <a:t>ADAPTATION AU MARCHÉ CRYPTO</a:t>
            </a:r>
            <a:endParaRPr lang="en-US" sz="2400" b="1" noProof="1"/>
          </a:p>
        </p:txBody>
      </p:sp>
      <p:sp>
        <p:nvSpPr>
          <p:cNvPr id="2" name="TextBox 1">
            <a:extLst>
              <a:ext uri="{FF2B5EF4-FFF2-40B4-BE49-F238E27FC236}">
                <a16:creationId xmlns:a16="http://schemas.microsoft.com/office/drawing/2014/main" id="{86E8331B-359C-9A3E-B428-CFD89A67F0E9}"/>
              </a:ext>
            </a:extLst>
          </p:cNvPr>
          <p:cNvSpPr txBox="1"/>
          <p:nvPr/>
        </p:nvSpPr>
        <p:spPr>
          <a:xfrm>
            <a:off x="658368" y="2230170"/>
            <a:ext cx="10698480"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Pas de </a:t>
            </a:r>
            <a:r>
              <a:rPr lang="en-US" dirty="0" err="1"/>
              <a:t>clôture</a:t>
            </a:r>
            <a:r>
              <a:rPr lang="en-US" dirty="0"/>
              <a:t> → </a:t>
            </a:r>
            <a:r>
              <a:rPr lang="en-US" dirty="0" err="1"/>
              <a:t>fenêtres</a:t>
            </a:r>
            <a:r>
              <a:rPr lang="en-US" dirty="0"/>
              <a:t> </a:t>
            </a:r>
            <a:r>
              <a:rPr lang="en-US" dirty="0" err="1"/>
              <a:t>glissantes</a:t>
            </a:r>
            <a:r>
              <a:rPr lang="en-US" dirty="0"/>
              <a:t> de 5 et 15 minutes</a:t>
            </a:r>
          </a:p>
          <a:p>
            <a:pPr marL="285750" indent="-285750">
              <a:buFont typeface="Wingdings" panose="05000000000000000000" pitchFamily="2" charset="2"/>
              <a:buChar char="§"/>
            </a:pPr>
            <a:r>
              <a:rPr lang="en-US" dirty="0"/>
              <a:t>Flux WebSocket (Tick data) → abandon du CSV → format HDF5</a:t>
            </a:r>
          </a:p>
          <a:p>
            <a:pPr marL="285750" indent="-285750">
              <a:buFont typeface="Wingdings" panose="05000000000000000000" pitchFamily="2" charset="2"/>
              <a:buChar char="§"/>
            </a:pPr>
            <a:r>
              <a:rPr lang="en-US" dirty="0"/>
              <a:t>Pipeline </a:t>
            </a:r>
            <a:r>
              <a:rPr lang="en-US" dirty="0" err="1"/>
              <a:t>complet</a:t>
            </a:r>
            <a:r>
              <a:rPr lang="en-US" dirty="0"/>
              <a:t> </a:t>
            </a:r>
            <a:r>
              <a:rPr lang="en-US" dirty="0" err="1"/>
              <a:t>en</a:t>
            </a:r>
            <a:r>
              <a:rPr lang="en-US" dirty="0"/>
              <a:t> &lt; 1.5 </a:t>
            </a:r>
            <a:r>
              <a:rPr lang="en-US" dirty="0" err="1"/>
              <a:t>seconde</a:t>
            </a:r>
            <a:endParaRPr lang="en-US" dirty="0"/>
          </a:p>
        </p:txBody>
      </p:sp>
      <p:sp>
        <p:nvSpPr>
          <p:cNvPr id="9" name="TextBox 8">
            <a:extLst>
              <a:ext uri="{FF2B5EF4-FFF2-40B4-BE49-F238E27FC236}">
                <a16:creationId xmlns:a16="http://schemas.microsoft.com/office/drawing/2014/main" id="{95DD4716-56A9-E53E-EFB4-934C65A31147}"/>
              </a:ext>
            </a:extLst>
          </p:cNvPr>
          <p:cNvSpPr txBox="1"/>
          <p:nvPr/>
        </p:nvSpPr>
        <p:spPr>
          <a:xfrm>
            <a:off x="658368" y="3704500"/>
            <a:ext cx="10698480" cy="646331"/>
          </a:xfrm>
          <a:prstGeom prst="rect">
            <a:avLst/>
          </a:prstGeom>
          <a:noFill/>
        </p:spPr>
        <p:txBody>
          <a:bodyPr wrap="square" rtlCol="0">
            <a:spAutoFit/>
          </a:bodyPr>
          <a:lstStyle/>
          <a:p>
            <a:pPr marL="285750" indent="-285750">
              <a:buFont typeface="Wingdings" panose="05000000000000000000" pitchFamily="2" charset="2"/>
              <a:buChar char="§"/>
            </a:pPr>
            <a:r>
              <a:rPr lang="fr-FR" dirty="0"/>
              <a:t>Flux des </a:t>
            </a:r>
            <a:r>
              <a:rPr lang="fr-FR" dirty="0" err="1"/>
              <a:t>Whales</a:t>
            </a:r>
            <a:r>
              <a:rPr lang="fr-FR" dirty="0"/>
              <a:t> : mouvements de gros portefeuilles</a:t>
            </a:r>
          </a:p>
          <a:p>
            <a:pPr marL="285750" indent="-285750">
              <a:buFont typeface="Wingdings" panose="05000000000000000000" pitchFamily="2" charset="2"/>
              <a:buChar char="§"/>
            </a:pPr>
            <a:r>
              <a:rPr lang="fr-FR" dirty="0"/>
              <a:t>Volatilité du Gas (ETH) : proxy de congestion réseau</a:t>
            </a:r>
            <a:endParaRPr lang="en-US" dirty="0"/>
          </a:p>
        </p:txBody>
      </p:sp>
      <p:sp>
        <p:nvSpPr>
          <p:cNvPr id="4" name="TextBox 3">
            <a:extLst>
              <a:ext uri="{FF2B5EF4-FFF2-40B4-BE49-F238E27FC236}">
                <a16:creationId xmlns:a16="http://schemas.microsoft.com/office/drawing/2014/main" id="{753E08BE-3838-B08B-4209-4780AD3E2CD0}"/>
              </a:ext>
            </a:extLst>
          </p:cNvPr>
          <p:cNvSpPr txBox="1"/>
          <p:nvPr/>
        </p:nvSpPr>
        <p:spPr>
          <a:xfrm>
            <a:off x="658368" y="1770004"/>
            <a:ext cx="10698480" cy="369332"/>
          </a:xfrm>
          <a:prstGeom prst="rect">
            <a:avLst/>
          </a:prstGeom>
          <a:noFill/>
        </p:spPr>
        <p:txBody>
          <a:bodyPr wrap="square" rtlCol="0">
            <a:spAutoFit/>
          </a:bodyPr>
          <a:lstStyle/>
          <a:p>
            <a:r>
              <a:rPr lang="en-US" b="1" dirty="0" err="1"/>
              <a:t>Problèmes</a:t>
            </a:r>
            <a:r>
              <a:rPr lang="en-US" b="1" dirty="0"/>
              <a:t> </a:t>
            </a:r>
            <a:r>
              <a:rPr lang="en-US" b="1" dirty="0" err="1"/>
              <a:t>identifiés</a:t>
            </a:r>
            <a:r>
              <a:rPr lang="en-US" b="1" dirty="0"/>
              <a:t> :</a:t>
            </a:r>
          </a:p>
        </p:txBody>
      </p:sp>
      <p:sp>
        <p:nvSpPr>
          <p:cNvPr id="5" name="TextBox 4">
            <a:extLst>
              <a:ext uri="{FF2B5EF4-FFF2-40B4-BE49-F238E27FC236}">
                <a16:creationId xmlns:a16="http://schemas.microsoft.com/office/drawing/2014/main" id="{33BBAB1A-1430-CCE6-81E4-80158A24242D}"/>
              </a:ext>
            </a:extLst>
          </p:cNvPr>
          <p:cNvSpPr txBox="1"/>
          <p:nvPr/>
        </p:nvSpPr>
        <p:spPr>
          <a:xfrm>
            <a:off x="658368" y="3244334"/>
            <a:ext cx="10698480" cy="369332"/>
          </a:xfrm>
          <a:prstGeom prst="rect">
            <a:avLst/>
          </a:prstGeom>
          <a:noFill/>
        </p:spPr>
        <p:txBody>
          <a:bodyPr wrap="square" rtlCol="0">
            <a:spAutoFit/>
          </a:bodyPr>
          <a:lstStyle/>
          <a:p>
            <a:r>
              <a:rPr lang="en-US" b="1" dirty="0"/>
              <a:t>Nouveaux </a:t>
            </a:r>
            <a:r>
              <a:rPr lang="en-US" b="1" dirty="0" err="1"/>
              <a:t>facteurs</a:t>
            </a:r>
            <a:r>
              <a:rPr lang="en-US" b="1" dirty="0"/>
              <a:t> "On-Chain" :</a:t>
            </a:r>
          </a:p>
        </p:txBody>
      </p:sp>
      <p:sp>
        <p:nvSpPr>
          <p:cNvPr id="6" name="TextBox 5">
            <a:extLst>
              <a:ext uri="{FF2B5EF4-FFF2-40B4-BE49-F238E27FC236}">
                <a16:creationId xmlns:a16="http://schemas.microsoft.com/office/drawing/2014/main" id="{49DD991F-40B6-644F-B04C-674A6B358C4E}"/>
              </a:ext>
            </a:extLst>
          </p:cNvPr>
          <p:cNvSpPr txBox="1"/>
          <p:nvPr/>
        </p:nvSpPr>
        <p:spPr>
          <a:xfrm>
            <a:off x="658368" y="1082105"/>
            <a:ext cx="10698480" cy="923330"/>
          </a:xfrm>
          <a:prstGeom prst="rect">
            <a:avLst/>
          </a:prstGeom>
          <a:noFill/>
        </p:spPr>
        <p:txBody>
          <a:bodyPr wrap="square" rtlCol="0">
            <a:spAutoFit/>
          </a:bodyPr>
          <a:lstStyle/>
          <a:p>
            <a:r>
              <a:rPr lang="en-US" dirty="0"/>
              <a:t>La transition des actions vers la Blockchain a </a:t>
            </a:r>
            <a:r>
              <a:rPr lang="en-US" dirty="0" err="1"/>
              <a:t>nécessité</a:t>
            </a:r>
            <a:r>
              <a:rPr lang="en-US" dirty="0"/>
              <a:t> </a:t>
            </a:r>
            <a:r>
              <a:rPr lang="en-US" dirty="0" err="1"/>
              <a:t>une</a:t>
            </a:r>
            <a:r>
              <a:rPr lang="en-US" dirty="0"/>
              <a:t> </a:t>
            </a:r>
            <a:r>
              <a:rPr lang="en-US" dirty="0" err="1"/>
              <a:t>refonte</a:t>
            </a:r>
            <a:r>
              <a:rPr lang="en-US" dirty="0"/>
              <a:t> majeure de </a:t>
            </a:r>
            <a:r>
              <a:rPr lang="en-US" dirty="0" err="1"/>
              <a:t>notre</a:t>
            </a:r>
            <a:r>
              <a:rPr lang="en-US" dirty="0"/>
              <a:t> pipeline de données et de </a:t>
            </a:r>
            <a:r>
              <a:rPr lang="en-US" dirty="0" err="1"/>
              <a:t>nos</a:t>
            </a:r>
            <a:r>
              <a:rPr lang="en-US" dirty="0"/>
              <a:t> </a:t>
            </a:r>
            <a:r>
              <a:rPr lang="en-US" dirty="0" err="1"/>
              <a:t>caractéristiques</a:t>
            </a:r>
            <a:r>
              <a:rPr lang="en-US" dirty="0"/>
              <a:t> (features).</a:t>
            </a:r>
          </a:p>
          <a:p>
            <a:endParaRPr lang="en-US" dirty="0"/>
          </a:p>
        </p:txBody>
      </p:sp>
    </p:spTree>
    <p:extLst>
      <p:ext uri="{BB962C8B-B14F-4D97-AF65-F5344CB8AC3E}">
        <p14:creationId xmlns:p14="http://schemas.microsoft.com/office/powerpoint/2010/main" val="5715992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114E8-BBDE-DCC4-EBAA-EF2BE27CF24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80E2DAA-9087-EEA8-CE88-60303ADCEF3C}"/>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9DD29D-6FB3-8214-0DD7-B5DBCC8A5C11}"/>
              </a:ext>
            </a:extLst>
          </p:cNvPr>
          <p:cNvSpPr txBox="1"/>
          <p:nvPr/>
        </p:nvSpPr>
        <p:spPr>
          <a:xfrm>
            <a:off x="658368" y="336542"/>
            <a:ext cx="10140696" cy="461665"/>
          </a:xfrm>
          <a:prstGeom prst="rect">
            <a:avLst/>
          </a:prstGeom>
          <a:noFill/>
        </p:spPr>
        <p:txBody>
          <a:bodyPr wrap="square">
            <a:spAutoFit/>
          </a:bodyPr>
          <a:lstStyle/>
          <a:p>
            <a:r>
              <a:rPr lang="fr-FR" sz="2400" b="1" dirty="0"/>
              <a:t>RÉSULTATS DE L'ADAPTATION</a:t>
            </a:r>
            <a:r>
              <a:rPr lang="fr-FR" sz="2400" dirty="0"/>
              <a:t> </a:t>
            </a:r>
            <a:r>
              <a:rPr lang="fr-FR" sz="2400" b="1" dirty="0"/>
              <a:t>PERFORMANCES OBTENUES</a:t>
            </a:r>
            <a:endParaRPr lang="en-US" sz="2400" b="1" noProof="1"/>
          </a:p>
        </p:txBody>
      </p:sp>
      <p:sp>
        <p:nvSpPr>
          <p:cNvPr id="2" name="TextBox 1">
            <a:extLst>
              <a:ext uri="{FF2B5EF4-FFF2-40B4-BE49-F238E27FC236}">
                <a16:creationId xmlns:a16="http://schemas.microsoft.com/office/drawing/2014/main" id="{1D956D63-4EF3-B411-5F5B-014F621100A2}"/>
              </a:ext>
            </a:extLst>
          </p:cNvPr>
          <p:cNvSpPr txBox="1"/>
          <p:nvPr/>
        </p:nvSpPr>
        <p:spPr>
          <a:xfrm>
            <a:off x="658368" y="1932387"/>
            <a:ext cx="10698480" cy="923330"/>
          </a:xfrm>
          <a:prstGeom prst="rect">
            <a:avLst/>
          </a:prstGeom>
          <a:noFill/>
        </p:spPr>
        <p:txBody>
          <a:bodyPr wrap="square" rtlCol="0">
            <a:spAutoFit/>
          </a:bodyPr>
          <a:lstStyle/>
          <a:p>
            <a:pPr marL="285750" indent="-285750">
              <a:buFont typeface="Wingdings" panose="05000000000000000000" pitchFamily="2" charset="2"/>
              <a:buChar char="§"/>
            </a:pPr>
            <a:r>
              <a:rPr lang="fr-FR" dirty="0"/>
              <a:t>Précision </a:t>
            </a:r>
            <a:r>
              <a:rPr lang="fr-FR" dirty="0" err="1"/>
              <a:t>backtestée</a:t>
            </a:r>
            <a:r>
              <a:rPr lang="fr-FR" dirty="0"/>
              <a:t> : 64.2% à 70.1% sur intervalles de 5 min</a:t>
            </a:r>
          </a:p>
          <a:p>
            <a:pPr marL="285750" indent="-285750">
              <a:buFont typeface="Wingdings" panose="05000000000000000000" pitchFamily="2" charset="2"/>
              <a:buChar char="§"/>
            </a:pPr>
            <a:r>
              <a:rPr lang="fr-FR" dirty="0"/>
              <a:t>Régimes de haute volatilité : performances optimales</a:t>
            </a:r>
          </a:p>
          <a:p>
            <a:pPr marL="285750" indent="-285750">
              <a:buFont typeface="Wingdings" panose="05000000000000000000" pitchFamily="2" charset="2"/>
              <a:buChar char="§"/>
            </a:pPr>
            <a:r>
              <a:rPr lang="fr-FR" dirty="0"/>
              <a:t>Latence système complète (ingestion → inférence) : &lt; 1.5s</a:t>
            </a:r>
            <a:endParaRPr lang="en-US" dirty="0"/>
          </a:p>
        </p:txBody>
      </p:sp>
      <p:sp>
        <p:nvSpPr>
          <p:cNvPr id="5" name="TextBox 4">
            <a:extLst>
              <a:ext uri="{FF2B5EF4-FFF2-40B4-BE49-F238E27FC236}">
                <a16:creationId xmlns:a16="http://schemas.microsoft.com/office/drawing/2014/main" id="{73705DB5-21D3-79ED-D827-BC5FAF15FA8E}"/>
              </a:ext>
            </a:extLst>
          </p:cNvPr>
          <p:cNvSpPr txBox="1"/>
          <p:nvPr/>
        </p:nvSpPr>
        <p:spPr>
          <a:xfrm>
            <a:off x="658368" y="3059668"/>
            <a:ext cx="10698480" cy="646331"/>
          </a:xfrm>
          <a:prstGeom prst="rect">
            <a:avLst/>
          </a:prstGeom>
          <a:noFill/>
        </p:spPr>
        <p:txBody>
          <a:bodyPr wrap="square" rtlCol="0">
            <a:spAutoFit/>
          </a:bodyPr>
          <a:lstStyle/>
          <a:p>
            <a:pPr marL="285750" indent="-285750">
              <a:buFont typeface="Wingdings" panose="05000000000000000000" pitchFamily="2" charset="2"/>
              <a:buChar char="ü"/>
            </a:pPr>
            <a:r>
              <a:rPr lang="fr-FR" i="1" dirty="0"/>
              <a:t>Des résultats supérieurs aux attentes initiales</a:t>
            </a:r>
          </a:p>
          <a:p>
            <a:pPr marL="285750" indent="-285750">
              <a:buFont typeface="Wingdings" panose="05000000000000000000" pitchFamily="2" charset="2"/>
              <a:buChar char="ü"/>
            </a:pPr>
            <a:r>
              <a:rPr lang="fr-FR" dirty="0"/>
              <a:t>Acceptable pour du trading haute fréquence non-HFT</a:t>
            </a:r>
            <a:endParaRPr lang="en-US" dirty="0"/>
          </a:p>
        </p:txBody>
      </p:sp>
      <p:sp>
        <p:nvSpPr>
          <p:cNvPr id="6" name="TextBox 5">
            <a:extLst>
              <a:ext uri="{FF2B5EF4-FFF2-40B4-BE49-F238E27FC236}">
                <a16:creationId xmlns:a16="http://schemas.microsoft.com/office/drawing/2014/main" id="{CD13A532-6A3B-6044-01B0-609E3947DD83}"/>
              </a:ext>
            </a:extLst>
          </p:cNvPr>
          <p:cNvSpPr txBox="1"/>
          <p:nvPr/>
        </p:nvSpPr>
        <p:spPr>
          <a:xfrm>
            <a:off x="658368" y="1082105"/>
            <a:ext cx="10698480" cy="646331"/>
          </a:xfrm>
          <a:prstGeom prst="rect">
            <a:avLst/>
          </a:prstGeom>
          <a:noFill/>
        </p:spPr>
        <p:txBody>
          <a:bodyPr wrap="square" rtlCol="0">
            <a:spAutoFit/>
          </a:bodyPr>
          <a:lstStyle/>
          <a:p>
            <a:r>
              <a:rPr lang="en-US" dirty="0" err="1"/>
              <a:t>L'adaptation</a:t>
            </a:r>
            <a:r>
              <a:rPr lang="en-US" dirty="0"/>
              <a:t> de </a:t>
            </a:r>
            <a:r>
              <a:rPr lang="en-US" dirty="0" err="1"/>
              <a:t>l'architecture</a:t>
            </a:r>
            <a:r>
              <a:rPr lang="en-US" dirty="0"/>
              <a:t> </a:t>
            </a:r>
            <a:r>
              <a:rPr lang="en-US" dirty="0" err="1"/>
              <a:t>XGBoost</a:t>
            </a:r>
            <a:r>
              <a:rPr lang="en-US" dirty="0"/>
              <a:t>/</a:t>
            </a:r>
            <a:r>
              <a:rPr lang="en-US" dirty="0" err="1"/>
              <a:t>LightGBM</a:t>
            </a:r>
            <a:r>
              <a:rPr lang="en-US" dirty="0"/>
              <a:t> sur </a:t>
            </a:r>
            <a:r>
              <a:rPr lang="en-US" dirty="0" err="1"/>
              <a:t>ces</a:t>
            </a:r>
            <a:r>
              <a:rPr lang="en-US" dirty="0"/>
              <a:t> </a:t>
            </a:r>
            <a:r>
              <a:rPr lang="en-US" dirty="0" err="1"/>
              <a:t>nouvelles</a:t>
            </a:r>
            <a:r>
              <a:rPr lang="en-US" dirty="0"/>
              <a:t> données a </a:t>
            </a:r>
            <a:r>
              <a:rPr lang="en-US" dirty="0" err="1"/>
              <a:t>produit</a:t>
            </a:r>
            <a:r>
              <a:rPr lang="en-US" dirty="0"/>
              <a:t> des </a:t>
            </a:r>
            <a:r>
              <a:rPr lang="en-US" dirty="0" err="1"/>
              <a:t>résultats</a:t>
            </a:r>
            <a:r>
              <a:rPr lang="en-US" dirty="0"/>
              <a:t> </a:t>
            </a:r>
            <a:r>
              <a:rPr lang="en-US" dirty="0" err="1"/>
              <a:t>supérieurs</a:t>
            </a:r>
            <a:r>
              <a:rPr lang="en-US" dirty="0"/>
              <a:t> aux </a:t>
            </a:r>
            <a:r>
              <a:rPr lang="en-US" dirty="0" err="1"/>
              <a:t>attentes</a:t>
            </a:r>
            <a:r>
              <a:rPr lang="en-US" dirty="0"/>
              <a:t> </a:t>
            </a:r>
            <a:r>
              <a:rPr lang="en-US" dirty="0" err="1"/>
              <a:t>initiales</a:t>
            </a:r>
            <a:r>
              <a:rPr lang="en-US" dirty="0"/>
              <a:t> :</a:t>
            </a:r>
          </a:p>
        </p:txBody>
      </p:sp>
    </p:spTree>
    <p:extLst>
      <p:ext uri="{BB962C8B-B14F-4D97-AF65-F5344CB8AC3E}">
        <p14:creationId xmlns:p14="http://schemas.microsoft.com/office/powerpoint/2010/main" val="22709265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9FBB9-CA82-D642-A61B-BCB096B64D2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37EEEA5-A747-609E-6FB9-F77AE1877486}"/>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2C3113B-FF28-297A-E130-A1EAA4C65029}"/>
              </a:ext>
            </a:extLst>
          </p:cNvPr>
          <p:cNvSpPr txBox="1"/>
          <p:nvPr/>
        </p:nvSpPr>
        <p:spPr>
          <a:xfrm>
            <a:off x="658368" y="336542"/>
            <a:ext cx="10140696" cy="461665"/>
          </a:xfrm>
          <a:prstGeom prst="rect">
            <a:avLst/>
          </a:prstGeom>
          <a:noFill/>
        </p:spPr>
        <p:txBody>
          <a:bodyPr wrap="square">
            <a:spAutoFit/>
          </a:bodyPr>
          <a:lstStyle/>
          <a:p>
            <a:r>
              <a:rPr lang="fr-FR" sz="2400" b="1" dirty="0"/>
              <a:t>LE PROBLÈME CRITIQUE : "THE FEE TRAP"</a:t>
            </a:r>
            <a:r>
              <a:rPr lang="fr-FR" sz="2400" dirty="0"/>
              <a:t> </a:t>
            </a:r>
            <a:r>
              <a:rPr lang="fr-FR" sz="2400" b="1" dirty="0"/>
              <a:t>LE PIÈGE DES FRAIS</a:t>
            </a:r>
            <a:endParaRPr lang="en-US" sz="2400" b="1" noProof="1"/>
          </a:p>
        </p:txBody>
      </p:sp>
      <p:sp>
        <p:nvSpPr>
          <p:cNvPr id="2" name="TextBox 1">
            <a:extLst>
              <a:ext uri="{FF2B5EF4-FFF2-40B4-BE49-F238E27FC236}">
                <a16:creationId xmlns:a16="http://schemas.microsoft.com/office/drawing/2014/main" id="{F8A166EB-34B2-B5C5-4192-650D1031ADFA}"/>
              </a:ext>
            </a:extLst>
          </p:cNvPr>
          <p:cNvSpPr txBox="1"/>
          <p:nvPr/>
        </p:nvSpPr>
        <p:spPr>
          <a:xfrm>
            <a:off x="658368" y="1954474"/>
            <a:ext cx="10698480" cy="369332"/>
          </a:xfrm>
          <a:prstGeom prst="rect">
            <a:avLst/>
          </a:prstGeom>
          <a:noFill/>
        </p:spPr>
        <p:txBody>
          <a:bodyPr wrap="square" rtlCol="0">
            <a:spAutoFit/>
          </a:bodyPr>
          <a:lstStyle/>
          <a:p>
            <a:r>
              <a:rPr lang="fr-FR" b="1" dirty="0" err="1"/>
              <a:t>L'edge</a:t>
            </a:r>
            <a:r>
              <a:rPr lang="fr-FR" b="1" dirty="0"/>
              <a:t> statistique est "mangé" par les frictions du marché</a:t>
            </a:r>
            <a:endParaRPr lang="en-US" b="1" dirty="0"/>
          </a:p>
        </p:txBody>
      </p:sp>
      <p:sp>
        <p:nvSpPr>
          <p:cNvPr id="5" name="TextBox 4">
            <a:extLst>
              <a:ext uri="{FF2B5EF4-FFF2-40B4-BE49-F238E27FC236}">
                <a16:creationId xmlns:a16="http://schemas.microsoft.com/office/drawing/2014/main" id="{5D253A0C-71C1-2DCA-53BA-8DA10B7CCA95}"/>
              </a:ext>
            </a:extLst>
          </p:cNvPr>
          <p:cNvSpPr txBox="1"/>
          <p:nvPr/>
        </p:nvSpPr>
        <p:spPr>
          <a:xfrm>
            <a:off x="658368" y="2803100"/>
            <a:ext cx="10698480" cy="923330"/>
          </a:xfrm>
          <a:prstGeom prst="rect">
            <a:avLst/>
          </a:prstGeom>
          <a:noFill/>
        </p:spPr>
        <p:txBody>
          <a:bodyPr wrap="square" rtlCol="0">
            <a:spAutoFit/>
          </a:bodyPr>
          <a:lstStyle/>
          <a:p>
            <a:pPr marL="285750" indent="-285750">
              <a:buFont typeface="Wingdings" panose="05000000000000000000" pitchFamily="2" charset="2"/>
              <a:buChar char="ü"/>
            </a:pPr>
            <a:r>
              <a:rPr lang="fr-FR" i="1" dirty="0"/>
              <a:t>Ordre exécuté uniquement si probabilité &gt; 53%</a:t>
            </a:r>
          </a:p>
          <a:p>
            <a:pPr marL="285750" indent="-285750">
              <a:buFont typeface="Wingdings" panose="05000000000000000000" pitchFamily="2" charset="2"/>
              <a:buChar char="ü"/>
            </a:pPr>
            <a:r>
              <a:rPr lang="fr-FR" i="1" dirty="0"/>
              <a:t>Moins de </a:t>
            </a:r>
            <a:r>
              <a:rPr lang="fr-FR" i="1" dirty="0" err="1"/>
              <a:t>trades</a:t>
            </a:r>
            <a:r>
              <a:rPr lang="fr-FR" i="1" dirty="0"/>
              <a:t> → mais espérance mathématique bien supérieure</a:t>
            </a:r>
          </a:p>
          <a:p>
            <a:pPr marL="285750" indent="-285750">
              <a:buFont typeface="Wingdings" panose="05000000000000000000" pitchFamily="2" charset="2"/>
              <a:buChar char="ü"/>
            </a:pPr>
            <a:r>
              <a:rPr lang="fr-FR" i="1" dirty="0"/>
              <a:t>Priorité à la Précision sur le Rappel (</a:t>
            </a:r>
            <a:r>
              <a:rPr lang="fr-FR" i="1" dirty="0" err="1"/>
              <a:t>Recall</a:t>
            </a:r>
            <a:r>
              <a:rPr lang="fr-FR" i="1" dirty="0"/>
              <a:t>)</a:t>
            </a:r>
            <a:endParaRPr lang="en-US" dirty="0"/>
          </a:p>
        </p:txBody>
      </p:sp>
      <p:sp>
        <p:nvSpPr>
          <p:cNvPr id="6" name="TextBox 5">
            <a:extLst>
              <a:ext uri="{FF2B5EF4-FFF2-40B4-BE49-F238E27FC236}">
                <a16:creationId xmlns:a16="http://schemas.microsoft.com/office/drawing/2014/main" id="{1EA11C4F-FD4F-87C4-E84B-78BF70EDB59D}"/>
              </a:ext>
            </a:extLst>
          </p:cNvPr>
          <p:cNvSpPr txBox="1"/>
          <p:nvPr/>
        </p:nvSpPr>
        <p:spPr>
          <a:xfrm>
            <a:off x="658368" y="1530161"/>
            <a:ext cx="10698480" cy="369332"/>
          </a:xfrm>
          <a:prstGeom prst="rect">
            <a:avLst/>
          </a:prstGeom>
          <a:noFill/>
        </p:spPr>
        <p:txBody>
          <a:bodyPr wrap="square" rtlCol="0">
            <a:spAutoFit/>
          </a:bodyPr>
          <a:lstStyle/>
          <a:p>
            <a:r>
              <a:rPr lang="fr-FR" dirty="0"/>
              <a:t>Un modèle à 55% de précision + 100 </a:t>
            </a:r>
            <a:r>
              <a:rPr lang="fr-FR" dirty="0" err="1"/>
              <a:t>trades</a:t>
            </a:r>
            <a:r>
              <a:rPr lang="fr-FR" dirty="0"/>
              <a:t>/jour = perte nette( Chaque </a:t>
            </a:r>
            <a:r>
              <a:rPr lang="fr-FR" dirty="0" err="1"/>
              <a:t>trade</a:t>
            </a:r>
            <a:r>
              <a:rPr lang="fr-FR" dirty="0"/>
              <a:t> coûte 0.1% en frais + </a:t>
            </a:r>
            <a:r>
              <a:rPr lang="fr-FR" dirty="0" err="1"/>
              <a:t>slippage</a:t>
            </a:r>
            <a:r>
              <a:rPr lang="fr-FR" dirty="0"/>
              <a:t>)</a:t>
            </a:r>
            <a:endParaRPr lang="en-US" dirty="0"/>
          </a:p>
        </p:txBody>
      </p:sp>
      <p:sp>
        <p:nvSpPr>
          <p:cNvPr id="4" name="TextBox 3">
            <a:extLst>
              <a:ext uri="{FF2B5EF4-FFF2-40B4-BE49-F238E27FC236}">
                <a16:creationId xmlns:a16="http://schemas.microsoft.com/office/drawing/2014/main" id="{BC6DA4E8-7213-4B9D-0E1A-FA227538FC20}"/>
              </a:ext>
            </a:extLst>
          </p:cNvPr>
          <p:cNvSpPr txBox="1"/>
          <p:nvPr/>
        </p:nvSpPr>
        <p:spPr>
          <a:xfrm>
            <a:off x="658368" y="2378787"/>
            <a:ext cx="10698480" cy="369332"/>
          </a:xfrm>
          <a:prstGeom prst="rect">
            <a:avLst/>
          </a:prstGeom>
          <a:noFill/>
        </p:spPr>
        <p:txBody>
          <a:bodyPr wrap="square" rtlCol="0">
            <a:spAutoFit/>
          </a:bodyPr>
          <a:lstStyle/>
          <a:p>
            <a:r>
              <a:rPr lang="en-US" b="1" dirty="0"/>
              <a:t>Solution : </a:t>
            </a:r>
            <a:r>
              <a:rPr lang="en-US" b="1" dirty="0" err="1"/>
              <a:t>Filtre</a:t>
            </a:r>
            <a:r>
              <a:rPr lang="en-US" b="1" dirty="0"/>
              <a:t> de Confiance</a:t>
            </a:r>
          </a:p>
        </p:txBody>
      </p:sp>
      <p:sp>
        <p:nvSpPr>
          <p:cNvPr id="8" name="TextBox 7">
            <a:extLst>
              <a:ext uri="{FF2B5EF4-FFF2-40B4-BE49-F238E27FC236}">
                <a16:creationId xmlns:a16="http://schemas.microsoft.com/office/drawing/2014/main" id="{77906F7E-D53F-4C73-6858-91D82B17D821}"/>
              </a:ext>
            </a:extLst>
          </p:cNvPr>
          <p:cNvSpPr txBox="1"/>
          <p:nvPr/>
        </p:nvSpPr>
        <p:spPr>
          <a:xfrm>
            <a:off x="658368" y="1076977"/>
            <a:ext cx="10698480" cy="369332"/>
          </a:xfrm>
          <a:prstGeom prst="rect">
            <a:avLst/>
          </a:prstGeom>
          <a:noFill/>
        </p:spPr>
        <p:txBody>
          <a:bodyPr wrap="square" rtlCol="0">
            <a:spAutoFit/>
          </a:bodyPr>
          <a:lstStyle/>
          <a:p>
            <a:r>
              <a:rPr lang="en-US" dirty="0"/>
              <a:t>Malgré </a:t>
            </a:r>
            <a:r>
              <a:rPr lang="en-US" dirty="0" err="1"/>
              <a:t>une</a:t>
            </a:r>
            <a:r>
              <a:rPr lang="en-US" dirty="0"/>
              <a:t> </a:t>
            </a:r>
            <a:r>
              <a:rPr lang="en-US" dirty="0" err="1"/>
              <a:t>précision</a:t>
            </a:r>
            <a:r>
              <a:rPr lang="en-US" dirty="0"/>
              <a:t> brute </a:t>
            </a:r>
            <a:r>
              <a:rPr lang="en-US" dirty="0" err="1"/>
              <a:t>encourageante</a:t>
            </a:r>
            <a:r>
              <a:rPr lang="en-US" dirty="0"/>
              <a:t>, nous </a:t>
            </a:r>
            <a:r>
              <a:rPr lang="en-US" dirty="0" err="1"/>
              <a:t>avons</a:t>
            </a:r>
            <a:r>
              <a:rPr lang="en-US" dirty="0"/>
              <a:t> </a:t>
            </a:r>
            <a:r>
              <a:rPr lang="en-US" dirty="0" err="1"/>
              <a:t>identifié</a:t>
            </a:r>
            <a:r>
              <a:rPr lang="en-US" dirty="0"/>
              <a:t> un obstacle critique : le "</a:t>
            </a:r>
            <a:r>
              <a:rPr lang="en-US" dirty="0" err="1"/>
              <a:t>Piège</a:t>
            </a:r>
            <a:r>
              <a:rPr lang="en-US" dirty="0"/>
              <a:t> des Frais".</a:t>
            </a:r>
          </a:p>
        </p:txBody>
      </p:sp>
    </p:spTree>
    <p:extLst>
      <p:ext uri="{BB962C8B-B14F-4D97-AF65-F5344CB8AC3E}">
        <p14:creationId xmlns:p14="http://schemas.microsoft.com/office/powerpoint/2010/main" val="30046244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1AA2F-9EF5-72B0-C14A-09A3C66CB4AA}"/>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5D027FA-D8AF-0610-ED07-0D25A99C4214}"/>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53AB400-91C9-E649-E2CB-2344B11A7A89}"/>
              </a:ext>
            </a:extLst>
          </p:cNvPr>
          <p:cNvSpPr txBox="1"/>
          <p:nvPr/>
        </p:nvSpPr>
        <p:spPr>
          <a:xfrm>
            <a:off x="658368" y="336542"/>
            <a:ext cx="10140696" cy="461665"/>
          </a:xfrm>
          <a:prstGeom prst="rect">
            <a:avLst/>
          </a:prstGeom>
          <a:noFill/>
        </p:spPr>
        <p:txBody>
          <a:bodyPr wrap="square">
            <a:spAutoFit/>
          </a:bodyPr>
          <a:lstStyle/>
          <a:p>
            <a:r>
              <a:rPr lang="fr-FR" sz="2400" b="1" dirty="0"/>
              <a:t>STRATÉGIE NLP :</a:t>
            </a:r>
            <a:r>
              <a:rPr lang="fr-FR" sz="2400" dirty="0"/>
              <a:t> </a:t>
            </a:r>
            <a:r>
              <a:rPr lang="fr-FR" sz="2400" b="1" dirty="0"/>
              <a:t>POURQUOI LE SENTIMENT SOCIAL ?</a:t>
            </a:r>
            <a:endParaRPr lang="en-US" sz="2400" b="1" noProof="1"/>
          </a:p>
        </p:txBody>
      </p:sp>
      <p:sp>
        <p:nvSpPr>
          <p:cNvPr id="8" name="TextBox 7">
            <a:extLst>
              <a:ext uri="{FF2B5EF4-FFF2-40B4-BE49-F238E27FC236}">
                <a16:creationId xmlns:a16="http://schemas.microsoft.com/office/drawing/2014/main" id="{07E23144-30B4-08D7-1B7C-13D9252C5AA8}"/>
              </a:ext>
            </a:extLst>
          </p:cNvPr>
          <p:cNvSpPr txBox="1"/>
          <p:nvPr/>
        </p:nvSpPr>
        <p:spPr>
          <a:xfrm>
            <a:off x="658368" y="948397"/>
            <a:ext cx="10698480" cy="646331"/>
          </a:xfrm>
          <a:prstGeom prst="rect">
            <a:avLst/>
          </a:prstGeom>
          <a:noFill/>
        </p:spPr>
        <p:txBody>
          <a:bodyPr wrap="square" rtlCol="0">
            <a:spAutoFit/>
          </a:bodyPr>
          <a:lstStyle/>
          <a:p>
            <a:r>
              <a:rPr lang="en-US" dirty="0"/>
              <a:t>Pour </a:t>
            </a:r>
            <a:r>
              <a:rPr lang="en-US" dirty="0" err="1"/>
              <a:t>franchir</a:t>
            </a:r>
            <a:r>
              <a:rPr lang="en-US" dirty="0"/>
              <a:t> un nouveau </a:t>
            </a:r>
            <a:r>
              <a:rPr lang="en-US" dirty="0" err="1"/>
              <a:t>palier</a:t>
            </a:r>
            <a:r>
              <a:rPr lang="en-US" dirty="0"/>
              <a:t> de </a:t>
            </a:r>
            <a:r>
              <a:rPr lang="en-US" dirty="0" err="1"/>
              <a:t>rentabilité</a:t>
            </a:r>
            <a:r>
              <a:rPr lang="en-US" dirty="0"/>
              <a:t>, nous </a:t>
            </a:r>
            <a:r>
              <a:rPr lang="en-US" dirty="0" err="1"/>
              <a:t>avons</a:t>
            </a:r>
            <a:r>
              <a:rPr lang="en-US" dirty="0"/>
              <a:t> </a:t>
            </a:r>
            <a:r>
              <a:rPr lang="en-US" dirty="0" err="1"/>
              <a:t>intégré</a:t>
            </a:r>
            <a:r>
              <a:rPr lang="en-US" dirty="0"/>
              <a:t> </a:t>
            </a:r>
            <a:r>
              <a:rPr lang="en-US" dirty="0" err="1"/>
              <a:t>une</a:t>
            </a:r>
            <a:r>
              <a:rPr lang="en-US" dirty="0"/>
              <a:t> dimension </a:t>
            </a:r>
            <a:r>
              <a:rPr lang="en-US" dirty="0" err="1"/>
              <a:t>souvent</a:t>
            </a:r>
            <a:r>
              <a:rPr lang="en-US" dirty="0"/>
              <a:t> </a:t>
            </a:r>
            <a:r>
              <a:rPr lang="en-US" dirty="0" err="1"/>
              <a:t>ignorée</a:t>
            </a:r>
            <a:r>
              <a:rPr lang="en-US" dirty="0"/>
              <a:t> par </a:t>
            </a:r>
            <a:r>
              <a:rPr lang="en-US" dirty="0" err="1"/>
              <a:t>l'analyse</a:t>
            </a:r>
            <a:r>
              <a:rPr lang="en-US" dirty="0"/>
              <a:t> technique pure : le sentiment de </a:t>
            </a:r>
            <a:r>
              <a:rPr lang="en-US" dirty="0" err="1"/>
              <a:t>marché</a:t>
            </a:r>
            <a:r>
              <a:rPr lang="en-US" dirty="0"/>
              <a:t>.</a:t>
            </a:r>
          </a:p>
        </p:txBody>
      </p:sp>
      <p:sp>
        <p:nvSpPr>
          <p:cNvPr id="9" name="TextBox 8">
            <a:extLst>
              <a:ext uri="{FF2B5EF4-FFF2-40B4-BE49-F238E27FC236}">
                <a16:creationId xmlns:a16="http://schemas.microsoft.com/office/drawing/2014/main" id="{47F3F3C3-FB19-637C-36A4-1E3A23E4270C}"/>
              </a:ext>
            </a:extLst>
          </p:cNvPr>
          <p:cNvSpPr txBox="1"/>
          <p:nvPr/>
        </p:nvSpPr>
        <p:spPr>
          <a:xfrm>
            <a:off x="658368" y="1692344"/>
            <a:ext cx="10698480" cy="369332"/>
          </a:xfrm>
          <a:prstGeom prst="rect">
            <a:avLst/>
          </a:prstGeom>
          <a:noFill/>
        </p:spPr>
        <p:txBody>
          <a:bodyPr wrap="square" rtlCol="0">
            <a:spAutoFit/>
          </a:bodyPr>
          <a:lstStyle/>
          <a:p>
            <a:r>
              <a:rPr lang="fr-FR" b="1" dirty="0"/>
              <a:t>Les cryptos sont pilotées par :</a:t>
            </a:r>
            <a:endParaRPr lang="en-US" b="1" dirty="0"/>
          </a:p>
        </p:txBody>
      </p:sp>
      <p:sp>
        <p:nvSpPr>
          <p:cNvPr id="10" name="TextBox 9">
            <a:extLst>
              <a:ext uri="{FF2B5EF4-FFF2-40B4-BE49-F238E27FC236}">
                <a16:creationId xmlns:a16="http://schemas.microsoft.com/office/drawing/2014/main" id="{0891B589-C379-76EF-1675-B6170900C685}"/>
              </a:ext>
            </a:extLst>
          </p:cNvPr>
          <p:cNvSpPr txBox="1"/>
          <p:nvPr/>
        </p:nvSpPr>
        <p:spPr>
          <a:xfrm>
            <a:off x="658368" y="2019574"/>
            <a:ext cx="10698480" cy="923330"/>
          </a:xfrm>
          <a:prstGeom prst="rect">
            <a:avLst/>
          </a:prstGeom>
          <a:noFill/>
        </p:spPr>
        <p:txBody>
          <a:bodyPr wrap="square" rtlCol="0">
            <a:spAutoFit/>
          </a:bodyPr>
          <a:lstStyle/>
          <a:p>
            <a:pPr marL="285750" indent="-285750">
              <a:buFont typeface="Wingdings" panose="05000000000000000000" pitchFamily="2" charset="2"/>
              <a:buChar char="§"/>
            </a:pPr>
            <a:r>
              <a:rPr lang="fr-FR" dirty="0"/>
              <a:t>La </a:t>
            </a:r>
            <a:r>
              <a:rPr lang="fr-FR" dirty="0" err="1"/>
              <a:t>Hype</a:t>
            </a:r>
            <a:r>
              <a:rPr lang="fr-FR" dirty="0"/>
              <a:t> et les tendances sociales (Twitter/X, </a:t>
            </a:r>
            <a:r>
              <a:rPr lang="fr-FR" dirty="0" err="1"/>
              <a:t>Reddit</a:t>
            </a:r>
            <a:r>
              <a:rPr lang="fr-FR" dirty="0"/>
              <a:t>)</a:t>
            </a:r>
          </a:p>
          <a:p>
            <a:pPr marL="285750" indent="-285750">
              <a:buFont typeface="Wingdings" panose="05000000000000000000" pitchFamily="2" charset="2"/>
              <a:buChar char="§"/>
            </a:pPr>
            <a:r>
              <a:rPr lang="fr-FR" dirty="0"/>
              <a:t>Les annonces réglementaires</a:t>
            </a:r>
          </a:p>
          <a:p>
            <a:pPr marL="285750" indent="-285750">
              <a:buFont typeface="Wingdings" panose="05000000000000000000" pitchFamily="2" charset="2"/>
              <a:buChar char="§"/>
            </a:pPr>
            <a:r>
              <a:rPr lang="fr-FR" dirty="0"/>
              <a:t>Les gros titres médiatiques</a:t>
            </a:r>
            <a:endParaRPr lang="en-US" dirty="0"/>
          </a:p>
        </p:txBody>
      </p:sp>
      <p:sp>
        <p:nvSpPr>
          <p:cNvPr id="12" name="TextBox 11">
            <a:extLst>
              <a:ext uri="{FF2B5EF4-FFF2-40B4-BE49-F238E27FC236}">
                <a16:creationId xmlns:a16="http://schemas.microsoft.com/office/drawing/2014/main" id="{1EEBA994-080F-650E-4A1A-9078C5AFEA7A}"/>
              </a:ext>
            </a:extLst>
          </p:cNvPr>
          <p:cNvSpPr txBox="1"/>
          <p:nvPr/>
        </p:nvSpPr>
        <p:spPr>
          <a:xfrm>
            <a:off x="658368" y="2868598"/>
            <a:ext cx="10698480" cy="369332"/>
          </a:xfrm>
          <a:prstGeom prst="rect">
            <a:avLst/>
          </a:prstGeom>
          <a:noFill/>
        </p:spPr>
        <p:txBody>
          <a:bodyPr wrap="square" rtlCol="0">
            <a:spAutoFit/>
          </a:bodyPr>
          <a:lstStyle/>
          <a:p>
            <a:r>
              <a:rPr lang="fr-FR" dirty="0"/>
              <a:t>L'analyse technique réagit après l'événement social. Le NLP anticipe le mouvement.</a:t>
            </a:r>
            <a:endParaRPr lang="en-US" dirty="0"/>
          </a:p>
        </p:txBody>
      </p:sp>
      <p:sp>
        <p:nvSpPr>
          <p:cNvPr id="13" name="TextBox 12">
            <a:extLst>
              <a:ext uri="{FF2B5EF4-FFF2-40B4-BE49-F238E27FC236}">
                <a16:creationId xmlns:a16="http://schemas.microsoft.com/office/drawing/2014/main" id="{5AB9E81A-FF88-BDF9-6938-F30313F1DB53}"/>
              </a:ext>
            </a:extLst>
          </p:cNvPr>
          <p:cNvSpPr txBox="1"/>
          <p:nvPr/>
        </p:nvSpPr>
        <p:spPr>
          <a:xfrm>
            <a:off x="658368" y="3474816"/>
            <a:ext cx="10698480" cy="369332"/>
          </a:xfrm>
          <a:prstGeom prst="rect">
            <a:avLst/>
          </a:prstGeom>
          <a:noFill/>
        </p:spPr>
        <p:txBody>
          <a:bodyPr wrap="square" rtlCol="0">
            <a:spAutoFit/>
          </a:bodyPr>
          <a:lstStyle/>
          <a:p>
            <a:r>
              <a:rPr lang="fr-FR" b="1" dirty="0"/>
              <a:t>Architecture "Dual-Model Fusion"</a:t>
            </a:r>
            <a:r>
              <a:rPr lang="fr-FR" dirty="0"/>
              <a:t> </a:t>
            </a:r>
            <a:r>
              <a:rPr lang="fr-FR" b="1" dirty="0"/>
              <a:t>Deux sources d'intelligence combinées</a:t>
            </a:r>
            <a:endParaRPr lang="en-US" b="1" dirty="0"/>
          </a:p>
        </p:txBody>
      </p:sp>
      <p:graphicFrame>
        <p:nvGraphicFramePr>
          <p:cNvPr id="15" name="Table 14">
            <a:extLst>
              <a:ext uri="{FF2B5EF4-FFF2-40B4-BE49-F238E27FC236}">
                <a16:creationId xmlns:a16="http://schemas.microsoft.com/office/drawing/2014/main" id="{A5DACCE1-8068-FE05-D523-8C91C8BBEDB4}"/>
              </a:ext>
            </a:extLst>
          </p:cNvPr>
          <p:cNvGraphicFramePr>
            <a:graphicFrameLocks noGrp="1"/>
          </p:cNvGraphicFramePr>
          <p:nvPr>
            <p:extLst>
              <p:ext uri="{D42A27DB-BD31-4B8C-83A1-F6EECF244321}">
                <p14:modId xmlns:p14="http://schemas.microsoft.com/office/powerpoint/2010/main" val="2052565450"/>
              </p:ext>
            </p:extLst>
          </p:nvPr>
        </p:nvGraphicFramePr>
        <p:xfrm>
          <a:off x="658368" y="3947236"/>
          <a:ext cx="10698480" cy="1594668"/>
        </p:xfrm>
        <a:graphic>
          <a:graphicData uri="http://schemas.openxmlformats.org/drawingml/2006/table">
            <a:tbl>
              <a:tblPr firstRow="1" bandRow="1">
                <a:tableStyleId>{5C22544A-7EE6-4342-B048-85BDC9FD1C3A}</a:tableStyleId>
              </a:tblPr>
              <a:tblGrid>
                <a:gridCol w="2185416">
                  <a:extLst>
                    <a:ext uri="{9D8B030D-6E8A-4147-A177-3AD203B41FA5}">
                      <a16:colId xmlns:a16="http://schemas.microsoft.com/office/drawing/2014/main" val="3134214796"/>
                    </a:ext>
                  </a:extLst>
                </a:gridCol>
                <a:gridCol w="2496312">
                  <a:extLst>
                    <a:ext uri="{9D8B030D-6E8A-4147-A177-3AD203B41FA5}">
                      <a16:colId xmlns:a16="http://schemas.microsoft.com/office/drawing/2014/main" val="3200815833"/>
                    </a:ext>
                  </a:extLst>
                </a:gridCol>
                <a:gridCol w="6016752">
                  <a:extLst>
                    <a:ext uri="{9D8B030D-6E8A-4147-A177-3AD203B41FA5}">
                      <a16:colId xmlns:a16="http://schemas.microsoft.com/office/drawing/2014/main" val="3120867771"/>
                    </a:ext>
                  </a:extLst>
                </a:gridCol>
              </a:tblGrid>
              <a:tr h="531556">
                <a:tc>
                  <a:txBody>
                    <a:bodyPr/>
                    <a:lstStyle/>
                    <a:p>
                      <a:pPr algn="ctr"/>
                      <a:r>
                        <a:rPr lang="en-US" dirty="0" err="1"/>
                        <a:t>Moteur</a:t>
                      </a:r>
                      <a:endParaRPr lang="en-US" dirty="0"/>
                    </a:p>
                  </a:txBody>
                  <a:tcPr/>
                </a:tc>
                <a:tc>
                  <a:txBody>
                    <a:bodyPr/>
                    <a:lstStyle/>
                    <a:p>
                      <a:pPr algn="ctr"/>
                      <a:r>
                        <a:rPr lang="en-US" dirty="0" err="1"/>
                        <a:t>Poids</a:t>
                      </a:r>
                      <a:endParaRPr lang="en-US" dirty="0"/>
                    </a:p>
                  </a:txBody>
                  <a:tcPr/>
                </a:tc>
                <a:tc>
                  <a:txBody>
                    <a:bodyPr/>
                    <a:lstStyle/>
                    <a:p>
                      <a:pPr algn="ctr"/>
                      <a:r>
                        <a:rPr lang="en-US" dirty="0"/>
                        <a:t>Données </a:t>
                      </a:r>
                      <a:r>
                        <a:rPr lang="en-US" dirty="0" err="1"/>
                        <a:t>analysées</a:t>
                      </a:r>
                      <a:endParaRPr lang="en-US" dirty="0"/>
                    </a:p>
                  </a:txBody>
                  <a:tcPr/>
                </a:tc>
                <a:extLst>
                  <a:ext uri="{0D108BD9-81ED-4DB2-BD59-A6C34878D82A}">
                    <a16:rowId xmlns:a16="http://schemas.microsoft.com/office/drawing/2014/main" val="4197517469"/>
                  </a:ext>
                </a:extLst>
              </a:tr>
              <a:tr h="531556">
                <a:tc>
                  <a:txBody>
                    <a:bodyPr/>
                    <a:lstStyle/>
                    <a:p>
                      <a:pPr algn="ctr"/>
                      <a:r>
                        <a:rPr lang="en-US" dirty="0"/>
                        <a:t>Technique</a:t>
                      </a:r>
                    </a:p>
                  </a:txBody>
                  <a:tcPr/>
                </a:tc>
                <a:tc>
                  <a:txBody>
                    <a:bodyPr/>
                    <a:lstStyle/>
                    <a:p>
                      <a:pPr algn="ctr">
                        <a:buNone/>
                      </a:pPr>
                      <a:r>
                        <a:rPr lang="en-US" dirty="0"/>
                        <a:t>60%</a:t>
                      </a:r>
                    </a:p>
                  </a:txBody>
                  <a:tcPr anchor="ctr"/>
                </a:tc>
                <a:tc>
                  <a:txBody>
                    <a:bodyPr/>
                    <a:lstStyle/>
                    <a:p>
                      <a:pPr algn="ctr">
                        <a:buNone/>
                      </a:pPr>
                      <a:r>
                        <a:rPr lang="en-US" dirty="0"/>
                        <a:t>Prix, RSI, Bollinger, On-Chain</a:t>
                      </a:r>
                    </a:p>
                  </a:txBody>
                  <a:tcPr anchor="ctr"/>
                </a:tc>
                <a:extLst>
                  <a:ext uri="{0D108BD9-81ED-4DB2-BD59-A6C34878D82A}">
                    <a16:rowId xmlns:a16="http://schemas.microsoft.com/office/drawing/2014/main" val="1274115655"/>
                  </a:ext>
                </a:extLst>
              </a:tr>
              <a:tr h="531556">
                <a:tc>
                  <a:txBody>
                    <a:bodyPr/>
                    <a:lstStyle/>
                    <a:p>
                      <a:pPr algn="ctr"/>
                      <a:r>
                        <a:rPr lang="en-US" b="0" dirty="0"/>
                        <a:t>Sentiment NLP</a:t>
                      </a:r>
                    </a:p>
                  </a:txBody>
                  <a:tcPr/>
                </a:tc>
                <a:tc>
                  <a:txBody>
                    <a:bodyPr/>
                    <a:lstStyle/>
                    <a:p>
                      <a:pPr algn="ctr"/>
                      <a:r>
                        <a:rPr lang="en-US" dirty="0"/>
                        <a:t>40%</a:t>
                      </a:r>
                    </a:p>
                  </a:txBody>
                  <a:tcPr/>
                </a:tc>
                <a:tc>
                  <a:txBody>
                    <a:bodyPr/>
                    <a:lstStyle/>
                    <a:p>
                      <a:pPr algn="ctr"/>
                      <a:r>
                        <a:rPr lang="fr-FR" dirty="0"/>
                        <a:t>Score sentiment, Volume social, Polarité des news</a:t>
                      </a:r>
                      <a:endParaRPr lang="en-US" dirty="0"/>
                    </a:p>
                  </a:txBody>
                  <a:tcPr/>
                </a:tc>
                <a:extLst>
                  <a:ext uri="{0D108BD9-81ED-4DB2-BD59-A6C34878D82A}">
                    <a16:rowId xmlns:a16="http://schemas.microsoft.com/office/drawing/2014/main" val="4064524887"/>
                  </a:ext>
                </a:extLst>
              </a:tr>
            </a:tbl>
          </a:graphicData>
        </a:graphic>
      </p:graphicFrame>
      <p:sp>
        <p:nvSpPr>
          <p:cNvPr id="16" name="TextBox 15">
            <a:extLst>
              <a:ext uri="{FF2B5EF4-FFF2-40B4-BE49-F238E27FC236}">
                <a16:creationId xmlns:a16="http://schemas.microsoft.com/office/drawing/2014/main" id="{EC22C70B-6191-9D3D-51B2-3D0DE7FE3694}"/>
              </a:ext>
            </a:extLst>
          </p:cNvPr>
          <p:cNvSpPr txBox="1"/>
          <p:nvPr/>
        </p:nvSpPr>
        <p:spPr>
          <a:xfrm>
            <a:off x="658368" y="5691740"/>
            <a:ext cx="10698480" cy="369332"/>
          </a:xfrm>
          <a:prstGeom prst="rect">
            <a:avLst/>
          </a:prstGeom>
          <a:noFill/>
        </p:spPr>
        <p:txBody>
          <a:bodyPr wrap="square" rtlCol="0">
            <a:spAutoFit/>
          </a:bodyPr>
          <a:lstStyle/>
          <a:p>
            <a:r>
              <a:rPr lang="en-US" b="1" dirty="0" err="1"/>
              <a:t>Exemple</a:t>
            </a:r>
            <a:r>
              <a:rPr lang="en-US" b="1" dirty="0"/>
              <a:t> de </a:t>
            </a:r>
            <a:r>
              <a:rPr lang="en-US" b="1" dirty="0" err="1"/>
              <a:t>logique</a:t>
            </a:r>
            <a:r>
              <a:rPr lang="en-US" b="1" dirty="0"/>
              <a:t> </a:t>
            </a:r>
            <a:r>
              <a:rPr lang="en-US" b="1" dirty="0" err="1"/>
              <a:t>fusionnée</a:t>
            </a:r>
            <a:r>
              <a:rPr lang="en-US" b="1" dirty="0"/>
              <a:t> :</a:t>
            </a:r>
          </a:p>
        </p:txBody>
      </p:sp>
      <p:sp>
        <p:nvSpPr>
          <p:cNvPr id="17" name="TextBox 16">
            <a:extLst>
              <a:ext uri="{FF2B5EF4-FFF2-40B4-BE49-F238E27FC236}">
                <a16:creationId xmlns:a16="http://schemas.microsoft.com/office/drawing/2014/main" id="{4016EC52-18D0-4302-69FA-FF518C1F74C4}"/>
              </a:ext>
            </a:extLst>
          </p:cNvPr>
          <p:cNvSpPr txBox="1"/>
          <p:nvPr/>
        </p:nvSpPr>
        <p:spPr>
          <a:xfrm>
            <a:off x="658368" y="6026242"/>
            <a:ext cx="10698480" cy="646331"/>
          </a:xfrm>
          <a:prstGeom prst="rect">
            <a:avLst/>
          </a:prstGeom>
          <a:noFill/>
        </p:spPr>
        <p:txBody>
          <a:bodyPr wrap="square" rtlCol="0">
            <a:spAutoFit/>
          </a:bodyPr>
          <a:lstStyle/>
          <a:p>
            <a:r>
              <a:rPr lang="fr-FR" dirty="0"/>
              <a:t>Technique = ACHAT (0.60) + Sentiment = VENTE (0.40) → Signal global </a:t>
            </a:r>
            <a:r>
              <a:rPr lang="fr-FR" b="1" dirty="0"/>
              <a:t>modéré</a:t>
            </a:r>
            <a:r>
              <a:rPr lang="fr-FR" dirty="0"/>
              <a:t> → entrée risquée </a:t>
            </a:r>
            <a:r>
              <a:rPr lang="fr-FR" b="1" dirty="0"/>
              <a:t>évitée</a:t>
            </a:r>
            <a:r>
              <a:rPr lang="fr-FR" dirty="0"/>
              <a:t> → Filtre anti-Bull Trap efficace</a:t>
            </a:r>
            <a:endParaRPr lang="en-US" b="1" dirty="0"/>
          </a:p>
        </p:txBody>
      </p:sp>
    </p:spTree>
    <p:extLst>
      <p:ext uri="{BB962C8B-B14F-4D97-AF65-F5344CB8AC3E}">
        <p14:creationId xmlns:p14="http://schemas.microsoft.com/office/powerpoint/2010/main" val="4137895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28401-6DEB-8BFD-0E9E-213279DE431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9BDFE15-9D69-2330-03FD-532929D3706C}"/>
              </a:ext>
            </a:extLst>
          </p:cNvPr>
          <p:cNvCxnSpPr>
            <a:cxnSpLocks/>
          </p:cNvCxnSpPr>
          <p:nvPr/>
        </p:nvCxnSpPr>
        <p:spPr>
          <a:xfrm>
            <a:off x="658368" y="886968"/>
            <a:ext cx="10698480" cy="0"/>
          </a:xfrm>
          <a:prstGeom prst="line">
            <a:avLst/>
          </a:prstGeom>
          <a:ln w="28575"/>
          <a:effectLst>
            <a:outerShdw blurRad="50800" dist="38100" dir="5400000" algn="t"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324FD98-AF9D-3D40-47D0-B4DC998A67DF}"/>
              </a:ext>
            </a:extLst>
          </p:cNvPr>
          <p:cNvSpPr txBox="1"/>
          <p:nvPr/>
        </p:nvSpPr>
        <p:spPr>
          <a:xfrm>
            <a:off x="658368" y="336542"/>
            <a:ext cx="10140696" cy="461665"/>
          </a:xfrm>
          <a:prstGeom prst="rect">
            <a:avLst/>
          </a:prstGeom>
          <a:noFill/>
        </p:spPr>
        <p:txBody>
          <a:bodyPr wrap="square">
            <a:spAutoFit/>
          </a:bodyPr>
          <a:lstStyle/>
          <a:p>
            <a:r>
              <a:rPr lang="en-US" sz="2400" b="1" dirty="0"/>
              <a:t>CONCLUSION</a:t>
            </a:r>
            <a:endParaRPr lang="en-US" sz="2400" b="1" noProof="1"/>
          </a:p>
        </p:txBody>
      </p:sp>
      <p:sp>
        <p:nvSpPr>
          <p:cNvPr id="2" name="TextBox 1">
            <a:extLst>
              <a:ext uri="{FF2B5EF4-FFF2-40B4-BE49-F238E27FC236}">
                <a16:creationId xmlns:a16="http://schemas.microsoft.com/office/drawing/2014/main" id="{83B80762-25A3-C38E-A84A-83764887312D}"/>
              </a:ext>
            </a:extLst>
          </p:cNvPr>
          <p:cNvSpPr txBox="1"/>
          <p:nvPr/>
        </p:nvSpPr>
        <p:spPr>
          <a:xfrm>
            <a:off x="658368" y="1295113"/>
            <a:ext cx="10698480" cy="646331"/>
          </a:xfrm>
          <a:prstGeom prst="rect">
            <a:avLst/>
          </a:prstGeom>
          <a:noFill/>
        </p:spPr>
        <p:txBody>
          <a:bodyPr wrap="square" rtlCol="0">
            <a:spAutoFit/>
          </a:bodyPr>
          <a:lstStyle/>
          <a:p>
            <a:r>
              <a:rPr lang="en-US" dirty="0"/>
              <a:t>Le </a:t>
            </a:r>
            <a:r>
              <a:rPr lang="en-US" dirty="0" err="1"/>
              <a:t>projet</a:t>
            </a:r>
            <a:r>
              <a:rPr lang="en-US" dirty="0"/>
              <a:t> 2IAD - ML4T a </a:t>
            </a:r>
            <a:r>
              <a:rPr lang="en-US" dirty="0" err="1"/>
              <a:t>permis</a:t>
            </a:r>
            <a:r>
              <a:rPr lang="en-US" dirty="0"/>
              <a:t> de </a:t>
            </a:r>
            <a:r>
              <a:rPr lang="en-US" dirty="0" err="1"/>
              <a:t>démontrer</a:t>
            </a:r>
            <a:r>
              <a:rPr lang="en-US" dirty="0"/>
              <a:t> </a:t>
            </a:r>
            <a:r>
              <a:rPr lang="en-US" dirty="0" err="1"/>
              <a:t>que</a:t>
            </a:r>
            <a:r>
              <a:rPr lang="en-US" dirty="0"/>
              <a:t> les </a:t>
            </a:r>
            <a:r>
              <a:rPr lang="en-US" dirty="0" err="1"/>
              <a:t>stratégies</a:t>
            </a:r>
            <a:r>
              <a:rPr lang="en-US" dirty="0"/>
              <a:t> de Machine Learning </a:t>
            </a:r>
            <a:r>
              <a:rPr lang="en-US" dirty="0" err="1"/>
              <a:t>sont</a:t>
            </a:r>
            <a:r>
              <a:rPr lang="en-US" dirty="0"/>
              <a:t> </a:t>
            </a:r>
            <a:r>
              <a:rPr lang="en-US" dirty="0" err="1"/>
              <a:t>transposables</a:t>
            </a:r>
            <a:r>
              <a:rPr lang="en-US" dirty="0"/>
              <a:t> au </a:t>
            </a:r>
            <a:r>
              <a:rPr lang="en-US" dirty="0" err="1"/>
              <a:t>marché</a:t>
            </a:r>
            <a:r>
              <a:rPr lang="en-US" dirty="0"/>
              <a:t> des crypto-</a:t>
            </a:r>
            <a:r>
              <a:rPr lang="en-US" dirty="0" err="1"/>
              <a:t>monnaies</a:t>
            </a:r>
            <a:r>
              <a:rPr lang="en-US" dirty="0"/>
              <a:t>, à condition de </a:t>
            </a:r>
            <a:r>
              <a:rPr lang="en-US" dirty="0" err="1"/>
              <a:t>subir</a:t>
            </a:r>
            <a:r>
              <a:rPr lang="en-US" dirty="0"/>
              <a:t> des adaptations </a:t>
            </a:r>
            <a:r>
              <a:rPr lang="en-US" dirty="0" err="1"/>
              <a:t>structurelles</a:t>
            </a:r>
            <a:r>
              <a:rPr lang="en-US" dirty="0"/>
              <a:t> majeures.</a:t>
            </a:r>
          </a:p>
        </p:txBody>
      </p:sp>
      <p:sp>
        <p:nvSpPr>
          <p:cNvPr id="9" name="TextBox 8">
            <a:extLst>
              <a:ext uri="{FF2B5EF4-FFF2-40B4-BE49-F238E27FC236}">
                <a16:creationId xmlns:a16="http://schemas.microsoft.com/office/drawing/2014/main" id="{3F449282-2C74-5220-BCE2-855822E7064B}"/>
              </a:ext>
            </a:extLst>
          </p:cNvPr>
          <p:cNvSpPr txBox="1"/>
          <p:nvPr/>
        </p:nvSpPr>
        <p:spPr>
          <a:xfrm>
            <a:off x="658368" y="2129475"/>
            <a:ext cx="10698480" cy="1200329"/>
          </a:xfrm>
          <a:prstGeom prst="rect">
            <a:avLst/>
          </a:prstGeom>
          <a:noFill/>
        </p:spPr>
        <p:txBody>
          <a:bodyPr wrap="square" rtlCol="0">
            <a:spAutoFit/>
          </a:bodyPr>
          <a:lstStyle/>
          <a:p>
            <a:pPr marL="285750" lvl="0" indent="-285750" algn="just">
              <a:buFont typeface="Wingdings" panose="05000000000000000000" pitchFamily="2" charset="2"/>
              <a:buChar char="§"/>
            </a:pPr>
            <a:r>
              <a:rPr lang="en-US" dirty="0" err="1"/>
              <a:t>L'infrastructure</a:t>
            </a:r>
            <a:r>
              <a:rPr lang="en-US" dirty="0"/>
              <a:t> doit passer du CSV au HDF5/WebSocket pour </a:t>
            </a:r>
            <a:r>
              <a:rPr lang="en-US" dirty="0" err="1"/>
              <a:t>gérer</a:t>
            </a:r>
            <a:r>
              <a:rPr lang="en-US" dirty="0"/>
              <a:t> la </a:t>
            </a:r>
            <a:r>
              <a:rPr lang="en-US" dirty="0" err="1"/>
              <a:t>vélocité</a:t>
            </a:r>
            <a:r>
              <a:rPr lang="en-US" dirty="0"/>
              <a:t>.</a:t>
            </a:r>
          </a:p>
          <a:p>
            <a:pPr marL="285750" lvl="0" indent="-285750" algn="just">
              <a:buFont typeface="Wingdings" panose="05000000000000000000" pitchFamily="2" charset="2"/>
              <a:buChar char="§"/>
            </a:pPr>
            <a:r>
              <a:rPr lang="en-US" dirty="0"/>
              <a:t>La </a:t>
            </a:r>
            <a:r>
              <a:rPr lang="en-US" dirty="0" err="1"/>
              <a:t>stratégie</a:t>
            </a:r>
            <a:r>
              <a:rPr lang="en-US" dirty="0"/>
              <a:t> </a:t>
            </a:r>
            <a:r>
              <a:rPr lang="en-US" dirty="0" err="1"/>
              <a:t>d'exécution</a:t>
            </a:r>
            <a:r>
              <a:rPr lang="en-US" dirty="0"/>
              <a:t> doit </a:t>
            </a:r>
            <a:r>
              <a:rPr lang="en-US" dirty="0" err="1"/>
              <a:t>être</a:t>
            </a:r>
            <a:r>
              <a:rPr lang="en-US" dirty="0"/>
              <a:t> </a:t>
            </a:r>
            <a:r>
              <a:rPr lang="en-US" dirty="0" err="1"/>
              <a:t>défensive</a:t>
            </a:r>
            <a:r>
              <a:rPr lang="en-US" dirty="0"/>
              <a:t> (</a:t>
            </a:r>
            <a:r>
              <a:rPr lang="en-US" dirty="0" err="1"/>
              <a:t>Filtre</a:t>
            </a:r>
            <a:r>
              <a:rPr lang="en-US" dirty="0"/>
              <a:t> de Confiance &gt; 53%) pour </a:t>
            </a:r>
            <a:r>
              <a:rPr lang="en-US" dirty="0" err="1"/>
              <a:t>survivre</a:t>
            </a:r>
            <a:r>
              <a:rPr lang="en-US" dirty="0"/>
              <a:t> aux frais </a:t>
            </a:r>
            <a:r>
              <a:rPr lang="en-US" dirty="0" err="1"/>
              <a:t>élevés</a:t>
            </a:r>
            <a:r>
              <a:rPr lang="en-US" dirty="0"/>
              <a:t>.</a:t>
            </a:r>
          </a:p>
          <a:p>
            <a:pPr marL="285750" lvl="0" indent="-285750" algn="just">
              <a:buFont typeface="Wingdings" panose="05000000000000000000" pitchFamily="2" charset="2"/>
              <a:buChar char="§"/>
            </a:pPr>
            <a:r>
              <a:rPr lang="en-US" dirty="0" err="1"/>
              <a:t>L'Alpha</a:t>
            </a:r>
            <a:r>
              <a:rPr lang="en-US" dirty="0"/>
              <a:t> </a:t>
            </a:r>
            <a:r>
              <a:rPr lang="en-US" dirty="0" err="1"/>
              <a:t>véritable</a:t>
            </a:r>
            <a:r>
              <a:rPr lang="en-US" dirty="0"/>
              <a:t> </a:t>
            </a:r>
            <a:r>
              <a:rPr lang="en-US" dirty="0" err="1"/>
              <a:t>réside</a:t>
            </a:r>
            <a:r>
              <a:rPr lang="en-US" dirty="0"/>
              <a:t> dans </a:t>
            </a:r>
            <a:r>
              <a:rPr lang="en-US" dirty="0" err="1"/>
              <a:t>l'hybridation</a:t>
            </a:r>
            <a:r>
              <a:rPr lang="en-US" dirty="0"/>
              <a:t> des données: combiner la </a:t>
            </a:r>
            <a:r>
              <a:rPr lang="en-US" dirty="0" err="1"/>
              <a:t>précision</a:t>
            </a:r>
            <a:r>
              <a:rPr lang="en-US" dirty="0"/>
              <a:t> </a:t>
            </a:r>
            <a:r>
              <a:rPr lang="en-US" dirty="0" err="1"/>
              <a:t>mathématique</a:t>
            </a:r>
            <a:r>
              <a:rPr lang="en-US" dirty="0"/>
              <a:t> des </a:t>
            </a:r>
            <a:r>
              <a:rPr lang="en-US" dirty="0" err="1"/>
              <a:t>indicateurs</a:t>
            </a:r>
            <a:r>
              <a:rPr lang="en-US" dirty="0"/>
              <a:t> techniques avec la </a:t>
            </a:r>
            <a:r>
              <a:rPr lang="en-US" dirty="0" err="1"/>
              <a:t>réactivité</a:t>
            </a:r>
            <a:r>
              <a:rPr lang="en-US" dirty="0"/>
              <a:t> </a:t>
            </a:r>
            <a:r>
              <a:rPr lang="en-US" dirty="0" err="1"/>
              <a:t>émotionnelle</a:t>
            </a:r>
            <a:r>
              <a:rPr lang="en-US" dirty="0"/>
              <a:t> de </a:t>
            </a:r>
            <a:r>
              <a:rPr lang="en-US" dirty="0" err="1"/>
              <a:t>l'analyse</a:t>
            </a:r>
            <a:r>
              <a:rPr lang="en-US" dirty="0"/>
              <a:t> NLP.</a:t>
            </a:r>
          </a:p>
        </p:txBody>
      </p:sp>
    </p:spTree>
    <p:extLst>
      <p:ext uri="{BB962C8B-B14F-4D97-AF65-F5344CB8AC3E}">
        <p14:creationId xmlns:p14="http://schemas.microsoft.com/office/powerpoint/2010/main" val="4236362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1059</TotalTime>
  <Words>5241</Words>
  <Application>Microsoft Office PowerPoint</Application>
  <PresentationFormat>Widescreen</PresentationFormat>
  <Paragraphs>502</Paragraphs>
  <Slides>57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Agency FB</vt:lpstr>
      <vt:lpstr>Aptos</vt:lpstr>
      <vt:lpstr>Aptos Display</vt:lpstr>
      <vt:lpstr>Arial</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EL AZZOUZI</dc:creator>
  <cp:lastModifiedBy>HASSAN EL AZZOUZI</cp:lastModifiedBy>
  <cp:revision>12</cp:revision>
  <dcterms:created xsi:type="dcterms:W3CDTF">2025-12-22T14:12:19Z</dcterms:created>
  <dcterms:modified xsi:type="dcterms:W3CDTF">2026-02-21T21:58:44Z</dcterms:modified>
</cp:coreProperties>
</file>